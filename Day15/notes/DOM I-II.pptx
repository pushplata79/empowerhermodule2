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3" r:id="rId3"/>
    <p:sldId id="350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76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3981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417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52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787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0083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8758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403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386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122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792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2781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9629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3703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9755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2909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6400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492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157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0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0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6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1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3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16830"/>
            <a:ext cx="1053977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en-IN" sz="6000" b="1" i="0" dirty="0">
                <a:solidFill>
                  <a:srgbClr val="F0F6FC"/>
                </a:solidFill>
                <a:effectLst/>
                <a:latin typeface="-apple-system"/>
              </a:rPr>
              <a:t>DOM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378996" y="5782489"/>
            <a:ext cx="37813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475400" y="5548197"/>
            <a:ext cx="4932623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6704489" y="1076325"/>
            <a:ext cx="554811" cy="28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734EB1-D03A-4709-8BEE-BB985F1A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63" y="6349290"/>
            <a:ext cx="1976462" cy="50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1D23-E328-C97A-9A35-A1209914B466}"/>
              </a:ext>
            </a:extLst>
          </p:cNvPr>
          <p:cNvSpPr txBox="1"/>
          <p:nvPr/>
        </p:nvSpPr>
        <p:spPr>
          <a:xfrm>
            <a:off x="143435" y="1479176"/>
            <a:ext cx="89534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DOM = Document Object Model</a:t>
            </a:r>
          </a:p>
          <a:p>
            <a:endParaRPr lang="en-US" dirty="0"/>
          </a:p>
          <a:p>
            <a:r>
              <a:rPr lang="en-US" dirty="0"/>
              <a:t>But in simple words…</a:t>
            </a:r>
          </a:p>
          <a:p>
            <a:endParaRPr lang="en-US" b="1" dirty="0"/>
          </a:p>
          <a:p>
            <a:r>
              <a:rPr lang="en-US" b="1" dirty="0"/>
              <a:t>DOM is the browser’s way of understanding your webpage.</a:t>
            </a:r>
          </a:p>
          <a:p>
            <a:endParaRPr lang="en-US" dirty="0"/>
          </a:p>
          <a:p>
            <a:r>
              <a:rPr lang="en-US" dirty="0"/>
              <a:t>When you open a webpage: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The browser reads your </a:t>
            </a:r>
            <a:r>
              <a:rPr lang="en-US" b="1" dirty="0"/>
              <a:t>HTML file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Converts it into a </a:t>
            </a:r>
            <a:r>
              <a:rPr lang="en-US" b="1" dirty="0"/>
              <a:t>tree-like structure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This structure is called the </a:t>
            </a:r>
            <a:r>
              <a:rPr lang="en-US" b="1" dirty="0"/>
              <a:t>DOM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JavaScript uses this structure to </a:t>
            </a:r>
            <a:r>
              <a:rPr lang="en-US" b="1" dirty="0"/>
              <a:t>change anything on the page</a:t>
            </a:r>
            <a:br>
              <a:rPr lang="en-US" dirty="0"/>
            </a:br>
            <a:r>
              <a:rPr lang="en-US" dirty="0"/>
              <a:t>(text, color, images, buttons, etc.)</a:t>
            </a:r>
          </a:p>
        </p:txBody>
      </p:sp>
    </p:spTree>
    <p:extLst>
      <p:ext uri="{BB962C8B-B14F-4D97-AF65-F5344CB8AC3E}">
        <p14:creationId xmlns:p14="http://schemas.microsoft.com/office/powerpoint/2010/main" val="8405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4B5AF8-3A9D-C5E5-ED46-6F73A56C1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831" y="1532963"/>
            <a:ext cx="5778337" cy="51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9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F0ED9-8E24-9874-E7AF-AEB9A90487C3}"/>
              </a:ext>
            </a:extLst>
          </p:cNvPr>
          <p:cNvSpPr txBox="1"/>
          <p:nvPr/>
        </p:nvSpPr>
        <p:spPr>
          <a:xfrm>
            <a:off x="170329" y="1622612"/>
            <a:ext cx="89266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HTML is like a written recipe on paper.</a:t>
            </a:r>
          </a:p>
          <a:p>
            <a:endParaRPr lang="en-US" b="1" dirty="0"/>
          </a:p>
          <a:p>
            <a:r>
              <a:rPr lang="en-US" dirty="0"/>
              <a:t>But your phone cannot edit the paper.</a:t>
            </a:r>
          </a:p>
          <a:p>
            <a:endParaRPr lang="en-US" dirty="0"/>
          </a:p>
          <a:p>
            <a:r>
              <a:rPr lang="en-US" dirty="0"/>
              <a:t>So your phone creates a </a:t>
            </a:r>
            <a:r>
              <a:rPr lang="en-US" b="1" dirty="0"/>
              <a:t>digital version</a:t>
            </a:r>
            <a:r>
              <a:rPr lang="en-US" dirty="0"/>
              <a:t> of the recipe inside its memory.</a:t>
            </a:r>
          </a:p>
          <a:p>
            <a:endParaRPr lang="en-US" dirty="0"/>
          </a:p>
          <a:p>
            <a:r>
              <a:rPr lang="en-US" dirty="0"/>
              <a:t>This digital version = </a:t>
            </a:r>
            <a:r>
              <a:rPr lang="en-US" b="1" dirty="0"/>
              <a:t>DOM</a:t>
            </a:r>
            <a:endParaRPr lang="en-US" dirty="0"/>
          </a:p>
          <a:p>
            <a:endParaRPr lang="en-US" dirty="0"/>
          </a:p>
          <a:p>
            <a:r>
              <a:rPr lang="en-US" dirty="0"/>
              <a:t>Now you can:</a:t>
            </a:r>
          </a:p>
          <a:p>
            <a:endParaRPr lang="en-US" dirty="0"/>
          </a:p>
          <a:p>
            <a:r>
              <a:rPr lang="en-US" dirty="0"/>
              <a:t>✔ Change ingredients</a:t>
            </a:r>
            <a:br>
              <a:rPr lang="en-US" dirty="0"/>
            </a:br>
            <a:r>
              <a:rPr lang="en-US" dirty="0"/>
              <a:t>✔ Add new items</a:t>
            </a:r>
            <a:br>
              <a:rPr lang="en-US" dirty="0"/>
            </a:br>
            <a:r>
              <a:rPr lang="en-US" dirty="0"/>
              <a:t>✔ Delete steps</a:t>
            </a:r>
            <a:br>
              <a:rPr lang="en-US" dirty="0"/>
            </a:br>
            <a:r>
              <a:rPr lang="en-US" dirty="0"/>
              <a:t>✔ Highlight important points</a:t>
            </a:r>
          </a:p>
          <a:p>
            <a:endParaRPr lang="en-US" dirty="0"/>
          </a:p>
          <a:p>
            <a:r>
              <a:rPr lang="en-US" dirty="0"/>
              <a:t>Just like JavaScript can change anything on the webpage through the DOM.</a:t>
            </a:r>
          </a:p>
        </p:txBody>
      </p:sp>
    </p:spTree>
    <p:extLst>
      <p:ext uri="{BB962C8B-B14F-4D97-AF65-F5344CB8AC3E}">
        <p14:creationId xmlns:p14="http://schemas.microsoft.com/office/powerpoint/2010/main" val="306658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132BD-56B9-625D-4944-0ECC0FD1B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7" y="1441122"/>
            <a:ext cx="75395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DOM Like a Family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webpage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like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family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tag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becomes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in the tree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tree is called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Tree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6CD86-1638-6721-FE22-B0581FFF001F}"/>
              </a:ext>
            </a:extLst>
          </p:cNvPr>
          <p:cNvSpPr txBox="1"/>
          <p:nvPr/>
        </p:nvSpPr>
        <p:spPr>
          <a:xfrm>
            <a:off x="4359089" y="3585421"/>
            <a:ext cx="1736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HTML</a:t>
            </a:r>
          </a:p>
          <a:p>
            <a:r>
              <a:rPr lang="en-IN" b="1" dirty="0"/>
              <a:t> ├── HEAD</a:t>
            </a:r>
          </a:p>
          <a:p>
            <a:r>
              <a:rPr lang="en-IN" b="1" dirty="0"/>
              <a:t> └── BODY</a:t>
            </a:r>
          </a:p>
          <a:p>
            <a:r>
              <a:rPr lang="en-IN" b="1" dirty="0"/>
              <a:t>       ├── H1</a:t>
            </a:r>
          </a:p>
          <a:p>
            <a:r>
              <a:rPr lang="en-IN" b="1" dirty="0"/>
              <a:t>       └── P</a:t>
            </a:r>
          </a:p>
        </p:txBody>
      </p:sp>
    </p:spTree>
    <p:extLst>
      <p:ext uri="{BB962C8B-B14F-4D97-AF65-F5344CB8AC3E}">
        <p14:creationId xmlns:p14="http://schemas.microsoft.com/office/powerpoint/2010/main" val="184471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6651E-71CE-A22A-27CB-3BD7D0F0C4CC}"/>
              </a:ext>
            </a:extLst>
          </p:cNvPr>
          <p:cNvSpPr txBox="1"/>
          <p:nvPr/>
        </p:nvSpPr>
        <p:spPr>
          <a:xfrm>
            <a:off x="181535" y="1523110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DOM vs HTML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04E6B0-2C11-07B7-B639-B80D327B0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808262"/>
              </p:ext>
            </p:extLst>
          </p:nvPr>
        </p:nvGraphicFramePr>
        <p:xfrm>
          <a:off x="690282" y="2070381"/>
          <a:ext cx="10645588" cy="1737360"/>
        </p:xfrm>
        <a:graphic>
          <a:graphicData uri="http://schemas.openxmlformats.org/drawingml/2006/table">
            <a:tbl>
              <a:tblPr/>
              <a:tblGrid>
                <a:gridCol w="2998757">
                  <a:extLst>
                    <a:ext uri="{9D8B030D-6E8A-4147-A177-3AD203B41FA5}">
                      <a16:colId xmlns:a16="http://schemas.microsoft.com/office/drawing/2014/main" val="4139896672"/>
                    </a:ext>
                  </a:extLst>
                </a:gridCol>
                <a:gridCol w="7646831">
                  <a:extLst>
                    <a:ext uri="{9D8B030D-6E8A-4147-A177-3AD203B41FA5}">
                      <a16:colId xmlns:a16="http://schemas.microsoft.com/office/drawing/2014/main" val="3116687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768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 written by the developer.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Structure created by the browser.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112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Just text.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Objects in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97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Cannot be changed directly by JavaScript.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changed anytime by JavaScript.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663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9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0F04AC-42B3-8EE7-4421-BD02FA3B3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45171"/>
            <a:ext cx="648148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DOM Useful?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can: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an element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“What is written inside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tag?”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text, style, color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Make a heading red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new elements dynamically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Add a new paragraph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elements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Delete an image or a button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5F6BB-938D-DC25-A26F-5D03195BF95B}"/>
              </a:ext>
            </a:extLst>
          </p:cNvPr>
          <p:cNvSpPr txBox="1"/>
          <p:nvPr/>
        </p:nvSpPr>
        <p:spPr>
          <a:xfrm>
            <a:off x="5766547" y="5804211"/>
            <a:ext cx="6190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DOM is an object-based representation of a webpage created by the browser, which JavaScript can read and change anytime.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0105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1D9FF-F389-3370-322D-1F2E7ACDCDE6}"/>
              </a:ext>
            </a:extLst>
          </p:cNvPr>
          <p:cNvSpPr txBox="1"/>
          <p:nvPr/>
        </p:nvSpPr>
        <p:spPr>
          <a:xfrm>
            <a:off x="188259" y="1515035"/>
            <a:ext cx="89086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Node?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node</a:t>
            </a:r>
            <a:r>
              <a:rPr lang="en-US" dirty="0"/>
              <a:t> is simply </a:t>
            </a:r>
            <a:r>
              <a:rPr lang="en-US" b="1" dirty="0"/>
              <a:t>anything inside the DOM Tree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Every part of the webpage becomes a node.</a:t>
            </a:r>
          </a:p>
          <a:p>
            <a:endParaRPr lang="en-US" dirty="0"/>
          </a:p>
          <a:p>
            <a:r>
              <a:rPr lang="en-US" dirty="0"/>
              <a:t>There are different types of nodes, and each plays a role.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F210D3-776D-9D6D-93D8-09637954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9" y="3700835"/>
            <a:ext cx="422904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 Node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tags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are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blocks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24EBB-4A60-4564-52E1-18C569FDE748}"/>
              </a:ext>
            </a:extLst>
          </p:cNvPr>
          <p:cNvSpPr txBox="1"/>
          <p:nvPr/>
        </p:nvSpPr>
        <p:spPr>
          <a:xfrm>
            <a:off x="4780429" y="5665820"/>
            <a:ext cx="2902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&lt;div&gt;Hello&lt;/div&gt;</a:t>
            </a:r>
          </a:p>
          <a:p>
            <a:endParaRPr lang="en-IN" b="1" dirty="0"/>
          </a:p>
          <a:p>
            <a:r>
              <a:rPr lang="en-IN" b="1" dirty="0"/>
              <a:t>Element Node → &lt;div&gt;</a:t>
            </a:r>
          </a:p>
        </p:txBody>
      </p:sp>
    </p:spTree>
    <p:extLst>
      <p:ext uri="{BB962C8B-B14F-4D97-AF65-F5344CB8AC3E}">
        <p14:creationId xmlns:p14="http://schemas.microsoft.com/office/powerpoint/2010/main" val="173620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EBF39-6909-FB95-0C77-6EA94381B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36" y="1574684"/>
            <a:ext cx="49327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Text 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"Hello world"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always keeps text inside a text node.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78D52-3203-8A5E-DC02-3F2483990EDA}"/>
              </a:ext>
            </a:extLst>
          </p:cNvPr>
          <p:cNvSpPr txBox="1"/>
          <p:nvPr/>
        </p:nvSpPr>
        <p:spPr>
          <a:xfrm>
            <a:off x="6914030" y="1788459"/>
            <a:ext cx="4208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&lt;div&gt;Hello&lt;/div&gt;</a:t>
            </a:r>
          </a:p>
          <a:p>
            <a:endParaRPr lang="en-IN" b="1" dirty="0"/>
          </a:p>
          <a:p>
            <a:r>
              <a:rPr lang="en-IN" b="1" dirty="0"/>
              <a:t>Element Node → &lt;div&gt;</a:t>
            </a:r>
          </a:p>
          <a:p>
            <a:r>
              <a:rPr lang="en-IN" b="1" dirty="0"/>
              <a:t>Text Node → "Hello"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D7BBAC-E163-5191-BDD0-D7DAC86C2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36" y="3528990"/>
            <a:ext cx="434125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Comment 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from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&lt;!-- comments --&gt;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HTML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visible on the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notes in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117FE-7190-BD38-39FC-1319D3A125FB}"/>
              </a:ext>
            </a:extLst>
          </p:cNvPr>
          <p:cNvSpPr txBox="1"/>
          <p:nvPr/>
        </p:nvSpPr>
        <p:spPr>
          <a:xfrm>
            <a:off x="6914030" y="4036821"/>
            <a:ext cx="3368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&lt;!-- This is a comment --&gt;</a:t>
            </a:r>
          </a:p>
        </p:txBody>
      </p:sp>
    </p:spTree>
    <p:extLst>
      <p:ext uri="{BB962C8B-B14F-4D97-AF65-F5344CB8AC3E}">
        <p14:creationId xmlns:p14="http://schemas.microsoft.com/office/powerpoint/2010/main" val="411674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15B8A-1377-6D5F-9D84-8284E810B2E4}"/>
              </a:ext>
            </a:extLst>
          </p:cNvPr>
          <p:cNvSpPr txBox="1"/>
          <p:nvPr/>
        </p:nvSpPr>
        <p:spPr>
          <a:xfrm>
            <a:off x="226359" y="1555847"/>
            <a:ext cx="6190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Document Node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topmost</a:t>
            </a:r>
            <a:r>
              <a:rPr lang="en-US" dirty="0"/>
              <a:t>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Represents the </a:t>
            </a:r>
            <a:r>
              <a:rPr lang="en-US" b="1" dirty="0"/>
              <a:t>entire webpage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Everything starts from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C736-373F-255C-8ACB-BB989903C3FA}"/>
              </a:ext>
            </a:extLst>
          </p:cNvPr>
          <p:cNvSpPr txBox="1"/>
          <p:nvPr/>
        </p:nvSpPr>
        <p:spPr>
          <a:xfrm>
            <a:off x="6416487" y="1694346"/>
            <a:ext cx="3081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Document</a:t>
            </a:r>
          </a:p>
          <a:p>
            <a:r>
              <a:rPr lang="en-IN" b="1" dirty="0"/>
              <a:t> └── html</a:t>
            </a:r>
          </a:p>
          <a:p>
            <a:r>
              <a:rPr lang="en-IN" b="1" dirty="0"/>
              <a:t>       └── body</a:t>
            </a:r>
          </a:p>
          <a:p>
            <a:r>
              <a:rPr lang="en-IN" b="1" dirty="0"/>
              <a:t>             └── ...</a:t>
            </a:r>
          </a:p>
        </p:txBody>
      </p:sp>
    </p:spTree>
    <p:extLst>
      <p:ext uri="{BB962C8B-B14F-4D97-AF65-F5344CB8AC3E}">
        <p14:creationId xmlns:p14="http://schemas.microsoft.com/office/powerpoint/2010/main" val="1205751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FA29B-91E8-5CF5-E633-F4D4BCF0876A}"/>
              </a:ext>
            </a:extLst>
          </p:cNvPr>
          <p:cNvSpPr txBox="1"/>
          <p:nvPr/>
        </p:nvSpPr>
        <p:spPr>
          <a:xfrm>
            <a:off x="342899" y="1506087"/>
            <a:ext cx="32967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&lt;!-- Title section --&gt;</a:t>
            </a:r>
          </a:p>
          <a:p>
            <a:r>
              <a:rPr lang="en-IN" b="1" dirty="0"/>
              <a:t>&lt;h1&gt;Welcome&lt;/h1&gt;</a:t>
            </a:r>
          </a:p>
          <a:p>
            <a:r>
              <a:rPr lang="en-IN" b="1" dirty="0"/>
              <a:t>&lt;p&gt;This is my page&lt;/p&gt;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240E0-6804-0576-75A9-5F6FA76EDE3E}"/>
              </a:ext>
            </a:extLst>
          </p:cNvPr>
          <p:cNvSpPr txBox="1"/>
          <p:nvPr/>
        </p:nvSpPr>
        <p:spPr>
          <a:xfrm>
            <a:off x="6364942" y="1105979"/>
            <a:ext cx="473336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b="1" dirty="0"/>
              <a:t>DOM TREE</a:t>
            </a:r>
            <a:endParaRPr lang="en-IN" sz="1600" b="1" dirty="0"/>
          </a:p>
          <a:p>
            <a:endParaRPr lang="en-IN" sz="1600" dirty="0"/>
          </a:p>
          <a:p>
            <a:r>
              <a:rPr lang="en-IN" sz="1600" dirty="0"/>
              <a:t>Document</a:t>
            </a:r>
          </a:p>
          <a:p>
            <a:r>
              <a:rPr lang="en-IN" sz="1600" dirty="0"/>
              <a:t> ├── Comment Node ("Title section")</a:t>
            </a:r>
          </a:p>
          <a:p>
            <a:r>
              <a:rPr lang="en-IN" sz="1600" dirty="0"/>
              <a:t> ├── Element Node &lt;h1&gt;</a:t>
            </a:r>
          </a:p>
          <a:p>
            <a:r>
              <a:rPr lang="en-IN" sz="1600" dirty="0"/>
              <a:t> │       └── Text Node ("Welcome")</a:t>
            </a:r>
          </a:p>
          <a:p>
            <a:r>
              <a:rPr lang="en-IN" sz="1600" dirty="0"/>
              <a:t> └── Element Node &lt;p&gt;</a:t>
            </a:r>
          </a:p>
          <a:p>
            <a:r>
              <a:rPr lang="en-IN" sz="1600" dirty="0"/>
              <a:t>         └── Text Node ("This is my page")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C3E77E-EC7B-920F-32A2-C5D13CC04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" y="3638818"/>
            <a:ext cx="66585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Tree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Structure of the webpage created by the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Any part of the DOM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Nodes: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 Node → HTML tags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Node → Actual text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 Node → Notes in HTML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Node → Root (top-most)</a:t>
            </a:r>
          </a:p>
        </p:txBody>
      </p:sp>
    </p:spTree>
    <p:extLst>
      <p:ext uri="{BB962C8B-B14F-4D97-AF65-F5344CB8AC3E}">
        <p14:creationId xmlns:p14="http://schemas.microsoft.com/office/powerpoint/2010/main" val="3342947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01A87-7AFF-AC0C-61BA-97B466448933}"/>
              </a:ext>
            </a:extLst>
          </p:cNvPr>
          <p:cNvSpPr txBox="1"/>
          <p:nvPr/>
        </p:nvSpPr>
        <p:spPr>
          <a:xfrm>
            <a:off x="118782" y="1452300"/>
            <a:ext cx="10979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DOM Selection Methods</a:t>
            </a:r>
          </a:p>
          <a:p>
            <a:endParaRPr lang="en-US" b="1" dirty="0"/>
          </a:p>
          <a:p>
            <a:r>
              <a:rPr lang="en-US" dirty="0"/>
              <a:t>We use DOM selection methods to </a:t>
            </a:r>
            <a:r>
              <a:rPr lang="en-US" b="1" dirty="0"/>
              <a:t>find elements</a:t>
            </a:r>
            <a:r>
              <a:rPr lang="en-US" dirty="0"/>
              <a:t> on a webpage so that JavaScript can read or modify them.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E70701-7296-340E-2F86-673CC78A7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82" y="2591725"/>
            <a:ext cx="481734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document.querySelector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matching 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selectors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(very powerful).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94A7B-0425-6CD2-BED0-9AA774E5AE04}"/>
              </a:ext>
            </a:extLst>
          </p:cNvPr>
          <p:cNvSpPr txBox="1"/>
          <p:nvPr/>
        </p:nvSpPr>
        <p:spPr>
          <a:xfrm>
            <a:off x="5156946" y="3574755"/>
            <a:ext cx="6190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document.querySelector</a:t>
            </a:r>
            <a:r>
              <a:rPr lang="en-IN" dirty="0"/>
              <a:t>("h1");       // first &lt;h1&gt;</a:t>
            </a:r>
          </a:p>
          <a:p>
            <a:r>
              <a:rPr lang="en-IN" dirty="0" err="1"/>
              <a:t>document.querySelector</a:t>
            </a:r>
            <a:r>
              <a:rPr lang="en-IN" dirty="0"/>
              <a:t>(".title");   // class = title</a:t>
            </a:r>
          </a:p>
          <a:p>
            <a:r>
              <a:rPr lang="en-IN" dirty="0" err="1"/>
              <a:t>document.querySelector</a:t>
            </a:r>
            <a:r>
              <a:rPr lang="en-IN" dirty="0"/>
              <a:t>("#box");     // id = box</a:t>
            </a:r>
          </a:p>
          <a:p>
            <a:r>
              <a:rPr lang="en-IN" dirty="0" err="1"/>
              <a:t>document.querySelector</a:t>
            </a:r>
            <a:r>
              <a:rPr lang="en-IN" dirty="0"/>
              <a:t>("p span");   // span inside p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963306-5EEC-FDC9-4D2C-BEA2F26D8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73147"/>
            <a:ext cx="37875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document.querySelectorAll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matching elements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NodeList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D15AE-0B46-8399-33EF-C65A0AFB8295}"/>
              </a:ext>
            </a:extLst>
          </p:cNvPr>
          <p:cNvSpPr txBox="1"/>
          <p:nvPr/>
        </p:nvSpPr>
        <p:spPr>
          <a:xfrm>
            <a:off x="5156946" y="5405700"/>
            <a:ext cx="619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document.querySelectorAll</a:t>
            </a:r>
            <a:r>
              <a:rPr lang="en-IN" dirty="0"/>
              <a:t>("p");   // all &lt;p&gt; elements</a:t>
            </a:r>
          </a:p>
        </p:txBody>
      </p:sp>
    </p:spTree>
    <p:extLst>
      <p:ext uri="{BB962C8B-B14F-4D97-AF65-F5344CB8AC3E}">
        <p14:creationId xmlns:p14="http://schemas.microsoft.com/office/powerpoint/2010/main" val="1874625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EA5A1-5CCA-2338-BB87-8DBCD7E8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7" y="1435278"/>
            <a:ext cx="46975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document.getElementById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element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516D5-B195-EECF-107A-DC634E48CA23}"/>
              </a:ext>
            </a:extLst>
          </p:cNvPr>
          <p:cNvSpPr txBox="1"/>
          <p:nvPr/>
        </p:nvSpPr>
        <p:spPr>
          <a:xfrm>
            <a:off x="5515535" y="1804610"/>
            <a:ext cx="4928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document.getElementById</a:t>
            </a:r>
            <a:r>
              <a:rPr lang="en-IN" b="1" dirty="0"/>
              <a:t>("header");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5E68C6-4A23-25B6-F0D2-D6562533A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7" y="3084784"/>
            <a:ext cx="441659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4.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document.getElementsByClassName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all elements with a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HTMLCollection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E5AEB-D25F-8380-0417-23E8645BE620}"/>
              </a:ext>
            </a:extLst>
          </p:cNvPr>
          <p:cNvSpPr txBox="1"/>
          <p:nvPr/>
        </p:nvSpPr>
        <p:spPr>
          <a:xfrm>
            <a:off x="5515535" y="3163651"/>
            <a:ext cx="4928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document.getElementsByClassName</a:t>
            </a:r>
            <a:r>
              <a:rPr lang="en-IN" b="1" dirty="0"/>
              <a:t>("item");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6A72F2E-394F-F19D-5A71-654B2BBBC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4611180"/>
            <a:ext cx="37914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5.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document.getElementsByTagName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all elements by tag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HTMLCollection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4DB52-D728-8EA7-5313-25C806B2F46B}"/>
              </a:ext>
            </a:extLst>
          </p:cNvPr>
          <p:cNvSpPr txBox="1"/>
          <p:nvPr/>
        </p:nvSpPr>
        <p:spPr>
          <a:xfrm>
            <a:off x="5515535" y="4684059"/>
            <a:ext cx="4569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document.getElementsByTagName</a:t>
            </a:r>
            <a:r>
              <a:rPr lang="en-IN" b="1" dirty="0"/>
              <a:t>("div");</a:t>
            </a:r>
          </a:p>
        </p:txBody>
      </p:sp>
    </p:spTree>
    <p:extLst>
      <p:ext uri="{BB962C8B-B14F-4D97-AF65-F5344CB8AC3E}">
        <p14:creationId xmlns:p14="http://schemas.microsoft.com/office/powerpoint/2010/main" val="2950289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AF8E07-86F9-5573-A86A-8B0FCC87A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365142"/>
              </p:ext>
            </p:extLst>
          </p:nvPr>
        </p:nvGraphicFramePr>
        <p:xfrm>
          <a:off x="259976" y="2357717"/>
          <a:ext cx="9986682" cy="3101787"/>
        </p:xfrm>
        <a:graphic>
          <a:graphicData uri="http://schemas.openxmlformats.org/drawingml/2006/table">
            <a:tbl>
              <a:tblPr/>
              <a:tblGrid>
                <a:gridCol w="3328894">
                  <a:extLst>
                    <a:ext uri="{9D8B030D-6E8A-4147-A177-3AD203B41FA5}">
                      <a16:colId xmlns:a16="http://schemas.microsoft.com/office/drawing/2014/main" val="986015089"/>
                    </a:ext>
                  </a:extLst>
                </a:gridCol>
                <a:gridCol w="3328894">
                  <a:extLst>
                    <a:ext uri="{9D8B030D-6E8A-4147-A177-3AD203B41FA5}">
                      <a16:colId xmlns:a16="http://schemas.microsoft.com/office/drawing/2014/main" val="2629891696"/>
                    </a:ext>
                  </a:extLst>
                </a:gridCol>
                <a:gridCol w="3328894">
                  <a:extLst>
                    <a:ext uri="{9D8B030D-6E8A-4147-A177-3AD203B41FA5}">
                      <a16:colId xmlns:a16="http://schemas.microsoft.com/office/drawing/2014/main" val="880283792"/>
                    </a:ext>
                  </a:extLst>
                </a:gridCol>
              </a:tblGrid>
              <a:tr h="375974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NodeList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HTMLCollection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146117"/>
                  </a:ext>
                </a:extLst>
              </a:tr>
              <a:tr h="657955">
                <a:tc>
                  <a:txBody>
                    <a:bodyPr/>
                    <a:lstStyle/>
                    <a:p>
                      <a:r>
                        <a:rPr lang="en-IN"/>
                        <a:t>Returned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querySelectorAll()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getElementsByClassName(), getElementsByTagName()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22284"/>
                  </a:ext>
                </a:extLst>
              </a:tr>
              <a:tr h="657955">
                <a:tc>
                  <a:txBody>
                    <a:bodyPr/>
                    <a:lstStyle/>
                    <a:p>
                      <a:r>
                        <a:rPr lang="en-IN"/>
                        <a:t>Static or Live?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Static</a:t>
                      </a:r>
                      <a:r>
                        <a:rPr lang="en-US"/>
                        <a:t> (does NOT update automatically)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Live</a:t>
                      </a:r>
                      <a:r>
                        <a:rPr lang="en-US"/>
                        <a:t> (updates when DOM changes)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539370"/>
                  </a:ext>
                </a:extLst>
              </a:tr>
              <a:tr h="375974">
                <a:tc>
                  <a:txBody>
                    <a:bodyPr/>
                    <a:lstStyle/>
                    <a:p>
                      <a:r>
                        <a:rPr lang="en-IN"/>
                        <a:t>Can use forEach?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Yes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Not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057380"/>
                  </a:ext>
                </a:extLst>
              </a:tr>
              <a:tr h="657955">
                <a:tc>
                  <a:txBody>
                    <a:bodyPr/>
                    <a:lstStyle/>
                    <a:p>
                      <a:r>
                        <a:rPr lang="en-IN"/>
                        <a:t>Can contain?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Any node (elements, text, comments)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Only element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167481"/>
                  </a:ext>
                </a:extLst>
              </a:tr>
              <a:tr h="375974">
                <a:tc>
                  <a:txBody>
                    <a:bodyPr/>
                    <a:lstStyle/>
                    <a:p>
                      <a:r>
                        <a:rPr lang="en-IN"/>
                        <a:t>Looks like an array?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 (array-like)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(array-like)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730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101600-477E-E67B-EBB8-2FB2AC24B6E8}"/>
              </a:ext>
            </a:extLst>
          </p:cNvPr>
          <p:cNvSpPr txBox="1"/>
          <p:nvPr/>
        </p:nvSpPr>
        <p:spPr>
          <a:xfrm>
            <a:off x="259976" y="1482112"/>
            <a:ext cx="3603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/>
              <a:t>NodeList</a:t>
            </a:r>
            <a:r>
              <a:rPr lang="en-IN" sz="2000" b="1" dirty="0"/>
              <a:t> vs </a:t>
            </a:r>
            <a:r>
              <a:rPr lang="en-IN" sz="2000" b="1" dirty="0" err="1"/>
              <a:t>HTMLCollection</a:t>
            </a:r>
            <a:endParaRPr lang="en-IN" sz="20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152394-B126-EAB4-C2D5-6811B6815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953" y="5934999"/>
            <a:ext cx="80041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NodeList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= Photo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Once taken, it doesn’t auto-update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HTMLCollection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= CCTV Live Camera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Updates when elements change</a:t>
            </a:r>
          </a:p>
        </p:txBody>
      </p:sp>
    </p:spTree>
    <p:extLst>
      <p:ext uri="{BB962C8B-B14F-4D97-AF65-F5344CB8AC3E}">
        <p14:creationId xmlns:p14="http://schemas.microsoft.com/office/powerpoint/2010/main" val="273880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BF142-6282-79F3-4C7B-86EB857954EF}"/>
              </a:ext>
            </a:extLst>
          </p:cNvPr>
          <p:cNvSpPr txBox="1"/>
          <p:nvPr/>
        </p:nvSpPr>
        <p:spPr>
          <a:xfrm>
            <a:off x="82924" y="1429435"/>
            <a:ext cx="6190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DOM Manipulation – Basics</a:t>
            </a:r>
          </a:p>
          <a:p>
            <a:endParaRPr lang="en-US" b="1" dirty="0"/>
          </a:p>
          <a:p>
            <a:r>
              <a:rPr lang="en-US" dirty="0"/>
              <a:t>Once you select an element, you can </a:t>
            </a:r>
            <a:r>
              <a:rPr lang="en-US" b="1" dirty="0"/>
              <a:t>change it</a:t>
            </a:r>
            <a:r>
              <a:rPr lang="en-US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C1B33C-E5D1-8127-14D2-364F65E7C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76" y="2754957"/>
            <a:ext cx="40430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innerText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visible text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Ignores hidden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(recalculates layout)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4197-5F49-822B-41DB-07356274FF7E}"/>
              </a:ext>
            </a:extLst>
          </p:cNvPr>
          <p:cNvSpPr txBox="1"/>
          <p:nvPr/>
        </p:nvSpPr>
        <p:spPr>
          <a:xfrm>
            <a:off x="6169959" y="3059668"/>
            <a:ext cx="3789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element.innerText</a:t>
            </a:r>
            <a:r>
              <a:rPr lang="en-IN" b="1" dirty="0"/>
              <a:t> = "Hello!";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5415DD-5D08-72C8-4631-B94DCDFA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76" y="4891790"/>
            <a:ext cx="32271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.textContent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text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(even hidden)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1C814-BC29-D9E1-8C21-A8EEEB0BAAF2}"/>
              </a:ext>
            </a:extLst>
          </p:cNvPr>
          <p:cNvSpPr txBox="1"/>
          <p:nvPr/>
        </p:nvSpPr>
        <p:spPr>
          <a:xfrm>
            <a:off x="6096000" y="4391816"/>
            <a:ext cx="3863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element.textContent</a:t>
            </a:r>
            <a:r>
              <a:rPr lang="en-IN" b="1" dirty="0"/>
              <a:t> = "Welcome!";</a:t>
            </a:r>
          </a:p>
        </p:txBody>
      </p:sp>
    </p:spTree>
    <p:extLst>
      <p:ext uri="{BB962C8B-B14F-4D97-AF65-F5344CB8AC3E}">
        <p14:creationId xmlns:p14="http://schemas.microsoft.com/office/powerpoint/2010/main" val="277712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094147-5FE6-1E6C-50AE-D3015C2BC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1546883"/>
            <a:ext cx="48388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innerHTML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or replaces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inside an element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insert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9D4F1-E636-1AB2-42B4-36A3B5F9CE5B}"/>
              </a:ext>
            </a:extLst>
          </p:cNvPr>
          <p:cNvSpPr txBox="1"/>
          <p:nvPr/>
        </p:nvSpPr>
        <p:spPr>
          <a:xfrm>
            <a:off x="6313394" y="1777715"/>
            <a:ext cx="456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element.innerHTML</a:t>
            </a:r>
            <a:r>
              <a:rPr lang="en-IN" b="1" dirty="0"/>
              <a:t> = "&lt;b&gt;Bold Text&lt;/b&gt;";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E92F19-560B-4227-1845-52AFA532A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2948924"/>
            <a:ext cx="3916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.style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Modify CSS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color, size, background,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BFB9C-A821-57E6-67F8-FC2B39606C2C}"/>
              </a:ext>
            </a:extLst>
          </p:cNvPr>
          <p:cNvSpPr txBox="1"/>
          <p:nvPr/>
        </p:nvSpPr>
        <p:spPr>
          <a:xfrm>
            <a:off x="6313394" y="2653531"/>
            <a:ext cx="6190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element.style.color</a:t>
            </a:r>
            <a:r>
              <a:rPr lang="en-IN" b="1" dirty="0"/>
              <a:t> = "red";</a:t>
            </a:r>
          </a:p>
          <a:p>
            <a:r>
              <a:rPr lang="en-IN" b="1" dirty="0" err="1"/>
              <a:t>element.style.background</a:t>
            </a:r>
            <a:r>
              <a:rPr lang="en-IN" b="1" dirty="0"/>
              <a:t> = "yellow";</a:t>
            </a:r>
          </a:p>
          <a:p>
            <a:r>
              <a:rPr lang="en-IN" b="1" dirty="0" err="1"/>
              <a:t>element.style.fontSize</a:t>
            </a:r>
            <a:r>
              <a:rPr lang="en-IN" b="1" dirty="0"/>
              <a:t> = "30px";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0DD4247-FCFC-6F75-AB55-DB73736A0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4289176"/>
            <a:ext cx="4249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setAttribute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getAttribute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add, read, or change attributes.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AF114-AFD8-A269-4713-A021EBBFB365}"/>
              </a:ext>
            </a:extLst>
          </p:cNvPr>
          <p:cNvSpPr txBox="1"/>
          <p:nvPr/>
        </p:nvSpPr>
        <p:spPr>
          <a:xfrm>
            <a:off x="6316696" y="4064623"/>
            <a:ext cx="6347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element.setAttribute</a:t>
            </a:r>
            <a:r>
              <a:rPr lang="en-IN" b="1" dirty="0"/>
              <a:t>("id", "header");</a:t>
            </a:r>
          </a:p>
          <a:p>
            <a:r>
              <a:rPr lang="en-IN" b="1" dirty="0" err="1"/>
              <a:t>element.getAttribute</a:t>
            </a:r>
            <a:r>
              <a:rPr lang="en-IN" b="1" dirty="0"/>
              <a:t>("</a:t>
            </a:r>
            <a:r>
              <a:rPr lang="en-IN" b="1" dirty="0" err="1"/>
              <a:t>href</a:t>
            </a:r>
            <a:r>
              <a:rPr lang="en-IN" b="1" dirty="0"/>
              <a:t>");   // get link URL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846D130-9D04-E1C9-4A9F-CE346D631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5203576"/>
            <a:ext cx="33137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classList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manage CSS classes.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9BB2-EF64-0D55-2A5E-8D9221C2050A}"/>
              </a:ext>
            </a:extLst>
          </p:cNvPr>
          <p:cNvSpPr txBox="1"/>
          <p:nvPr/>
        </p:nvSpPr>
        <p:spPr>
          <a:xfrm>
            <a:off x="6313394" y="5065076"/>
            <a:ext cx="5215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element.classList.add</a:t>
            </a:r>
            <a:r>
              <a:rPr lang="en-IN" b="1" dirty="0"/>
              <a:t>("active");</a:t>
            </a:r>
          </a:p>
          <a:p>
            <a:r>
              <a:rPr lang="en-IN" b="1" dirty="0" err="1"/>
              <a:t>element.classList.remove</a:t>
            </a:r>
            <a:r>
              <a:rPr lang="en-IN" b="1" dirty="0"/>
              <a:t>("hidden");</a:t>
            </a:r>
          </a:p>
          <a:p>
            <a:r>
              <a:rPr lang="en-IN" b="1" dirty="0" err="1"/>
              <a:t>element.classList.toggle</a:t>
            </a:r>
            <a:r>
              <a:rPr lang="en-IN" b="1" dirty="0"/>
              <a:t>("dark-mode"); // ON/OFF</a:t>
            </a:r>
          </a:p>
        </p:txBody>
      </p:sp>
    </p:spTree>
    <p:extLst>
      <p:ext uri="{BB962C8B-B14F-4D97-AF65-F5344CB8AC3E}">
        <p14:creationId xmlns:p14="http://schemas.microsoft.com/office/powerpoint/2010/main" val="183708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A831C-3094-719F-FC99-7228CAFAED93}"/>
              </a:ext>
            </a:extLst>
          </p:cNvPr>
          <p:cNvSpPr txBox="1"/>
          <p:nvPr/>
        </p:nvSpPr>
        <p:spPr>
          <a:xfrm>
            <a:off x="89647" y="1461247"/>
            <a:ext cx="90072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Browser Developer Tools → Elements Panel</a:t>
            </a:r>
          </a:p>
          <a:p>
            <a:endParaRPr lang="en-US" b="1" dirty="0"/>
          </a:p>
          <a:p>
            <a:r>
              <a:rPr lang="en-US" dirty="0"/>
              <a:t>(Works in Chrome, Edge, Firefox)</a:t>
            </a:r>
          </a:p>
          <a:p>
            <a:endParaRPr lang="en-US" dirty="0"/>
          </a:p>
          <a:p>
            <a:r>
              <a:rPr lang="en-US" dirty="0"/>
              <a:t>This is the </a:t>
            </a:r>
            <a:r>
              <a:rPr lang="en-US" b="1" dirty="0"/>
              <a:t>actual DOM viewer</a:t>
            </a:r>
            <a:r>
              <a:rPr lang="en-US" dirty="0"/>
              <a:t> inside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375575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652827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532707-F797-F7DA-57C3-CAB2FE6EE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7694"/>
            <a:ext cx="7101624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any webpage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google.com or your own HTML page.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Right-click anywhere on the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Select: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 panel opens on the right/bottom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 (in Chrome by default it's already selected).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You see here IS THE DOM.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HTML elements converted into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tree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expand and collapse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of selected element (on the right side)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changes visible instantly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45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392011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1BDD13-D30C-9EA7-40E4-0F3A2F6D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4177"/>
            <a:ext cx="783549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You Can Demonstrate DOM Live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1 — Select an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on the arrow icon 🔍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click a heading on the page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highlights the corresponding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2 — Edit text directly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Double-click the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inside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change the text.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will see: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webpage changes immediately.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This shows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doesn’t change 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changes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DOM updates the page.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3 — Add a new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Right-click inside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&lt;body&gt;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“Add element”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&lt;p&gt;Hello Students!&lt;/p&gt;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instantly appears on the webpage.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4CBB7-2581-E174-F72C-98EA20DE6898}"/>
              </a:ext>
            </a:extLst>
          </p:cNvPr>
          <p:cNvSpPr txBox="1"/>
          <p:nvPr/>
        </p:nvSpPr>
        <p:spPr>
          <a:xfrm>
            <a:off x="5360894" y="5420493"/>
            <a:ext cx="63447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“Whatever you see in this </a:t>
            </a:r>
            <a:r>
              <a:rPr lang="en-US" b="1" i="1" dirty="0">
                <a:highlight>
                  <a:srgbClr val="FFFF00"/>
                </a:highlight>
              </a:rPr>
              <a:t>Elements</a:t>
            </a:r>
            <a:r>
              <a:rPr lang="en-US" b="1" dirty="0">
                <a:highlight>
                  <a:srgbClr val="FFFF00"/>
                </a:highlight>
              </a:rPr>
              <a:t> panel is the DOM.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This is the browser’s internal version of your webpage.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If we change anything here, the webpage changes immediately.”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8903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3556</TotalTime>
  <Words>1342</Words>
  <Application>Microsoft Office PowerPoint</Application>
  <PresentationFormat>Widescreen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Unicode MS</vt:lpstr>
      <vt:lpstr>-apple-system</vt:lpstr>
      <vt:lpstr>Arial</vt:lpstr>
      <vt:lpstr>Calibri</vt:lpstr>
      <vt:lpstr>Calibri Light</vt:lpstr>
      <vt:lpstr>Quicksand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83</cp:revision>
  <dcterms:created xsi:type="dcterms:W3CDTF">2022-08-19T11:01:50Z</dcterms:created>
  <dcterms:modified xsi:type="dcterms:W3CDTF">2025-11-25T15:43:25Z</dcterms:modified>
</cp:coreProperties>
</file>