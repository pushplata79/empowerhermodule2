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8"/>
  </p:notesMasterIdLst>
  <p:sldIdLst>
    <p:sldId id="310" r:id="rId2"/>
    <p:sldId id="324" r:id="rId3"/>
    <p:sldId id="325" r:id="rId4"/>
    <p:sldId id="326" r:id="rId5"/>
    <p:sldId id="327" r:id="rId6"/>
    <p:sldId id="328" r:id="rId7"/>
    <p:sldId id="330" r:id="rId8"/>
    <p:sldId id="331" r:id="rId9"/>
    <p:sldId id="332" r:id="rId10"/>
    <p:sldId id="329" r:id="rId11"/>
    <p:sldId id="333" r:id="rId12"/>
    <p:sldId id="334" r:id="rId13"/>
    <p:sldId id="335" r:id="rId14"/>
    <p:sldId id="336" r:id="rId15"/>
    <p:sldId id="337" r:id="rId16"/>
    <p:sldId id="33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885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4841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2459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9833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145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8979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2838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5400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6260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8651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837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8746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6552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272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2466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833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43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32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48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7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3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81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3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39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09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A82C0F-A81B-4B2B-9B0C-842E6D2AD82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7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0" y="288711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More about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220E3-FCBB-10FD-7294-ABCF39A5DBF9}"/>
              </a:ext>
            </a:extLst>
          </p:cNvPr>
          <p:cNvSpPr txBox="1"/>
          <p:nvPr/>
        </p:nvSpPr>
        <p:spPr>
          <a:xfrm>
            <a:off x="89647" y="1237129"/>
            <a:ext cx="1181548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0000"/>
                </a:highlight>
              </a:rPr>
              <a:t>What Is Responsive Web Design?</a:t>
            </a:r>
          </a:p>
          <a:p>
            <a:endParaRPr lang="en-US" sz="2000" b="1" dirty="0"/>
          </a:p>
          <a:p>
            <a:r>
              <a:rPr lang="en-US" b="1" dirty="0"/>
              <a:t>Responsive Web Design</a:t>
            </a:r>
            <a:r>
              <a:rPr lang="en-US" dirty="0"/>
              <a:t> (RWD) means designing websites that </a:t>
            </a:r>
            <a:r>
              <a:rPr lang="en-US" b="1" dirty="0"/>
              <a:t>automatically adjust</a:t>
            </a:r>
            <a:r>
              <a:rPr lang="en-US" dirty="0"/>
              <a:t> to fit </a:t>
            </a:r>
            <a:r>
              <a:rPr lang="en-US" b="1" dirty="0"/>
              <a:t>any screen size or device</a:t>
            </a:r>
            <a:r>
              <a:rPr lang="en-US" dirty="0"/>
              <a:t> —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whether it’s a </a:t>
            </a:r>
            <a:r>
              <a:rPr lang="en-US" b="1" dirty="0"/>
              <a:t>mobile phone</a:t>
            </a:r>
            <a:r>
              <a:rPr lang="en-US" dirty="0"/>
              <a:t>, </a:t>
            </a:r>
            <a:r>
              <a:rPr lang="en-US" b="1" dirty="0"/>
              <a:t>tablet</a:t>
            </a:r>
            <a:r>
              <a:rPr lang="en-US" dirty="0"/>
              <a:t>, </a:t>
            </a:r>
            <a:r>
              <a:rPr lang="en-US" b="1" dirty="0"/>
              <a:t>laptop</a:t>
            </a:r>
            <a:r>
              <a:rPr lang="en-US" dirty="0"/>
              <a:t>, or </a:t>
            </a:r>
            <a:r>
              <a:rPr lang="en-US" b="1" dirty="0"/>
              <a:t>large desktop monitor</a:t>
            </a:r>
            <a:r>
              <a:rPr lang="en-US" dirty="0"/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8AD71E-83E2-B15B-8CAB-E6A676EC2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59" y="2967335"/>
            <a:ext cx="1082867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short: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responsive website looks good, reads well, and works properly no matter what device you open it on.”</a:t>
            </a:r>
          </a:p>
        </p:txBody>
      </p:sp>
    </p:spTree>
    <p:extLst>
      <p:ext uri="{BB962C8B-B14F-4D97-AF65-F5344CB8AC3E}">
        <p14:creationId xmlns:p14="http://schemas.microsoft.com/office/powerpoint/2010/main" val="29978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FEAE9-5109-BB97-E9BC-33D182CE8938}"/>
              </a:ext>
            </a:extLst>
          </p:cNvPr>
          <p:cNvSpPr txBox="1"/>
          <p:nvPr/>
        </p:nvSpPr>
        <p:spPr>
          <a:xfrm>
            <a:off x="62752" y="1470212"/>
            <a:ext cx="117796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0000"/>
                </a:highlight>
              </a:rPr>
              <a:t>Why Is It So Important?</a:t>
            </a:r>
          </a:p>
          <a:p>
            <a:endParaRPr lang="en-US" b="1" dirty="0"/>
          </a:p>
          <a:p>
            <a:r>
              <a:rPr lang="en-US" dirty="0"/>
              <a:t>Think about how people use the internet today: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open sites on their </a:t>
            </a:r>
            <a:r>
              <a:rPr lang="en-US" b="1" dirty="0"/>
              <a:t>phones</a:t>
            </a:r>
            <a:r>
              <a:rPr lang="en-US" dirty="0"/>
              <a:t> 📱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on </a:t>
            </a:r>
            <a:r>
              <a:rPr lang="en-US" b="1" dirty="0"/>
              <a:t>laptops</a:t>
            </a:r>
            <a:r>
              <a:rPr lang="en-US" dirty="0"/>
              <a:t> 💻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Others on </a:t>
            </a:r>
            <a:r>
              <a:rPr lang="en-US" b="1" dirty="0"/>
              <a:t>tablets</a:t>
            </a:r>
            <a:r>
              <a:rPr lang="en-US" dirty="0"/>
              <a:t> or even </a:t>
            </a:r>
            <a:r>
              <a:rPr lang="en-US" b="1" dirty="0"/>
              <a:t>TV screens</a:t>
            </a:r>
            <a:r>
              <a:rPr lang="en-US" dirty="0"/>
              <a:t> 📺</a:t>
            </a:r>
          </a:p>
          <a:p>
            <a:endParaRPr lang="en-US" dirty="0"/>
          </a:p>
          <a:p>
            <a:r>
              <a:rPr lang="en-US" dirty="0"/>
              <a:t>If your website only looks good on a computer, mobile users will struggle —</a:t>
            </a:r>
            <a:br>
              <a:rPr lang="en-US" dirty="0"/>
            </a:br>
            <a:r>
              <a:rPr lang="en-US" dirty="0"/>
              <a:t>they’ll need to </a:t>
            </a:r>
            <a:r>
              <a:rPr lang="en-US" b="1" dirty="0"/>
              <a:t>zoom in</a:t>
            </a:r>
            <a:r>
              <a:rPr lang="en-US" dirty="0"/>
              <a:t>, </a:t>
            </a:r>
            <a:r>
              <a:rPr lang="en-US" b="1" dirty="0"/>
              <a:t>scroll sideways</a:t>
            </a:r>
            <a:r>
              <a:rPr lang="en-US" dirty="0"/>
              <a:t>, and probably leave your site.</a:t>
            </a:r>
          </a:p>
          <a:p>
            <a:r>
              <a:rPr lang="en-US" dirty="0"/>
              <a:t>Responsive design solves this problem.</a:t>
            </a:r>
          </a:p>
        </p:txBody>
      </p:sp>
    </p:spTree>
    <p:extLst>
      <p:ext uri="{BB962C8B-B14F-4D97-AF65-F5344CB8AC3E}">
        <p14:creationId xmlns:p14="http://schemas.microsoft.com/office/powerpoint/2010/main" val="377215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76CA8-3AFE-B266-7C6A-DC1A8E6EF4EC}"/>
              </a:ext>
            </a:extLst>
          </p:cNvPr>
          <p:cNvSpPr txBox="1"/>
          <p:nvPr/>
        </p:nvSpPr>
        <p:spPr>
          <a:xfrm>
            <a:off x="0" y="1415443"/>
            <a:ext cx="630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0000"/>
                </a:highlight>
              </a:rPr>
              <a:t>Core Principles of Responsive Design</a:t>
            </a:r>
            <a:endParaRPr lang="en-IN" sz="2000" b="1" dirty="0">
              <a:highlight>
                <a:srgbClr val="FF0000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915400-4BBD-3003-A7AC-482BFF633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007219"/>
              </p:ext>
            </p:extLst>
          </p:nvPr>
        </p:nvGraphicFramePr>
        <p:xfrm>
          <a:off x="206190" y="2178424"/>
          <a:ext cx="11546538" cy="4457828"/>
        </p:xfrm>
        <a:graphic>
          <a:graphicData uri="http://schemas.openxmlformats.org/drawingml/2006/table">
            <a:tbl>
              <a:tblPr/>
              <a:tblGrid>
                <a:gridCol w="3848846">
                  <a:extLst>
                    <a:ext uri="{9D8B030D-6E8A-4147-A177-3AD203B41FA5}">
                      <a16:colId xmlns:a16="http://schemas.microsoft.com/office/drawing/2014/main" val="929329536"/>
                    </a:ext>
                  </a:extLst>
                </a:gridCol>
                <a:gridCol w="3848846">
                  <a:extLst>
                    <a:ext uri="{9D8B030D-6E8A-4147-A177-3AD203B41FA5}">
                      <a16:colId xmlns:a16="http://schemas.microsoft.com/office/drawing/2014/main" val="878187484"/>
                    </a:ext>
                  </a:extLst>
                </a:gridCol>
                <a:gridCol w="3848846">
                  <a:extLst>
                    <a:ext uri="{9D8B030D-6E8A-4147-A177-3AD203B41FA5}">
                      <a16:colId xmlns:a16="http://schemas.microsoft.com/office/drawing/2014/main" val="235163342"/>
                    </a:ext>
                  </a:extLst>
                </a:gridCol>
              </a:tblGrid>
              <a:tr h="457213">
                <a:tc>
                  <a:txBody>
                    <a:bodyPr/>
                    <a:lstStyle/>
                    <a:p>
                      <a:r>
                        <a:rPr lang="en-IN" sz="2000" b="1" dirty="0"/>
                        <a:t>Principle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Simple Analogy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60993"/>
                  </a:ext>
                </a:extLst>
              </a:tr>
              <a:tr h="800123">
                <a:tc>
                  <a:txBody>
                    <a:bodyPr/>
                    <a:lstStyle/>
                    <a:p>
                      <a:r>
                        <a:rPr lang="en-IN" b="1" dirty="0"/>
                        <a:t>1. Fluid Layouts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 flexible units (like %, vw, vh) instead of fixed pixels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Like a balloon that changes shape when you squeeze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471262"/>
                  </a:ext>
                </a:extLst>
              </a:tr>
              <a:tr h="800123">
                <a:tc>
                  <a:txBody>
                    <a:bodyPr/>
                    <a:lstStyle/>
                    <a:p>
                      <a:r>
                        <a:rPr lang="en-IN" b="1"/>
                        <a:t>2. Flexible Images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Images resize automatically based on screen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Like water in a bottle — it takes the shape of its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810707"/>
                  </a:ext>
                </a:extLst>
              </a:tr>
              <a:tr h="800123">
                <a:tc>
                  <a:txBody>
                    <a:bodyPr/>
                    <a:lstStyle/>
                    <a:p>
                      <a:r>
                        <a:rPr lang="en-IN" b="1"/>
                        <a:t>3. Media Queries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CSS rules that apply only to certain screen sizes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Like changing clothes for different weather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330457"/>
                  </a:ext>
                </a:extLst>
              </a:tr>
              <a:tr h="800123">
                <a:tc>
                  <a:txBody>
                    <a:bodyPr/>
                    <a:lstStyle/>
                    <a:p>
                      <a:r>
                        <a:rPr lang="en-IN" b="1"/>
                        <a:t>4. Mobile-First Design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Design for mobile screens first, then expand for larger screens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Start small, then add more details for bigger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186571"/>
                  </a:ext>
                </a:extLst>
              </a:tr>
              <a:tr h="800123">
                <a:tc>
                  <a:txBody>
                    <a:bodyPr/>
                    <a:lstStyle/>
                    <a:p>
                      <a:r>
                        <a:rPr lang="en-IN" b="1" dirty="0"/>
                        <a:t>5. Viewport Meta Tag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line of HTML that tells browsers how to scale the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Like telling your camera how wide to capture the picture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793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42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B3B34-E832-2020-EF72-CE1892C017CA}"/>
              </a:ext>
            </a:extLst>
          </p:cNvPr>
          <p:cNvSpPr txBox="1"/>
          <p:nvPr/>
        </p:nvSpPr>
        <p:spPr>
          <a:xfrm>
            <a:off x="69476" y="1258651"/>
            <a:ext cx="630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0000"/>
                </a:highlight>
              </a:rPr>
              <a:t>The Building Blocks of Responsive Design</a:t>
            </a:r>
            <a:endParaRPr lang="en-IN" sz="2000" dirty="0">
              <a:highlight>
                <a:srgbClr val="FF000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9E7B44-5682-B16B-2B4E-4AC589280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6" y="1846748"/>
            <a:ext cx="79987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Fluid Layouts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fixed widths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use relative units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2F64F-9103-58A1-3C96-583FD9BC993F}"/>
              </a:ext>
            </a:extLst>
          </p:cNvPr>
          <p:cNvSpPr txBox="1"/>
          <p:nvPr/>
        </p:nvSpPr>
        <p:spPr>
          <a:xfrm>
            <a:off x="1136276" y="3191199"/>
            <a:ext cx="6306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.container {</a:t>
            </a:r>
          </a:p>
          <a:p>
            <a:r>
              <a:rPr lang="en-IN" dirty="0"/>
              <a:t>  width: 90%; /* Instead of fixed 900px */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58035-FFE2-AF30-585E-71B88BC0AE50}"/>
              </a:ext>
            </a:extLst>
          </p:cNvPr>
          <p:cNvSpPr txBox="1"/>
          <p:nvPr/>
        </p:nvSpPr>
        <p:spPr>
          <a:xfrm>
            <a:off x="3711388" y="4885329"/>
            <a:ext cx="6664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container takes 90% of the screen, adjusting itself on every device.</a:t>
            </a:r>
          </a:p>
        </p:txBody>
      </p:sp>
    </p:spTree>
    <p:extLst>
      <p:ext uri="{BB962C8B-B14F-4D97-AF65-F5344CB8AC3E}">
        <p14:creationId xmlns:p14="http://schemas.microsoft.com/office/powerpoint/2010/main" val="26357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9071D-05BD-5F71-9E02-730CBA70A5FC}"/>
              </a:ext>
            </a:extLst>
          </p:cNvPr>
          <p:cNvSpPr txBox="1"/>
          <p:nvPr/>
        </p:nvSpPr>
        <p:spPr>
          <a:xfrm>
            <a:off x="206188" y="1246094"/>
            <a:ext cx="9020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Media Queries</a:t>
            </a:r>
          </a:p>
          <a:p>
            <a:endParaRPr lang="en-US" b="1" dirty="0"/>
          </a:p>
          <a:p>
            <a:r>
              <a:rPr lang="en-US" dirty="0"/>
              <a:t>Media queries let you change styles based on screen size.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ABEFA-64F8-76B3-9E13-A3E17DBDEE7D}"/>
              </a:ext>
            </a:extLst>
          </p:cNvPr>
          <p:cNvSpPr txBox="1"/>
          <p:nvPr/>
        </p:nvSpPr>
        <p:spPr>
          <a:xfrm>
            <a:off x="876301" y="2605171"/>
            <a:ext cx="63066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@media (max-width: 768px)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  body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lightyellow</a:t>
            </a:r>
            <a:r>
              <a:rPr lang="en-IN" dirty="0"/>
              <a:t>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7C803-21C1-3A1E-0058-E9871B728370}"/>
              </a:ext>
            </a:extLst>
          </p:cNvPr>
          <p:cNvSpPr txBox="1"/>
          <p:nvPr/>
        </p:nvSpPr>
        <p:spPr>
          <a:xfrm>
            <a:off x="2812675" y="5190129"/>
            <a:ext cx="9020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When the screen width is less than 768px (like a tablet or phone), background color changes.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4637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E13D5-A821-5B8F-18AE-7F468405E764}"/>
              </a:ext>
            </a:extLst>
          </p:cNvPr>
          <p:cNvSpPr txBox="1"/>
          <p:nvPr/>
        </p:nvSpPr>
        <p:spPr>
          <a:xfrm>
            <a:off x="114300" y="1218765"/>
            <a:ext cx="6306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Flexible Images</a:t>
            </a:r>
          </a:p>
          <a:p>
            <a:endParaRPr lang="en-US" b="1" dirty="0"/>
          </a:p>
          <a:p>
            <a:r>
              <a:rPr lang="en-US" dirty="0"/>
              <a:t>Images that automatically fit the available space.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7711B-418F-FE3A-35A6-208EA2E2D5B7}"/>
              </a:ext>
            </a:extLst>
          </p:cNvPr>
          <p:cNvSpPr txBox="1"/>
          <p:nvPr/>
        </p:nvSpPr>
        <p:spPr>
          <a:xfrm>
            <a:off x="580465" y="2492660"/>
            <a:ext cx="63066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img</a:t>
            </a:r>
            <a:endParaRPr lang="en-IN" dirty="0"/>
          </a:p>
          <a:p>
            <a:r>
              <a:rPr lang="en-IN" dirty="0"/>
              <a:t> {</a:t>
            </a:r>
          </a:p>
          <a:p>
            <a:r>
              <a:rPr lang="en-IN" dirty="0"/>
              <a:t>  max-width: 100%;</a:t>
            </a:r>
          </a:p>
          <a:p>
            <a:r>
              <a:rPr lang="en-IN" dirty="0"/>
              <a:t>  height: auto;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5E84A-5F54-71EA-738D-DAD3D54C7FE9}"/>
              </a:ext>
            </a:extLst>
          </p:cNvPr>
          <p:cNvSpPr txBox="1"/>
          <p:nvPr/>
        </p:nvSpPr>
        <p:spPr>
          <a:xfrm>
            <a:off x="3547782" y="4512840"/>
            <a:ext cx="630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image never overflows the container and resizes beautifully.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360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F4BAA0-9937-78F9-353E-5246716DE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1052572"/>
            <a:ext cx="41351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Viewport Meta Tag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Placed inside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&lt;head&gt;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an HTML page: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AF741-8B4F-056A-5D21-15836FC8101E}"/>
              </a:ext>
            </a:extLst>
          </p:cNvPr>
          <p:cNvSpPr txBox="1"/>
          <p:nvPr/>
        </p:nvSpPr>
        <p:spPr>
          <a:xfrm>
            <a:off x="699247" y="2339788"/>
            <a:ext cx="8527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&lt;meta name="viewport" content="width=device-width, initial-scale=1.0"&gt;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B07C3-8699-08F3-7B79-AF4EE8080526}"/>
              </a:ext>
            </a:extLst>
          </p:cNvPr>
          <p:cNvSpPr txBox="1"/>
          <p:nvPr/>
        </p:nvSpPr>
        <p:spPr>
          <a:xfrm>
            <a:off x="4605618" y="3544652"/>
            <a:ext cx="630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tells the browser to display your page correctly on all devices.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8158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D3198-5FA4-9BE7-E8F4-88799DB2E260}"/>
              </a:ext>
            </a:extLst>
          </p:cNvPr>
          <p:cNvSpPr txBox="1"/>
          <p:nvPr/>
        </p:nvSpPr>
        <p:spPr>
          <a:xfrm>
            <a:off x="125506" y="1201272"/>
            <a:ext cx="9101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Mobile-First Design Approach</a:t>
            </a:r>
          </a:p>
          <a:p>
            <a:endParaRPr lang="en-US" b="1" dirty="0"/>
          </a:p>
          <a:p>
            <a:r>
              <a:rPr lang="en-US" dirty="0"/>
              <a:t>Design for the </a:t>
            </a:r>
            <a:r>
              <a:rPr lang="en-US" b="1" dirty="0"/>
              <a:t>smallest screens first</a:t>
            </a:r>
            <a:r>
              <a:rPr lang="en-US" dirty="0"/>
              <a:t>, then expand.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C8F7F-CC84-0D88-E1BB-B81D75E5570C}"/>
              </a:ext>
            </a:extLst>
          </p:cNvPr>
          <p:cNvSpPr txBox="1"/>
          <p:nvPr/>
        </p:nvSpPr>
        <p:spPr>
          <a:xfrm>
            <a:off x="690282" y="2492189"/>
            <a:ext cx="686024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/* Base (mobile styles) */</a:t>
            </a:r>
          </a:p>
          <a:p>
            <a:r>
              <a:rPr lang="en-IN" dirty="0"/>
              <a:t>Body</a:t>
            </a:r>
          </a:p>
          <a:p>
            <a:r>
              <a:rPr lang="en-IN" dirty="0"/>
              <a:t> { </a:t>
            </a:r>
          </a:p>
          <a:p>
            <a:r>
              <a:rPr lang="en-IN" dirty="0"/>
              <a:t>font-size: 14px; 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/* Add desktop styles later */</a:t>
            </a:r>
          </a:p>
          <a:p>
            <a:endParaRPr lang="en-IN" dirty="0"/>
          </a:p>
          <a:p>
            <a:r>
              <a:rPr lang="en-IN" dirty="0"/>
              <a:t>@media (min-width: 1024px)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body { </a:t>
            </a:r>
          </a:p>
          <a:p>
            <a:r>
              <a:rPr lang="en-IN" dirty="0"/>
              <a:t>	font-size: 18px; 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8DB92-B8BE-1F11-5A2C-12F1862A4E69}"/>
              </a:ext>
            </a:extLst>
          </p:cNvPr>
          <p:cNvSpPr txBox="1"/>
          <p:nvPr/>
        </p:nvSpPr>
        <p:spPr>
          <a:xfrm>
            <a:off x="5195048" y="5817659"/>
            <a:ext cx="6719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ensures a smooth, consistent experience from mobile to desktop.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060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FC22A-72CE-542A-7C49-D3A73BAD3795}"/>
              </a:ext>
            </a:extLst>
          </p:cNvPr>
          <p:cNvSpPr txBox="1"/>
          <p:nvPr/>
        </p:nvSpPr>
        <p:spPr>
          <a:xfrm>
            <a:off x="304800" y="1264025"/>
            <a:ext cx="892212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0000"/>
                </a:highlight>
              </a:rPr>
              <a:t>How Responsive Design Works Step by Step</a:t>
            </a:r>
          </a:p>
          <a:p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b="1" dirty="0"/>
              <a:t>Website loads</a:t>
            </a:r>
            <a:r>
              <a:rPr lang="en-US" dirty="0"/>
              <a:t> on a device.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viewport meta tag</a:t>
            </a:r>
            <a:r>
              <a:rPr lang="en-US" dirty="0"/>
              <a:t> ensures proper scaling.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CSS layout</a:t>
            </a:r>
            <a:r>
              <a:rPr lang="en-US" dirty="0"/>
              <a:t> uses relative units that stretch/shrink as per screen.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Images and media</a:t>
            </a:r>
            <a:r>
              <a:rPr lang="en-US" dirty="0"/>
              <a:t> resize automatically.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Media queries</a:t>
            </a:r>
            <a:r>
              <a:rPr lang="en-US" dirty="0"/>
              <a:t> detect screen width and apply different styling.</a:t>
            </a:r>
          </a:p>
        </p:txBody>
      </p:sp>
    </p:spTree>
    <p:extLst>
      <p:ext uri="{BB962C8B-B14F-4D97-AF65-F5344CB8AC3E}">
        <p14:creationId xmlns:p14="http://schemas.microsoft.com/office/powerpoint/2010/main" val="379041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FBB23-5A82-05FC-B24C-660C58815015}"/>
              </a:ext>
            </a:extLst>
          </p:cNvPr>
          <p:cNvSpPr txBox="1"/>
          <p:nvPr/>
        </p:nvSpPr>
        <p:spPr>
          <a:xfrm>
            <a:off x="161365" y="1362635"/>
            <a:ext cx="906555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0000"/>
                </a:highlight>
              </a:rPr>
              <a:t>Real-Life Analogy</a:t>
            </a:r>
          </a:p>
          <a:p>
            <a:endParaRPr lang="en-US" b="1" dirty="0"/>
          </a:p>
          <a:p>
            <a:r>
              <a:rPr lang="en-US" dirty="0"/>
              <a:t>Imagine you’re designing a T-shirt 👕: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kids, it should be small.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adults, it should be larger.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the </a:t>
            </a:r>
            <a:r>
              <a:rPr lang="en-US" b="1" dirty="0"/>
              <a:t>design remains the same</a:t>
            </a:r>
            <a:r>
              <a:rPr lang="en-US" dirty="0"/>
              <a:t> — just resized.</a:t>
            </a:r>
          </a:p>
          <a:p>
            <a:endParaRPr lang="en-US" dirty="0"/>
          </a:p>
          <a:p>
            <a:r>
              <a:rPr lang="en-US" dirty="0"/>
              <a:t>That’s exactly what responsive design does for websites.</a:t>
            </a:r>
          </a:p>
        </p:txBody>
      </p:sp>
    </p:spTree>
    <p:extLst>
      <p:ext uri="{BB962C8B-B14F-4D97-AF65-F5344CB8AC3E}">
        <p14:creationId xmlns:p14="http://schemas.microsoft.com/office/powerpoint/2010/main" val="83083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FE881-CDF5-DCB4-E704-D7AC9C986E86}"/>
              </a:ext>
            </a:extLst>
          </p:cNvPr>
          <p:cNvSpPr txBox="1"/>
          <p:nvPr/>
        </p:nvSpPr>
        <p:spPr>
          <a:xfrm>
            <a:off x="98612" y="1299882"/>
            <a:ext cx="912831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FF0000"/>
                </a:highlight>
              </a:rPr>
              <a:t>Benefits of Responsive Design</a:t>
            </a:r>
          </a:p>
          <a:p>
            <a:endParaRPr lang="en-IN" dirty="0"/>
          </a:p>
          <a:p>
            <a:r>
              <a:rPr lang="en-IN" dirty="0"/>
              <a:t>One website works everywhere</a:t>
            </a:r>
            <a:br>
              <a:rPr lang="en-IN" dirty="0"/>
            </a:br>
            <a:endParaRPr lang="en-IN" dirty="0"/>
          </a:p>
          <a:p>
            <a:r>
              <a:rPr lang="en-IN" dirty="0"/>
              <a:t>Better user experience</a:t>
            </a:r>
            <a:br>
              <a:rPr lang="en-IN" dirty="0"/>
            </a:br>
            <a:endParaRPr lang="en-IN" dirty="0"/>
          </a:p>
          <a:p>
            <a:r>
              <a:rPr lang="en-IN" dirty="0"/>
              <a:t>Improved SEO (Google ranks mobile-friendly sites higher)</a:t>
            </a:r>
            <a:br>
              <a:rPr lang="en-IN" dirty="0"/>
            </a:br>
            <a:endParaRPr lang="en-IN" dirty="0"/>
          </a:p>
          <a:p>
            <a:r>
              <a:rPr lang="en-IN" dirty="0"/>
              <a:t>Easier maintenance (no separate mobile site)</a:t>
            </a:r>
            <a:br>
              <a:rPr lang="en-IN" dirty="0"/>
            </a:br>
            <a:endParaRPr lang="en-IN" dirty="0"/>
          </a:p>
          <a:p>
            <a:r>
              <a:rPr lang="en-IN" dirty="0"/>
              <a:t>Faster loading on all devices</a:t>
            </a:r>
          </a:p>
        </p:txBody>
      </p:sp>
    </p:spTree>
    <p:extLst>
      <p:ext uri="{BB962C8B-B14F-4D97-AF65-F5344CB8AC3E}">
        <p14:creationId xmlns:p14="http://schemas.microsoft.com/office/powerpoint/2010/main" val="87026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C9DBF-B8D2-B02D-915A-C8D76E39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1390229"/>
            <a:ext cx="5647763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Common Mistakes to Avoid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fixed widths (like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width: 1000px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Ignoring the viewport meta tag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Designing only for desktop screens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very large images (slows down mobiles)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33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EB8D4-768A-FD76-5EB5-931C7C5B2198}"/>
              </a:ext>
            </a:extLst>
          </p:cNvPr>
          <p:cNvSpPr txBox="1"/>
          <p:nvPr/>
        </p:nvSpPr>
        <p:spPr>
          <a:xfrm>
            <a:off x="197225" y="1291895"/>
            <a:ext cx="66069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&lt;style&gt;</a:t>
            </a:r>
          </a:p>
          <a:p>
            <a:r>
              <a:rPr lang="en-IN" dirty="0"/>
              <a:t>h1 {</a:t>
            </a:r>
          </a:p>
          <a:p>
            <a:r>
              <a:rPr lang="en-IN" dirty="0"/>
              <a:t>  font-size: 6vw; /* </a:t>
            </a:r>
            <a:r>
              <a:rPr lang="en-IN" dirty="0" err="1"/>
              <a:t>vw</a:t>
            </a:r>
            <a:r>
              <a:rPr lang="en-IN" dirty="0"/>
              <a:t> = viewport width (6% of screen width) */</a:t>
            </a:r>
          </a:p>
          <a:p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darkblue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&lt;/style&gt;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&lt;h1&gt;Welcome to </a:t>
            </a:r>
            <a:r>
              <a:rPr lang="en-IN" dirty="0" err="1"/>
              <a:t>Techply</a:t>
            </a:r>
            <a:r>
              <a:rPr lang="en-IN" dirty="0"/>
              <a:t>!&lt;/h1&gt;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AAF478-1BE5-6F40-2708-853C4A998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309" y="3826187"/>
            <a:ext cx="63363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6vw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means the text size changes according to the screen width.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a big desktop, the heading is large.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a phone, it automatically becomes smaller.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vw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vh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text that scales smoothly on any screen.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3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9482A-3C5C-F8B2-2B85-942E1238C8C0}"/>
              </a:ext>
            </a:extLst>
          </p:cNvPr>
          <p:cNvSpPr txBox="1"/>
          <p:nvPr/>
        </p:nvSpPr>
        <p:spPr>
          <a:xfrm>
            <a:off x="78441" y="1052572"/>
            <a:ext cx="630667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&lt;style&gt;</a:t>
            </a:r>
          </a:p>
          <a:p>
            <a:r>
              <a:rPr lang="en-IN" dirty="0" err="1"/>
              <a:t>img</a:t>
            </a:r>
            <a:r>
              <a:rPr lang="en-IN" dirty="0"/>
              <a:t> {</a:t>
            </a:r>
          </a:p>
          <a:p>
            <a:r>
              <a:rPr lang="en-IN" dirty="0"/>
              <a:t>  width: 100%;     /* fills screen width */</a:t>
            </a:r>
          </a:p>
          <a:p>
            <a:r>
              <a:rPr lang="en-IN" dirty="0"/>
              <a:t>  max-width: 500px;/* never exceeds 500px */</a:t>
            </a:r>
          </a:p>
          <a:p>
            <a:r>
              <a:rPr lang="en-IN" dirty="0"/>
              <a:t>  height: auto;    /* keeps image ratio */</a:t>
            </a:r>
          </a:p>
          <a:p>
            <a:r>
              <a:rPr lang="en-IN" dirty="0"/>
              <a:t>  border-radius: 15px;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&lt;/style&gt;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="https://via.placeholder.com/500x300" alt="Nature View"&gt;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0D13962-7BE8-B3DF-B99B-F66DCD466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882" y="4661538"/>
            <a:ext cx="555811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image will resize automatically to fit any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large screens, it’s up to 500px 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mobile, it becomes smaller to fit perfectly.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max-width: 100%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height: auto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responsive images.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38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Fundamentals: </a:t>
            </a:r>
            <a:r>
              <a:rPr lang="en-US" sz="4000" b="1" i="1" dirty="0"/>
              <a:t>Adapting to Any Screen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434AB6-40CA-7320-B750-FA656AFA7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706672"/>
              </p:ext>
            </p:extLst>
          </p:nvPr>
        </p:nvGraphicFramePr>
        <p:xfrm>
          <a:off x="394446" y="1272988"/>
          <a:ext cx="11035554" cy="4930590"/>
        </p:xfrm>
        <a:graphic>
          <a:graphicData uri="http://schemas.openxmlformats.org/drawingml/2006/table">
            <a:tbl>
              <a:tblPr/>
              <a:tblGrid>
                <a:gridCol w="3619636">
                  <a:extLst>
                    <a:ext uri="{9D8B030D-6E8A-4147-A177-3AD203B41FA5}">
                      <a16:colId xmlns:a16="http://schemas.microsoft.com/office/drawing/2014/main" val="1716330873"/>
                    </a:ext>
                  </a:extLst>
                </a:gridCol>
                <a:gridCol w="3707959">
                  <a:extLst>
                    <a:ext uri="{9D8B030D-6E8A-4147-A177-3AD203B41FA5}">
                      <a16:colId xmlns:a16="http://schemas.microsoft.com/office/drawing/2014/main" val="3089641785"/>
                    </a:ext>
                  </a:extLst>
                </a:gridCol>
                <a:gridCol w="3707959">
                  <a:extLst>
                    <a:ext uri="{9D8B030D-6E8A-4147-A177-3AD203B41FA5}">
                      <a16:colId xmlns:a16="http://schemas.microsoft.com/office/drawing/2014/main" val="909082362"/>
                    </a:ext>
                  </a:extLst>
                </a:gridCol>
              </a:tblGrid>
              <a:tr h="821765">
                <a:tc>
                  <a:txBody>
                    <a:bodyPr/>
                    <a:lstStyle/>
                    <a:p>
                      <a:r>
                        <a:rPr lang="en-IN" sz="24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CSS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725552"/>
                  </a:ext>
                </a:extLst>
              </a:tr>
              <a:tr h="821765">
                <a:tc>
                  <a:txBody>
                    <a:bodyPr/>
                    <a:lstStyle/>
                    <a:p>
                      <a:r>
                        <a:rPr lang="en-IN" b="1"/>
                        <a:t>Text Scaling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Adjusts font to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vw, vh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528792"/>
                  </a:ext>
                </a:extLst>
              </a:tr>
              <a:tr h="821765">
                <a:tc>
                  <a:txBody>
                    <a:bodyPr/>
                    <a:lstStyle/>
                    <a:p>
                      <a:r>
                        <a:rPr lang="en-IN" b="1"/>
                        <a:t>Images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Resizes automatically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max-width:100%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045098"/>
                  </a:ext>
                </a:extLst>
              </a:tr>
              <a:tr h="821765">
                <a:tc>
                  <a:txBody>
                    <a:bodyPr/>
                    <a:lstStyle/>
                    <a:p>
                      <a:r>
                        <a:rPr lang="en-IN" b="1"/>
                        <a:t>Flexbox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Auto layout for boxes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display:flex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66382"/>
                  </a:ext>
                </a:extLst>
              </a:tr>
              <a:tr h="821765">
                <a:tc>
                  <a:txBody>
                    <a:bodyPr/>
                    <a:lstStyle/>
                    <a:p>
                      <a:r>
                        <a:rPr lang="en-IN" b="1"/>
                        <a:t>Media Queries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Style for specific screens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@media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589223"/>
                  </a:ext>
                </a:extLst>
              </a:tr>
              <a:tr h="821765">
                <a:tc>
                  <a:txBody>
                    <a:bodyPr/>
                    <a:lstStyle/>
                    <a:p>
                      <a:r>
                        <a:rPr lang="en-IN" b="1"/>
                        <a:t>Menu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Changes layout for 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flex-direction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95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4386</TotalTime>
  <Words>1097</Words>
  <Application>Microsoft Office PowerPoint</Application>
  <PresentationFormat>Widescreen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Unicode MS</vt:lpstr>
      <vt:lpstr>Arial</vt:lpstr>
      <vt:lpstr>Calibri</vt:lpstr>
      <vt:lpstr>Lato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83</cp:revision>
  <dcterms:created xsi:type="dcterms:W3CDTF">2022-08-19T11:01:50Z</dcterms:created>
  <dcterms:modified xsi:type="dcterms:W3CDTF">2025-11-12T11:03:13Z</dcterms:modified>
</cp:coreProperties>
</file>