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380" r:id="rId3"/>
    <p:sldId id="381" r:id="rId4"/>
    <p:sldId id="382" r:id="rId5"/>
    <p:sldId id="383" r:id="rId6"/>
    <p:sldId id="384" r:id="rId7"/>
    <p:sldId id="385" r:id="rId8"/>
    <p:sldId id="386" r:id="rId9"/>
    <p:sldId id="387" r:id="rId10"/>
    <p:sldId id="388" r:id="rId11"/>
    <p:sldId id="389" r:id="rId12"/>
    <p:sldId id="391" r:id="rId13"/>
    <p:sldId id="392" r:id="rId14"/>
    <p:sldId id="393" r:id="rId15"/>
    <p:sldId id="394" r:id="rId16"/>
    <p:sldId id="39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735E31-6AC3-494C-A739-1889808CBF7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F43EA-CD70-4084-ADBF-7EF6357D3D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62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95760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956077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869185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384007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172547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126741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962625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012872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0021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455146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772484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394561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055292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88332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868577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10259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207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52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109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809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467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238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6687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613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3849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9217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135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82C0F-A81B-4B2B-9B0C-842E6D2AD82E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1565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0" y="3116830"/>
            <a:ext cx="10539772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/>
            <a:r>
              <a:rPr lang="fr-FR" sz="6000" b="1" i="0" dirty="0">
                <a:solidFill>
                  <a:srgbClr val="F0F6FC"/>
                </a:solidFill>
                <a:effectLst/>
                <a:latin typeface="-apple-system"/>
              </a:rPr>
              <a:t>Promises, </a:t>
            </a:r>
            <a:r>
              <a:rPr lang="fr-FR" sz="6000" b="1" i="0" dirty="0" err="1">
                <a:solidFill>
                  <a:srgbClr val="F0F6FC"/>
                </a:solidFill>
                <a:effectLst/>
                <a:latin typeface="-apple-system"/>
              </a:rPr>
              <a:t>Async</a:t>
            </a:r>
            <a:r>
              <a:rPr lang="fr-FR" sz="6000" b="1" i="0" dirty="0">
                <a:solidFill>
                  <a:srgbClr val="F0F6FC"/>
                </a:solidFill>
                <a:effectLst/>
                <a:latin typeface="-apple-system"/>
              </a:rPr>
              <a:t> &amp; </a:t>
            </a:r>
            <a:r>
              <a:rPr lang="fr-FR" sz="6000" b="1" i="0" dirty="0" err="1">
                <a:solidFill>
                  <a:srgbClr val="F0F6FC"/>
                </a:solidFill>
                <a:effectLst/>
                <a:latin typeface="-apple-system"/>
              </a:rPr>
              <a:t>Await</a:t>
            </a:r>
            <a:endParaRPr lang="en-IN" sz="6000" b="1" i="0" dirty="0">
              <a:solidFill>
                <a:srgbClr val="F0F6FC"/>
              </a:solidFill>
              <a:effectLst/>
              <a:latin typeface="-apple-system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378996" y="5782489"/>
            <a:ext cx="3781305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dirty="0">
                <a:solidFill>
                  <a:schemeClr val="lt1"/>
                </a:solidFill>
                <a:latin typeface="Quicksand Light"/>
                <a:sym typeface="Quicksand Light"/>
              </a:rPr>
              <a:t>Let’s Start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" name="Google Shape;88;p1"/>
          <p:cNvCxnSpPr/>
          <p:nvPr/>
        </p:nvCxnSpPr>
        <p:spPr>
          <a:xfrm>
            <a:off x="475400" y="5548197"/>
            <a:ext cx="4932623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3" name="Google Shape;93;p1"/>
          <p:cNvSpPr txBox="1"/>
          <p:nvPr/>
        </p:nvSpPr>
        <p:spPr>
          <a:xfrm>
            <a:off x="16704489" y="1076325"/>
            <a:ext cx="554811" cy="284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lang="en-US" sz="2399" b="0" i="0" u="none" strike="noStrike" cap="none">
                <a:solidFill>
                  <a:srgbClr val="F5F5E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1734EB1-D03A-4709-8BEE-BB985F1A0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7063" y="6349290"/>
            <a:ext cx="1976462" cy="50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9697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600635" y="-195627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Synchronous Vs Asynchronous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B95DFC-A14A-1477-5687-E818F1537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54266"/>
            <a:ext cx="9421793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Synchronous= Executes line by line consecutively in a sequential manner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b="1" dirty="0">
                <a:latin typeface="Arial" panose="020B0604020202020204" pitchFamily="34" charset="0"/>
              </a:rPr>
              <a:t>	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b="1" dirty="0">
                <a:latin typeface="Arial" panose="020B0604020202020204" pitchFamily="34" charset="0"/>
              </a:rPr>
              <a:t>		Code that waits for an operation to complete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7701CD-1AA8-A375-529A-BB2FD5472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94650"/>
            <a:ext cx="11919285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ASynchronous</a:t>
            </a:r>
            <a:r>
              <a:rPr kumimoji="0" lang="en-US" altLang="en-US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 Allows multiple operations to be performed concurrently without waiting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		Doesn’t block the execution flow and allow the program to continue.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		(I/O operations, network </a:t>
            </a:r>
            <a:r>
              <a:rPr kumimoji="0" lang="en-US" altLang="en-US" b="1" i="0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requests,fetching</a:t>
            </a:r>
            <a:r>
              <a:rPr kumimoji="0" lang="en-US" altLang="en-US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			Handled with: </a:t>
            </a:r>
            <a:r>
              <a:rPr lang="en-US" altLang="en-US" b="1" dirty="0" err="1">
                <a:latin typeface="Arial" panose="020B0604020202020204" pitchFamily="34" charset="0"/>
              </a:rPr>
              <a:t>Callback,Promises</a:t>
            </a:r>
            <a:r>
              <a:rPr lang="en-US" altLang="en-US" b="1" dirty="0">
                <a:latin typeface="Arial" panose="020B0604020202020204" pitchFamily="34" charset="0"/>
              </a:rPr>
              <a:t>, Async/Await</a:t>
            </a:r>
            <a:endParaRPr kumimoji="0" lang="en-US" altLang="en-US" b="1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8885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Promises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881FA0-9032-0B8B-94C9-917A248E3172}"/>
              </a:ext>
            </a:extLst>
          </p:cNvPr>
          <p:cNvSpPr txBox="1"/>
          <p:nvPr/>
        </p:nvSpPr>
        <p:spPr>
          <a:xfrm>
            <a:off x="125506" y="1524000"/>
            <a:ext cx="897142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Why We Need a System Like Promises</a:t>
            </a:r>
          </a:p>
          <a:p>
            <a:endParaRPr lang="en-US" b="1" dirty="0"/>
          </a:p>
          <a:p>
            <a:r>
              <a:rPr lang="en-US" dirty="0"/>
              <a:t>JavaScript is </a:t>
            </a:r>
            <a:r>
              <a:rPr lang="en-US" b="1" dirty="0"/>
              <a:t>single-threaded</a:t>
            </a:r>
            <a:r>
              <a:rPr lang="en-US" dirty="0"/>
              <a:t> → it does </a:t>
            </a:r>
            <a:r>
              <a:rPr lang="en-US" b="1" dirty="0"/>
              <a:t>one task at a time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dirty="0"/>
              <a:t>But many tasks take time: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Talking to a server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Downloading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Waiting for a timer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Reading a file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These must run </a:t>
            </a:r>
            <a:r>
              <a:rPr lang="en-US" b="1" dirty="0"/>
              <a:t>asynchronously (in the background)</a:t>
            </a:r>
            <a:r>
              <a:rPr lang="en-US" dirty="0"/>
              <a:t> so that the browser doesn’t “freeze”.</a:t>
            </a:r>
          </a:p>
          <a:p>
            <a:endParaRPr lang="en-US" dirty="0"/>
          </a:p>
          <a:p>
            <a:r>
              <a:rPr lang="en-US" dirty="0"/>
              <a:t>Before Promises, JavaScript mainly used </a:t>
            </a:r>
            <a:r>
              <a:rPr lang="en-US" b="1" dirty="0"/>
              <a:t>callbacks</a:t>
            </a:r>
            <a:r>
              <a:rPr lang="en-US" dirty="0"/>
              <a:t> to handle asynchronous work.</a:t>
            </a:r>
          </a:p>
        </p:txBody>
      </p:sp>
    </p:spTree>
    <p:extLst>
      <p:ext uri="{BB962C8B-B14F-4D97-AF65-F5344CB8AC3E}">
        <p14:creationId xmlns:p14="http://schemas.microsoft.com/office/powerpoint/2010/main" val="4222249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3600" b="1" dirty="0" err="1">
                <a:solidFill>
                  <a:schemeClr val="bg1"/>
                </a:solidFill>
              </a:rPr>
              <a:t>Pomises</a:t>
            </a:r>
            <a:endParaRPr lang="en-IN" sz="36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00E66F-9E50-4924-46ED-AB287867E5BC}"/>
              </a:ext>
            </a:extLst>
          </p:cNvPr>
          <p:cNvSpPr txBox="1"/>
          <p:nvPr/>
        </p:nvSpPr>
        <p:spPr>
          <a:xfrm>
            <a:off x="80682" y="1506071"/>
            <a:ext cx="901625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Promise</a:t>
            </a:r>
            <a:r>
              <a:rPr lang="en-US" dirty="0"/>
              <a:t> is like a </a:t>
            </a:r>
            <a:r>
              <a:rPr lang="en-US" b="1" dirty="0"/>
              <a:t>guarantee</a:t>
            </a:r>
            <a:r>
              <a:rPr lang="en-US" dirty="0"/>
              <a:t> that JavaScript gives you for a future result.</a:t>
            </a:r>
          </a:p>
          <a:p>
            <a:endParaRPr lang="en-US" dirty="0"/>
          </a:p>
          <a:p>
            <a:r>
              <a:rPr lang="en-US" b="1" dirty="0"/>
              <a:t>Think of it like ordering food online: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place the order (async task starts).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Your order is now </a:t>
            </a:r>
            <a:r>
              <a:rPr lang="en-US" i="1" dirty="0"/>
              <a:t>pending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food gets delivered → </a:t>
            </a:r>
            <a:r>
              <a:rPr lang="en-US" i="1" dirty="0"/>
              <a:t>fulfilled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delivery fails → </a:t>
            </a:r>
            <a:r>
              <a:rPr lang="en-US" i="1" dirty="0"/>
              <a:t>rejected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You don’t know when it will finish…</a:t>
            </a:r>
            <a:br>
              <a:rPr lang="en-US" dirty="0"/>
            </a:br>
            <a:endParaRPr lang="en-US" dirty="0"/>
          </a:p>
          <a:p>
            <a:r>
              <a:rPr lang="en-US" dirty="0"/>
              <a:t>But you </a:t>
            </a:r>
            <a:r>
              <a:rPr lang="en-US" i="1" dirty="0"/>
              <a:t>know</a:t>
            </a:r>
            <a:r>
              <a:rPr lang="en-US" dirty="0"/>
              <a:t> it </a:t>
            </a:r>
            <a:r>
              <a:rPr lang="en-US" b="1" dirty="0"/>
              <a:t>will either succeed or fail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A JavaScript Promise works the same way.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758B3B-FF67-57F3-FA26-8F19BE91149B}"/>
              </a:ext>
            </a:extLst>
          </p:cNvPr>
          <p:cNvSpPr txBox="1"/>
          <p:nvPr/>
        </p:nvSpPr>
        <p:spPr>
          <a:xfrm>
            <a:off x="5497606" y="4407530"/>
            <a:ext cx="61901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Promise represents </a:t>
            </a:r>
            <a:r>
              <a:rPr lang="en-US" b="1" dirty="0"/>
              <a:t>a task that will finish later</a:t>
            </a:r>
            <a:br>
              <a:rPr lang="en-US" dirty="0"/>
            </a:br>
            <a:r>
              <a:rPr lang="en-US" dirty="0"/>
              <a:t>(not immediately), and:</a:t>
            </a:r>
          </a:p>
          <a:p>
            <a:r>
              <a:rPr lang="en-US" dirty="0"/>
              <a:t>✔ It may succeed → gives you the result</a:t>
            </a:r>
            <a:br>
              <a:rPr lang="en-US" dirty="0"/>
            </a:br>
            <a:r>
              <a:rPr lang="en-US" dirty="0"/>
              <a:t>✔ It may fail → gives you an error</a:t>
            </a:r>
          </a:p>
          <a:p>
            <a:r>
              <a:rPr lang="en-US" dirty="0"/>
              <a:t>JavaScript Promises help you write code that runs </a:t>
            </a:r>
            <a:r>
              <a:rPr lang="en-US" b="1" dirty="0"/>
              <a:t>after</a:t>
            </a:r>
            <a:r>
              <a:rPr lang="en-US" dirty="0"/>
              <a:t> the async work is done.</a:t>
            </a:r>
          </a:p>
        </p:txBody>
      </p:sp>
    </p:spTree>
    <p:extLst>
      <p:ext uri="{BB962C8B-B14F-4D97-AF65-F5344CB8AC3E}">
        <p14:creationId xmlns:p14="http://schemas.microsoft.com/office/powerpoint/2010/main" val="1445917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3600" b="1" dirty="0" err="1">
                <a:solidFill>
                  <a:schemeClr val="bg1"/>
                </a:solidFill>
              </a:rPr>
              <a:t>Pomises</a:t>
            </a:r>
            <a:endParaRPr lang="en-IN" sz="36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004C2B-14AE-183D-4F59-A4B7DF36ABD1}"/>
              </a:ext>
            </a:extLst>
          </p:cNvPr>
          <p:cNvSpPr txBox="1"/>
          <p:nvPr/>
        </p:nvSpPr>
        <p:spPr>
          <a:xfrm>
            <a:off x="0" y="1496216"/>
            <a:ext cx="6190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The Three States of a Promise</a:t>
            </a:r>
            <a:endParaRPr lang="en-IN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C173B1B-239F-24A3-69A7-F72088A1DD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651325"/>
              </p:ext>
            </p:extLst>
          </p:nvPr>
        </p:nvGraphicFramePr>
        <p:xfrm>
          <a:off x="838200" y="2232212"/>
          <a:ext cx="10515600" cy="2500604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06734376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130226085"/>
                    </a:ext>
                  </a:extLst>
                </a:gridCol>
              </a:tblGrid>
              <a:tr h="625151">
                <a:tc>
                  <a:txBody>
                    <a:bodyPr/>
                    <a:lstStyle/>
                    <a:p>
                      <a:r>
                        <a:rPr lang="en-IN"/>
                        <a:t>State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5041378"/>
                  </a:ext>
                </a:extLst>
              </a:tr>
              <a:tr h="625151">
                <a:tc>
                  <a:txBody>
                    <a:bodyPr/>
                    <a:lstStyle/>
                    <a:p>
                      <a:r>
                        <a:rPr lang="en-IN" b="1"/>
                        <a:t>pending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Async task is still running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402434"/>
                  </a:ext>
                </a:extLst>
              </a:tr>
              <a:tr h="625151">
                <a:tc>
                  <a:txBody>
                    <a:bodyPr/>
                    <a:lstStyle/>
                    <a:p>
                      <a:r>
                        <a:rPr lang="en-IN" b="1"/>
                        <a:t>fulfilled (resolved)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Task completed successfully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9481585"/>
                  </a:ext>
                </a:extLst>
              </a:tr>
              <a:tr h="625151">
                <a:tc>
                  <a:txBody>
                    <a:bodyPr/>
                    <a:lstStyle/>
                    <a:p>
                      <a:r>
                        <a:rPr lang="en-IN" b="1"/>
                        <a:t>rejected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Task failed (error happened)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56002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832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3600" b="1" dirty="0" err="1">
                <a:solidFill>
                  <a:schemeClr val="bg1"/>
                </a:solidFill>
              </a:rPr>
              <a:t>Pomises</a:t>
            </a:r>
            <a:endParaRPr lang="en-IN" sz="36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6C784D-3C11-C21D-16AB-246BB06C9B40}"/>
              </a:ext>
            </a:extLst>
          </p:cNvPr>
          <p:cNvSpPr txBox="1"/>
          <p:nvPr/>
        </p:nvSpPr>
        <p:spPr>
          <a:xfrm>
            <a:off x="1010651" y="1684239"/>
            <a:ext cx="984985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Promise</a:t>
            </a:r>
            <a:r>
              <a:rPr lang="en-US" sz="2400" b="1" dirty="0"/>
              <a:t>  </a:t>
            </a:r>
            <a:r>
              <a:rPr lang="en-US" sz="2000" b="1" dirty="0"/>
              <a:t>   		An Object that manages Asynchronous operations.</a:t>
            </a:r>
          </a:p>
          <a:p>
            <a:r>
              <a:rPr lang="en-US" sz="2000" b="1" dirty="0"/>
              <a:t>	  		</a:t>
            </a:r>
          </a:p>
          <a:p>
            <a:r>
              <a:rPr lang="en-US" sz="2000" b="1" dirty="0"/>
              <a:t>			Wrap a promise object around {Asynchronous Code}</a:t>
            </a:r>
          </a:p>
          <a:p>
            <a:r>
              <a:rPr lang="en-US" sz="2000" b="1" dirty="0"/>
              <a:t>	 		</a:t>
            </a:r>
          </a:p>
          <a:p>
            <a:r>
              <a:rPr lang="en-US" sz="2000" b="1" dirty="0"/>
              <a:t>			“ I promise to return a value “</a:t>
            </a:r>
          </a:p>
          <a:p>
            <a:r>
              <a:rPr lang="en-US" sz="2000" b="1" dirty="0"/>
              <a:t>	 		</a:t>
            </a:r>
          </a:p>
          <a:p>
            <a:r>
              <a:rPr lang="en-US" sz="2000" b="1" dirty="0"/>
              <a:t>			Pending-&gt; RESOLVED or REJECTED</a:t>
            </a:r>
          </a:p>
          <a:p>
            <a:r>
              <a:rPr lang="en-US" sz="2000" b="1" dirty="0"/>
              <a:t>			</a:t>
            </a:r>
          </a:p>
          <a:p>
            <a:r>
              <a:rPr lang="en-US" sz="2000" b="1" dirty="0"/>
              <a:t>			new Promise(</a:t>
            </a:r>
            <a:r>
              <a:rPr lang="en-US" sz="2000" b="1" dirty="0" err="1"/>
              <a:t>resolve,reject</a:t>
            </a:r>
            <a:r>
              <a:rPr lang="en-US" sz="2000" b="1" dirty="0"/>
              <a:t>)=&gt;{Asynchronous code}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580828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3600" b="1" dirty="0" err="1">
                <a:solidFill>
                  <a:schemeClr val="bg1"/>
                </a:solidFill>
              </a:rPr>
              <a:t>Pomises</a:t>
            </a:r>
            <a:endParaRPr lang="en-IN" sz="36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0752FC-BD0E-57B2-006D-EE8397E7E0E3}"/>
              </a:ext>
            </a:extLst>
          </p:cNvPr>
          <p:cNvSpPr txBox="1"/>
          <p:nvPr/>
        </p:nvSpPr>
        <p:spPr>
          <a:xfrm>
            <a:off x="136712" y="1487252"/>
            <a:ext cx="6190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Creating a Basic Promise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694402-A876-61E6-3F77-3A43848AAAA0}"/>
              </a:ext>
            </a:extLst>
          </p:cNvPr>
          <p:cNvSpPr txBox="1"/>
          <p:nvPr/>
        </p:nvSpPr>
        <p:spPr>
          <a:xfrm>
            <a:off x="708212" y="2106707"/>
            <a:ext cx="838872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let </a:t>
            </a:r>
            <a:r>
              <a:rPr lang="en-IN" dirty="0" err="1"/>
              <a:t>myPromise</a:t>
            </a:r>
            <a:r>
              <a:rPr lang="en-IN" dirty="0"/>
              <a:t> = new Promise(function(resolve, reject){</a:t>
            </a:r>
          </a:p>
          <a:p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setTimeout</a:t>
            </a:r>
            <a:r>
              <a:rPr lang="en-IN" dirty="0"/>
              <a:t>(() =&gt; {</a:t>
            </a:r>
          </a:p>
          <a:p>
            <a:r>
              <a:rPr lang="en-IN" dirty="0"/>
              <a:t>        resolve("Task completed!");</a:t>
            </a:r>
          </a:p>
          <a:p>
            <a:r>
              <a:rPr lang="en-IN" dirty="0"/>
              <a:t>    }, 2000);</a:t>
            </a:r>
          </a:p>
          <a:p>
            <a:endParaRPr lang="en-IN" dirty="0"/>
          </a:p>
          <a:p>
            <a:r>
              <a:rPr lang="en-IN" dirty="0"/>
              <a:t>});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3DF63287-525C-7694-D484-55A700DBF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6494" y="1345171"/>
            <a:ext cx="475277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new Promise()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creates a promise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resolve()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call this when the task is successful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reject()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call this when the task fails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setTimeout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simulates a 2-second delay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Promise is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pending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2 seconds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Then it becomes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fulfilled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the message: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B5B361-12EF-6CE0-5F35-6B0748A0A5D7}"/>
              </a:ext>
            </a:extLst>
          </p:cNvPr>
          <p:cNvSpPr txBox="1"/>
          <p:nvPr/>
        </p:nvSpPr>
        <p:spPr>
          <a:xfrm>
            <a:off x="8182914" y="4203489"/>
            <a:ext cx="26199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"Task completed!"</a:t>
            </a:r>
          </a:p>
        </p:txBody>
      </p:sp>
    </p:spTree>
    <p:extLst>
      <p:ext uri="{BB962C8B-B14F-4D97-AF65-F5344CB8AC3E}">
        <p14:creationId xmlns:p14="http://schemas.microsoft.com/office/powerpoint/2010/main" val="3690560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3600" b="1" dirty="0" err="1">
                <a:solidFill>
                  <a:schemeClr val="bg1"/>
                </a:solidFill>
              </a:rPr>
              <a:t>Pomises</a:t>
            </a:r>
            <a:endParaRPr lang="en-IN" sz="3600" b="1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FD6EB4-77E0-7D05-8808-30369D71FB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612" y="1621722"/>
            <a:ext cx="512832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.then()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runs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 when the Promise succeeds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E621DF-FA3F-5652-A6AE-7E302EC51CEB}"/>
              </a:ext>
            </a:extLst>
          </p:cNvPr>
          <p:cNvSpPr txBox="1"/>
          <p:nvPr/>
        </p:nvSpPr>
        <p:spPr>
          <a:xfrm>
            <a:off x="2521324" y="2267605"/>
            <a:ext cx="61901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myPromise.then</a:t>
            </a:r>
            <a:r>
              <a:rPr lang="en-IN" dirty="0"/>
              <a:t>(function(result){</a:t>
            </a:r>
          </a:p>
          <a:p>
            <a:r>
              <a:rPr lang="en-IN" dirty="0"/>
              <a:t>    console.log(result);</a:t>
            </a:r>
          </a:p>
          <a:p>
            <a:r>
              <a:rPr lang="en-IN" dirty="0"/>
              <a:t>});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C5C907-C3F5-A74D-D794-07B942762DEB}"/>
              </a:ext>
            </a:extLst>
          </p:cNvPr>
          <p:cNvSpPr txBox="1"/>
          <p:nvPr/>
        </p:nvSpPr>
        <p:spPr>
          <a:xfrm>
            <a:off x="6241677" y="3190935"/>
            <a:ext cx="6190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Task completed!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6C12CF-9B28-9D47-6117-B7EF20698DE3}"/>
              </a:ext>
            </a:extLst>
          </p:cNvPr>
          <p:cNvSpPr txBox="1"/>
          <p:nvPr/>
        </p:nvSpPr>
        <p:spPr>
          <a:xfrm>
            <a:off x="6120653" y="2359938"/>
            <a:ext cx="6311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Output after 2 seconds: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6E8BF3DD-510D-4358-E50F-AADD61014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612" y="3836370"/>
            <a:ext cx="684950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Whatever value you pass into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resolve(...)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received inside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.then()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216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3600" b="1" dirty="0" err="1">
                <a:solidFill>
                  <a:schemeClr val="bg1"/>
                </a:solidFill>
              </a:rPr>
              <a:t>Pomises</a:t>
            </a:r>
            <a:endParaRPr lang="en-IN" sz="3600" b="1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DD9873-1B5B-CA48-C612-6163366CB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541" y="1389548"/>
            <a:ext cx="345318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if something goes wrong?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 Promise using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reject()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C19783-6692-966A-A064-097824ED0478}"/>
              </a:ext>
            </a:extLst>
          </p:cNvPr>
          <p:cNvSpPr txBox="1"/>
          <p:nvPr/>
        </p:nvSpPr>
        <p:spPr>
          <a:xfrm>
            <a:off x="2646830" y="2468512"/>
            <a:ext cx="61901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let </a:t>
            </a:r>
            <a:r>
              <a:rPr lang="en-IN" dirty="0" err="1"/>
              <a:t>myPromise</a:t>
            </a:r>
            <a:r>
              <a:rPr lang="en-IN" dirty="0"/>
              <a:t> = new Promise(function(resolve, reject){</a:t>
            </a:r>
          </a:p>
          <a:p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setTimeout</a:t>
            </a:r>
            <a:r>
              <a:rPr lang="en-IN" dirty="0"/>
              <a:t>(() =&gt; {</a:t>
            </a:r>
          </a:p>
          <a:p>
            <a:r>
              <a:rPr lang="en-IN" dirty="0"/>
              <a:t>        reject("Something went wrong!");</a:t>
            </a:r>
          </a:p>
          <a:p>
            <a:r>
              <a:rPr lang="en-IN" dirty="0"/>
              <a:t>    }, 2000);</a:t>
            </a:r>
          </a:p>
          <a:p>
            <a:endParaRPr lang="en-IN" dirty="0"/>
          </a:p>
          <a:p>
            <a:r>
              <a:rPr lang="en-IN" dirty="0"/>
              <a:t>});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BA2D08-BD04-4594-751E-7E5F4E1A421F}"/>
              </a:ext>
            </a:extLst>
          </p:cNvPr>
          <p:cNvSpPr txBox="1"/>
          <p:nvPr/>
        </p:nvSpPr>
        <p:spPr>
          <a:xfrm>
            <a:off x="181535" y="4499837"/>
            <a:ext cx="6190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Handling the error: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6091D3-70D4-A428-5AB1-355083280B33}"/>
              </a:ext>
            </a:extLst>
          </p:cNvPr>
          <p:cNvSpPr txBox="1"/>
          <p:nvPr/>
        </p:nvSpPr>
        <p:spPr>
          <a:xfrm>
            <a:off x="2180665" y="5161513"/>
            <a:ext cx="40587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myPromise.catch</a:t>
            </a:r>
            <a:r>
              <a:rPr lang="en-IN" dirty="0"/>
              <a:t>(function(error){</a:t>
            </a:r>
          </a:p>
          <a:p>
            <a:r>
              <a:rPr lang="en-IN" dirty="0"/>
              <a:t>    console.log(error);</a:t>
            </a:r>
          </a:p>
          <a:p>
            <a:r>
              <a:rPr lang="en-IN" dirty="0"/>
              <a:t>});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722CCA-436C-81EA-F6DD-6B6EB9AC857B}"/>
              </a:ext>
            </a:extLst>
          </p:cNvPr>
          <p:cNvSpPr txBox="1"/>
          <p:nvPr/>
        </p:nvSpPr>
        <p:spPr>
          <a:xfrm>
            <a:off x="6555441" y="4194593"/>
            <a:ext cx="29897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Output after 2 seconds: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698255-648C-511D-6B99-9FBBE0CBDAEF}"/>
              </a:ext>
            </a:extLst>
          </p:cNvPr>
          <p:cNvSpPr txBox="1"/>
          <p:nvPr/>
        </p:nvSpPr>
        <p:spPr>
          <a:xfrm>
            <a:off x="7048500" y="4976847"/>
            <a:ext cx="3216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Something went wrong!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B3E5A2DA-1510-96EB-38C1-00F0F1DB6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911" y="6410584"/>
            <a:ext cx="46355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.catch()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ONLY runs if the Promise is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rejected. </a:t>
            </a:r>
          </a:p>
        </p:txBody>
      </p:sp>
    </p:spTree>
    <p:extLst>
      <p:ext uri="{BB962C8B-B14F-4D97-AF65-F5344CB8AC3E}">
        <p14:creationId xmlns:p14="http://schemas.microsoft.com/office/powerpoint/2010/main" val="3853001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3600" b="1" dirty="0" err="1">
                <a:solidFill>
                  <a:schemeClr val="bg1"/>
                </a:solidFill>
              </a:rPr>
              <a:t>Pomises</a:t>
            </a:r>
            <a:endParaRPr lang="en-IN" sz="3600" b="1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3C346B-5BB4-B517-6F90-CE62C08F5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434" y="1607422"/>
            <a:ext cx="606448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.finally()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runs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whether the Promise succeeded or failed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is useful for cleanup work: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closing a loading animation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stopping a spinner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cleaning temporary memory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showing "Task finished" message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70E0B8-43FF-046E-B1D3-C1AFE28CA8C4}"/>
              </a:ext>
            </a:extLst>
          </p:cNvPr>
          <p:cNvSpPr txBox="1"/>
          <p:nvPr/>
        </p:nvSpPr>
        <p:spPr>
          <a:xfrm>
            <a:off x="6331323" y="1582340"/>
            <a:ext cx="619012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let </a:t>
            </a:r>
            <a:r>
              <a:rPr lang="en-IN" b="1" dirty="0" err="1"/>
              <a:t>myPromise</a:t>
            </a:r>
            <a:r>
              <a:rPr lang="en-IN" b="1" dirty="0"/>
              <a:t> = new Promise(function(resolve, reject){</a:t>
            </a:r>
          </a:p>
          <a:p>
            <a:endParaRPr lang="en-IN" b="1" dirty="0"/>
          </a:p>
          <a:p>
            <a:r>
              <a:rPr lang="en-IN" b="1" dirty="0"/>
              <a:t>    </a:t>
            </a:r>
            <a:r>
              <a:rPr lang="en-IN" b="1" dirty="0" err="1"/>
              <a:t>setTimeout</a:t>
            </a:r>
            <a:r>
              <a:rPr lang="en-IN" b="1" dirty="0"/>
              <a:t>(() =&gt; {</a:t>
            </a:r>
          </a:p>
          <a:p>
            <a:r>
              <a:rPr lang="en-IN" b="1" dirty="0"/>
              <a:t>        resolve("Success!");</a:t>
            </a:r>
          </a:p>
          <a:p>
            <a:r>
              <a:rPr lang="en-IN" b="1" dirty="0"/>
              <a:t>        // or reject("Failed!")</a:t>
            </a:r>
          </a:p>
          <a:p>
            <a:r>
              <a:rPr lang="en-IN" b="1" dirty="0"/>
              <a:t>    }, 2000);</a:t>
            </a:r>
          </a:p>
          <a:p>
            <a:endParaRPr lang="en-IN" b="1" dirty="0"/>
          </a:p>
          <a:p>
            <a:r>
              <a:rPr lang="en-IN" b="1" dirty="0"/>
              <a:t>});</a:t>
            </a:r>
          </a:p>
          <a:p>
            <a:endParaRPr lang="en-IN" b="1" dirty="0"/>
          </a:p>
          <a:p>
            <a:r>
              <a:rPr lang="en-IN" b="1" dirty="0" err="1"/>
              <a:t>myPromise</a:t>
            </a:r>
            <a:endParaRPr lang="en-IN" b="1" dirty="0"/>
          </a:p>
          <a:p>
            <a:r>
              <a:rPr lang="en-IN" b="1" dirty="0"/>
              <a:t>  .then(result =&gt; console.log(result))</a:t>
            </a:r>
          </a:p>
          <a:p>
            <a:r>
              <a:rPr lang="en-IN" b="1" dirty="0"/>
              <a:t>  .catch(error =&gt; console.log(error))</a:t>
            </a:r>
          </a:p>
          <a:p>
            <a:r>
              <a:rPr lang="en-IN" b="1" dirty="0"/>
              <a:t>  .finally(() =&gt; console.log("Task finished (success or fail)."));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64FB43-11C2-EA1B-AA52-66E62467241F}"/>
              </a:ext>
            </a:extLst>
          </p:cNvPr>
          <p:cNvSpPr txBox="1"/>
          <p:nvPr/>
        </p:nvSpPr>
        <p:spPr>
          <a:xfrm>
            <a:off x="253254" y="4746742"/>
            <a:ext cx="36732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Success!</a:t>
            </a:r>
          </a:p>
          <a:p>
            <a:r>
              <a:rPr lang="en-IN" b="1" dirty="0"/>
              <a:t>Task finished (success or fail).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BB72A5-7A82-DB5A-59BD-44FCE0FD38FB}"/>
              </a:ext>
            </a:extLst>
          </p:cNvPr>
          <p:cNvSpPr txBox="1"/>
          <p:nvPr/>
        </p:nvSpPr>
        <p:spPr>
          <a:xfrm>
            <a:off x="253254" y="5485406"/>
            <a:ext cx="3180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If rejected, output would be:</a:t>
            </a:r>
            <a:endParaRPr lang="en-IN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BA53F7-5679-8A4A-042D-3903CE3EC5F6}"/>
              </a:ext>
            </a:extLst>
          </p:cNvPr>
          <p:cNvSpPr txBox="1"/>
          <p:nvPr/>
        </p:nvSpPr>
        <p:spPr>
          <a:xfrm>
            <a:off x="253254" y="5854738"/>
            <a:ext cx="33684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Failed!</a:t>
            </a:r>
          </a:p>
          <a:p>
            <a:r>
              <a:rPr lang="en-IN" b="1" dirty="0"/>
              <a:t>Task finished (success or fail).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D6C84723-679C-C420-0DD2-F1D1656B7F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1" y="5898671"/>
            <a:ext cx="401781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.finally()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always runs — no matter what. </a:t>
            </a:r>
            <a:endParaRPr kumimoji="0" lang="en-US" altLang="en-US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2964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616968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3600" b="1" dirty="0" err="1">
                <a:solidFill>
                  <a:schemeClr val="bg1"/>
                </a:solidFill>
              </a:rPr>
              <a:t>Pomises</a:t>
            </a:r>
            <a:endParaRPr lang="en-IN" sz="36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362B0B-DB8D-2AE8-D3F2-E01F80618512}"/>
              </a:ext>
            </a:extLst>
          </p:cNvPr>
          <p:cNvSpPr txBox="1"/>
          <p:nvPr/>
        </p:nvSpPr>
        <p:spPr>
          <a:xfrm>
            <a:off x="116542" y="671568"/>
            <a:ext cx="8478369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function </a:t>
            </a:r>
            <a:r>
              <a:rPr lang="en-IN" dirty="0" err="1"/>
              <a:t>doAsyncTask</a:t>
            </a:r>
            <a:r>
              <a:rPr lang="en-IN" dirty="0"/>
              <a:t>() {</a:t>
            </a:r>
          </a:p>
          <a:p>
            <a:r>
              <a:rPr lang="en-IN" dirty="0"/>
              <a:t>  return new Promise(function(resolve, reject) {</a:t>
            </a:r>
          </a:p>
          <a:p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setTimeout</a:t>
            </a:r>
            <a:r>
              <a:rPr lang="en-IN" dirty="0"/>
              <a:t>(() =&gt; {</a:t>
            </a:r>
          </a:p>
          <a:p>
            <a:r>
              <a:rPr lang="en-IN" dirty="0"/>
              <a:t>      let success = true;     // change to false to see rejection</a:t>
            </a:r>
          </a:p>
          <a:p>
            <a:endParaRPr lang="en-IN" dirty="0"/>
          </a:p>
          <a:p>
            <a:r>
              <a:rPr lang="en-IN" dirty="0"/>
              <a:t>      if (success) {</a:t>
            </a:r>
          </a:p>
          <a:p>
            <a:r>
              <a:rPr lang="en-IN" dirty="0"/>
              <a:t>        resolve("Data loaded successfully!");</a:t>
            </a:r>
          </a:p>
          <a:p>
            <a:r>
              <a:rPr lang="en-IN" dirty="0"/>
              <a:t>      } else {</a:t>
            </a:r>
          </a:p>
          <a:p>
            <a:r>
              <a:rPr lang="en-IN" dirty="0"/>
              <a:t>        reject("Error loading data!");</a:t>
            </a:r>
          </a:p>
          <a:p>
            <a:r>
              <a:rPr lang="en-IN" dirty="0"/>
              <a:t>      }</a:t>
            </a:r>
          </a:p>
          <a:p>
            <a:endParaRPr lang="en-IN" dirty="0"/>
          </a:p>
          <a:p>
            <a:r>
              <a:rPr lang="en-IN" dirty="0"/>
              <a:t>    }, 2000);</a:t>
            </a:r>
          </a:p>
          <a:p>
            <a:endParaRPr lang="en-IN" dirty="0"/>
          </a:p>
          <a:p>
            <a:r>
              <a:rPr lang="en-IN" dirty="0"/>
              <a:t>  });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 err="1"/>
              <a:t>doAsyncTask</a:t>
            </a:r>
            <a:r>
              <a:rPr lang="en-IN" dirty="0"/>
              <a:t>()</a:t>
            </a:r>
          </a:p>
          <a:p>
            <a:r>
              <a:rPr lang="en-IN" dirty="0"/>
              <a:t>  .then(</a:t>
            </a:r>
            <a:r>
              <a:rPr lang="en-IN" dirty="0" err="1"/>
              <a:t>msg</a:t>
            </a:r>
            <a:r>
              <a:rPr lang="en-IN" dirty="0"/>
              <a:t> =&gt; console.log(</a:t>
            </a:r>
            <a:r>
              <a:rPr lang="en-IN" dirty="0" err="1"/>
              <a:t>msg</a:t>
            </a:r>
            <a:r>
              <a:rPr lang="en-IN" dirty="0"/>
              <a:t>))        // success handler</a:t>
            </a:r>
          </a:p>
          <a:p>
            <a:r>
              <a:rPr lang="en-IN" dirty="0"/>
              <a:t>  .catch(err =&gt; console.log(err))       // error handler</a:t>
            </a:r>
          </a:p>
          <a:p>
            <a:r>
              <a:rPr lang="en-IN" dirty="0"/>
              <a:t>  .finally(() =&gt; console.log("Done"));  // cleanup</a:t>
            </a:r>
          </a:p>
        </p:txBody>
      </p:sp>
    </p:spTree>
    <p:extLst>
      <p:ext uri="{BB962C8B-B14F-4D97-AF65-F5344CB8AC3E}">
        <p14:creationId xmlns:p14="http://schemas.microsoft.com/office/powerpoint/2010/main" val="3726482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3600" b="1" dirty="0" err="1">
                <a:solidFill>
                  <a:schemeClr val="bg1"/>
                </a:solidFill>
              </a:rPr>
              <a:t>Pomises</a:t>
            </a:r>
            <a:endParaRPr lang="en-IN" sz="3600" b="1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0C629F-A63B-3A58-DC56-863317DC1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53" y="1685439"/>
            <a:ext cx="4785284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Promise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a future result (like food delivery)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pending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still preparing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fulfilled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delivered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rejected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delivery failed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then()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what to do when food arrives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catch()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what to do if order fails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finally()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clean the table, no matter what</a:t>
            </a:r>
          </a:p>
        </p:txBody>
      </p:sp>
    </p:spTree>
    <p:extLst>
      <p:ext uri="{BB962C8B-B14F-4D97-AF65-F5344CB8AC3E}">
        <p14:creationId xmlns:p14="http://schemas.microsoft.com/office/powerpoint/2010/main" val="3702520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Async–await</a:t>
            </a:r>
            <a:endParaRPr lang="en-IN" sz="36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50F9D5-0E4C-BD3E-A8FC-17F20AA54C48}"/>
              </a:ext>
            </a:extLst>
          </p:cNvPr>
          <p:cNvSpPr txBox="1"/>
          <p:nvPr/>
        </p:nvSpPr>
        <p:spPr>
          <a:xfrm>
            <a:off x="0" y="1559859"/>
            <a:ext cx="90969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Async–await is a modern way of writing asynchronous code in JavaScript that looks </a:t>
            </a:r>
            <a:r>
              <a:rPr lang="en-US" b="1" dirty="0"/>
              <a:t>clean</a:t>
            </a:r>
            <a:r>
              <a:rPr lang="en-US" dirty="0"/>
              <a:t>, </a:t>
            </a:r>
            <a:r>
              <a:rPr lang="en-US" b="1" dirty="0"/>
              <a:t>simple</a:t>
            </a:r>
            <a:r>
              <a:rPr lang="en-US" dirty="0"/>
              <a:t>, and </a:t>
            </a:r>
            <a:r>
              <a:rPr lang="en-US" b="1" dirty="0"/>
              <a:t>easy to read</a:t>
            </a:r>
            <a:r>
              <a:rPr lang="en-US" dirty="0"/>
              <a:t>, just like normal step-by-step instructions.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E4A9FE-7EA3-25B0-A12E-AB4E2115BBC5}"/>
              </a:ext>
            </a:extLst>
          </p:cNvPr>
          <p:cNvSpPr txBox="1"/>
          <p:nvPr/>
        </p:nvSpPr>
        <p:spPr>
          <a:xfrm>
            <a:off x="172571" y="2831957"/>
            <a:ext cx="6190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Without async–await (Promise chaining)</a:t>
            </a:r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A016C7-EB5E-2DD6-3DF3-B9B7DA1D0226}"/>
              </a:ext>
            </a:extLst>
          </p:cNvPr>
          <p:cNvSpPr txBox="1"/>
          <p:nvPr/>
        </p:nvSpPr>
        <p:spPr>
          <a:xfrm>
            <a:off x="1337982" y="3656712"/>
            <a:ext cx="61901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doTask</a:t>
            </a:r>
            <a:r>
              <a:rPr lang="en-IN" dirty="0"/>
              <a:t>()</a:t>
            </a:r>
          </a:p>
          <a:p>
            <a:r>
              <a:rPr lang="en-IN" dirty="0"/>
              <a:t>  .then(result =&gt; </a:t>
            </a:r>
            <a:r>
              <a:rPr lang="en-IN" dirty="0" err="1"/>
              <a:t>doNext</a:t>
            </a:r>
            <a:r>
              <a:rPr lang="en-IN" dirty="0"/>
              <a:t>(result))</a:t>
            </a:r>
          </a:p>
          <a:p>
            <a:r>
              <a:rPr lang="en-IN" dirty="0"/>
              <a:t>  .then(final =&gt; console.log(final))</a:t>
            </a:r>
          </a:p>
          <a:p>
            <a:r>
              <a:rPr lang="en-IN" dirty="0"/>
              <a:t>  .catch(err =&gt; console.log(err));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F6EF451-32D9-023A-0A1F-32DA39B3B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906" y="4900547"/>
            <a:ext cx="581809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works…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rial" panose="020B0604020202020204" pitchFamily="34" charset="0"/>
              </a:rPr>
              <a:t>But reading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rial Unicode MS" panose="020B0604020202020204" pitchFamily="34" charset="-128"/>
              </a:rPr>
              <a:t>.then().then().then()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</a:rPr>
              <a:t> becomes confusing.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0000"/>
              </a:highligh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1293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Async–await</a:t>
            </a:r>
            <a:endParaRPr lang="en-IN" sz="36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4C5DC3-3DD9-4203-B14B-A1E10A8219F2}"/>
              </a:ext>
            </a:extLst>
          </p:cNvPr>
          <p:cNvSpPr txBox="1"/>
          <p:nvPr/>
        </p:nvSpPr>
        <p:spPr>
          <a:xfrm>
            <a:off x="253254" y="1657580"/>
            <a:ext cx="6190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With async–await (much cleaner)</a:t>
            </a: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A9AB06-9922-2911-1767-0720EF827980}"/>
              </a:ext>
            </a:extLst>
          </p:cNvPr>
          <p:cNvSpPr txBox="1"/>
          <p:nvPr/>
        </p:nvSpPr>
        <p:spPr>
          <a:xfrm>
            <a:off x="2404782" y="2485962"/>
            <a:ext cx="619012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async function run() {</a:t>
            </a:r>
          </a:p>
          <a:p>
            <a:r>
              <a:rPr lang="en-IN" dirty="0"/>
              <a:t>  try {</a:t>
            </a:r>
          </a:p>
          <a:p>
            <a:r>
              <a:rPr lang="en-IN" dirty="0"/>
              <a:t>    let result = await </a:t>
            </a:r>
            <a:r>
              <a:rPr lang="en-IN" dirty="0" err="1"/>
              <a:t>doTask</a:t>
            </a:r>
            <a:r>
              <a:rPr lang="en-IN" dirty="0"/>
              <a:t>();</a:t>
            </a:r>
          </a:p>
          <a:p>
            <a:r>
              <a:rPr lang="en-IN" dirty="0"/>
              <a:t>    let final = await </a:t>
            </a:r>
            <a:r>
              <a:rPr lang="en-IN" dirty="0" err="1"/>
              <a:t>doNext</a:t>
            </a:r>
            <a:r>
              <a:rPr lang="en-IN" dirty="0"/>
              <a:t>(result);</a:t>
            </a:r>
          </a:p>
          <a:p>
            <a:r>
              <a:rPr lang="en-IN" dirty="0"/>
              <a:t>    console.log(final);</a:t>
            </a:r>
          </a:p>
          <a:p>
            <a:r>
              <a:rPr lang="en-IN" dirty="0"/>
              <a:t>  } catch (error) {</a:t>
            </a:r>
          </a:p>
          <a:p>
            <a:r>
              <a:rPr lang="en-IN" dirty="0"/>
              <a:t>    console.log(error);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97874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Async–await</a:t>
            </a:r>
            <a:endParaRPr lang="en-IN" sz="36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F791B7-9664-05D1-99C8-1F2CD9003F44}"/>
              </a:ext>
            </a:extLst>
          </p:cNvPr>
          <p:cNvSpPr txBox="1"/>
          <p:nvPr/>
        </p:nvSpPr>
        <p:spPr>
          <a:xfrm>
            <a:off x="376518" y="1590504"/>
            <a:ext cx="529814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function step1() {</a:t>
            </a:r>
          </a:p>
          <a:p>
            <a:r>
              <a:rPr lang="en-IN" dirty="0"/>
              <a:t>  return new Promise(resolve =&gt; {</a:t>
            </a:r>
          </a:p>
          <a:p>
            <a:r>
              <a:rPr lang="en-IN" dirty="0"/>
              <a:t>    </a:t>
            </a:r>
            <a:r>
              <a:rPr lang="en-IN" dirty="0" err="1"/>
              <a:t>setTimeout</a:t>
            </a:r>
            <a:r>
              <a:rPr lang="en-IN" dirty="0"/>
              <a:t>(() =&gt; resolve("Step 1 done"), 1000);</a:t>
            </a:r>
          </a:p>
          <a:p>
            <a:r>
              <a:rPr lang="en-IN" dirty="0"/>
              <a:t>  });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function step2() {</a:t>
            </a:r>
          </a:p>
          <a:p>
            <a:r>
              <a:rPr lang="en-IN" dirty="0"/>
              <a:t>  return new Promise(resolve =&gt; {</a:t>
            </a:r>
          </a:p>
          <a:p>
            <a:r>
              <a:rPr lang="en-IN" dirty="0"/>
              <a:t>    </a:t>
            </a:r>
            <a:r>
              <a:rPr lang="en-IN" dirty="0" err="1"/>
              <a:t>setTimeout</a:t>
            </a:r>
            <a:r>
              <a:rPr lang="en-IN" dirty="0"/>
              <a:t>(() =&gt; resolve("Step 2 done"), 1000);</a:t>
            </a:r>
          </a:p>
          <a:p>
            <a:r>
              <a:rPr lang="en-IN" dirty="0"/>
              <a:t>  });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function step3() {</a:t>
            </a:r>
          </a:p>
          <a:p>
            <a:r>
              <a:rPr lang="en-IN" dirty="0"/>
              <a:t>  return new Promise(resolve =&gt; {</a:t>
            </a:r>
          </a:p>
          <a:p>
            <a:r>
              <a:rPr lang="en-IN" dirty="0"/>
              <a:t>    </a:t>
            </a:r>
            <a:r>
              <a:rPr lang="en-IN" dirty="0" err="1"/>
              <a:t>setTimeout</a:t>
            </a:r>
            <a:r>
              <a:rPr lang="en-IN" dirty="0"/>
              <a:t>(() =&gt; resolve("Step 3 done"), 1000);</a:t>
            </a:r>
          </a:p>
          <a:p>
            <a:r>
              <a:rPr lang="en-IN" dirty="0"/>
              <a:t>  });</a:t>
            </a:r>
          </a:p>
          <a:p>
            <a:r>
              <a:rPr lang="en-IN" dirty="0"/>
              <a:t>}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8D09FD-7B3D-A97A-127C-34F9EFFA0233}"/>
              </a:ext>
            </a:extLst>
          </p:cNvPr>
          <p:cNvSpPr txBox="1"/>
          <p:nvPr/>
        </p:nvSpPr>
        <p:spPr>
          <a:xfrm>
            <a:off x="6878171" y="1734741"/>
            <a:ext cx="380775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async function </a:t>
            </a:r>
            <a:r>
              <a:rPr lang="en-IN" dirty="0" err="1"/>
              <a:t>runSteps</a:t>
            </a:r>
            <a:r>
              <a:rPr lang="en-IN" dirty="0"/>
              <a:t>() {</a:t>
            </a:r>
          </a:p>
          <a:p>
            <a:r>
              <a:rPr lang="en-IN" dirty="0"/>
              <a:t>  try {</a:t>
            </a:r>
          </a:p>
          <a:p>
            <a:r>
              <a:rPr lang="en-IN" dirty="0"/>
              <a:t>    console.log(await step1());</a:t>
            </a:r>
          </a:p>
          <a:p>
            <a:r>
              <a:rPr lang="en-IN" dirty="0"/>
              <a:t>    console.log(await step2());</a:t>
            </a:r>
          </a:p>
          <a:p>
            <a:r>
              <a:rPr lang="en-IN" dirty="0"/>
              <a:t>    console.log(await step3());</a:t>
            </a:r>
          </a:p>
          <a:p>
            <a:r>
              <a:rPr lang="en-IN" dirty="0"/>
              <a:t>  } catch (err) {</a:t>
            </a:r>
          </a:p>
          <a:p>
            <a:r>
              <a:rPr lang="en-IN" dirty="0"/>
              <a:t>    console.log(err);</a:t>
            </a:r>
          </a:p>
          <a:p>
            <a:r>
              <a:rPr lang="en-IN" dirty="0"/>
              <a:t>  } finally {</a:t>
            </a:r>
          </a:p>
          <a:p>
            <a:r>
              <a:rPr lang="en-IN" dirty="0"/>
              <a:t>    console.log("All steps finished");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 err="1"/>
              <a:t>runSteps</a:t>
            </a:r>
            <a:r>
              <a:rPr lang="en-IN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594273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Async–await</a:t>
            </a:r>
            <a:endParaRPr lang="en-IN" sz="36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07D73A-78B6-E70A-9334-48712F50733F}"/>
              </a:ext>
            </a:extLst>
          </p:cNvPr>
          <p:cNvSpPr txBox="1"/>
          <p:nvPr/>
        </p:nvSpPr>
        <p:spPr>
          <a:xfrm>
            <a:off x="179294" y="1425389"/>
            <a:ext cx="89176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Looks like:</a:t>
            </a:r>
          </a:p>
          <a:p>
            <a:endParaRPr lang="en-US" b="1" dirty="0"/>
          </a:p>
          <a:p>
            <a:pPr>
              <a:buFont typeface="+mj-lt"/>
              <a:buAutoNum type="arabicPeriod"/>
            </a:pPr>
            <a:r>
              <a:rPr lang="en-US" dirty="0"/>
              <a:t>Do step 1</a:t>
            </a:r>
          </a:p>
          <a:p>
            <a:pPr>
              <a:buFont typeface="+mj-lt"/>
              <a:buAutoNum type="arabicPeriod"/>
            </a:pPr>
            <a:r>
              <a:rPr lang="en-US" dirty="0"/>
              <a:t>Wait</a:t>
            </a:r>
          </a:p>
          <a:p>
            <a:pPr>
              <a:buFont typeface="+mj-lt"/>
              <a:buAutoNum type="arabicPeriod"/>
            </a:pPr>
            <a:r>
              <a:rPr lang="en-US" dirty="0"/>
              <a:t>Do step 2</a:t>
            </a:r>
          </a:p>
          <a:p>
            <a:pPr>
              <a:buFont typeface="+mj-lt"/>
              <a:buAutoNum type="arabicPeriod"/>
            </a:pPr>
            <a:r>
              <a:rPr lang="en-US" dirty="0"/>
              <a:t>Wait</a:t>
            </a:r>
          </a:p>
          <a:p>
            <a:pPr>
              <a:buFont typeface="+mj-lt"/>
              <a:buAutoNum type="arabicPeriod"/>
            </a:pPr>
            <a:r>
              <a:rPr lang="en-US" dirty="0"/>
              <a:t>Do step 3</a:t>
            </a:r>
          </a:p>
          <a:p>
            <a:r>
              <a:rPr lang="en-US" dirty="0"/>
              <a:t>This is why developers LOVE async–await.</a:t>
            </a:r>
          </a:p>
        </p:txBody>
      </p:sp>
    </p:spTree>
    <p:extLst>
      <p:ext uri="{BB962C8B-B14F-4D97-AF65-F5344CB8AC3E}">
        <p14:creationId xmlns:p14="http://schemas.microsoft.com/office/powerpoint/2010/main" val="211760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3381</TotalTime>
  <Words>1237</Words>
  <Application>Microsoft Office PowerPoint</Application>
  <PresentationFormat>Widescreen</PresentationFormat>
  <Paragraphs>231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 Unicode MS</vt:lpstr>
      <vt:lpstr>-apple-system</vt:lpstr>
      <vt:lpstr>Arial</vt:lpstr>
      <vt:lpstr>Calibri</vt:lpstr>
      <vt:lpstr>Calibri Light</vt:lpstr>
      <vt:lpstr>Quicksand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Pushplata Bagati</dc:creator>
  <cp:lastModifiedBy>DELL</cp:lastModifiedBy>
  <cp:revision>82</cp:revision>
  <dcterms:created xsi:type="dcterms:W3CDTF">2022-08-19T11:01:50Z</dcterms:created>
  <dcterms:modified xsi:type="dcterms:W3CDTF">2025-11-21T15:05:32Z</dcterms:modified>
</cp:coreProperties>
</file>