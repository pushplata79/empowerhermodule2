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3"/>
  </p:notesMasterIdLst>
  <p:sldIdLst>
    <p:sldId id="310" r:id="rId2"/>
    <p:sldId id="317" r:id="rId3"/>
    <p:sldId id="318" r:id="rId4"/>
    <p:sldId id="319" r:id="rId5"/>
    <p:sldId id="320" r:id="rId6"/>
    <p:sldId id="327" r:id="rId7"/>
    <p:sldId id="321" r:id="rId8"/>
    <p:sldId id="322" r:id="rId9"/>
    <p:sldId id="323" r:id="rId10"/>
    <p:sldId id="324" r:id="rId11"/>
    <p:sldId id="32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35E31-6AC3-494C-A739-1889808CBF74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F43EA-CD70-4084-ADBF-7EF6357D3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6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8857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3185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28387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86866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20933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03004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94957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0724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522189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948411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53900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8A82C0F-A81B-4B2B-9B0C-842E6D2AD82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431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325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480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077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136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81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335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906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395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2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098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8A82C0F-A81B-4B2B-9B0C-842E6D2AD82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271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/>
          <p:nvPr/>
        </p:nvSpPr>
        <p:spPr>
          <a:xfrm>
            <a:off x="0" y="288711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7326510-5462-93FC-4777-0BAB30037818}"/>
              </a:ext>
            </a:extLst>
          </p:cNvPr>
          <p:cNvSpPr/>
          <p:nvPr/>
        </p:nvSpPr>
        <p:spPr>
          <a:xfrm>
            <a:off x="5936878" y="3971365"/>
            <a:ext cx="5824817" cy="23800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Margin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8A7CD6-DE13-8001-5317-D022FFAC293C}"/>
              </a:ext>
            </a:extLst>
          </p:cNvPr>
          <p:cNvSpPr/>
          <p:nvPr/>
        </p:nvSpPr>
        <p:spPr>
          <a:xfrm>
            <a:off x="6096000" y="4305015"/>
            <a:ext cx="5513295" cy="18940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Border</a:t>
            </a:r>
          </a:p>
        </p:txBody>
      </p:sp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</a:t>
            </a:r>
            <a:r>
              <a:rPr lang="en-IN" sz="4800" dirty="0"/>
              <a:t>Box Model 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8561BB-6FAA-2617-AAF1-50AD2EBFF7FD}"/>
              </a:ext>
            </a:extLst>
          </p:cNvPr>
          <p:cNvSpPr/>
          <p:nvPr/>
        </p:nvSpPr>
        <p:spPr>
          <a:xfrm>
            <a:off x="259976" y="1337743"/>
            <a:ext cx="3209365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CSS Box Model Introduction </a:t>
            </a:r>
          </a:p>
          <a:p>
            <a:endParaRPr lang="en-IN" dirty="0"/>
          </a:p>
          <a:p>
            <a:r>
              <a:rPr lang="en-IN" dirty="0"/>
              <a:t>Background </a:t>
            </a:r>
            <a:r>
              <a:rPr lang="en-IN" dirty="0" err="1"/>
              <a:t>Color</a:t>
            </a:r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dirty="0"/>
              <a:t>Width and Height </a:t>
            </a:r>
          </a:p>
          <a:p>
            <a:endParaRPr lang="en-IN" dirty="0"/>
          </a:p>
          <a:p>
            <a:r>
              <a:rPr lang="en-IN" dirty="0"/>
              <a:t>Padding </a:t>
            </a:r>
          </a:p>
          <a:p>
            <a:endParaRPr lang="en-IN" dirty="0"/>
          </a:p>
          <a:p>
            <a:r>
              <a:rPr lang="en-IN" dirty="0"/>
              <a:t>Border </a:t>
            </a:r>
          </a:p>
          <a:p>
            <a:endParaRPr lang="en-IN" dirty="0"/>
          </a:p>
          <a:p>
            <a:r>
              <a:rPr lang="en-IN" dirty="0"/>
              <a:t>Border Radius </a:t>
            </a:r>
          </a:p>
          <a:p>
            <a:endParaRPr lang="en-IN" dirty="0"/>
          </a:p>
          <a:p>
            <a:r>
              <a:rPr lang="en-IN" dirty="0"/>
              <a:t>Box Sizing </a:t>
            </a:r>
          </a:p>
          <a:p>
            <a:endParaRPr lang="en-IN" dirty="0"/>
          </a:p>
          <a:p>
            <a:r>
              <a:rPr lang="en-IN" dirty="0"/>
              <a:t>Margin </a:t>
            </a:r>
          </a:p>
          <a:p>
            <a:endParaRPr lang="en-IN" dirty="0"/>
          </a:p>
          <a:p>
            <a:r>
              <a:rPr lang="en-IN" dirty="0"/>
              <a:t>Display </a:t>
            </a:r>
          </a:p>
          <a:p>
            <a:endParaRPr lang="en-IN" dirty="0"/>
          </a:p>
          <a:p>
            <a:r>
              <a:rPr lang="en-IN" dirty="0"/>
              <a:t>CSS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7852B-CBEE-5DFD-A8FB-97BDCA70E423}"/>
              </a:ext>
            </a:extLst>
          </p:cNvPr>
          <p:cNvSpPr txBox="1"/>
          <p:nvPr/>
        </p:nvSpPr>
        <p:spPr>
          <a:xfrm>
            <a:off x="2723121" y="1833344"/>
            <a:ext cx="283499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Reset </a:t>
            </a:r>
          </a:p>
          <a:p>
            <a:endParaRPr lang="en-IN" dirty="0"/>
          </a:p>
          <a:p>
            <a:r>
              <a:rPr lang="en-IN" dirty="0"/>
              <a:t>Main Container </a:t>
            </a:r>
          </a:p>
          <a:p>
            <a:endParaRPr lang="en-IN" dirty="0"/>
          </a:p>
          <a:p>
            <a:r>
              <a:rPr lang="en-IN" dirty="0"/>
              <a:t>Maximum Width </a:t>
            </a:r>
          </a:p>
          <a:p>
            <a:endParaRPr lang="en-IN" dirty="0"/>
          </a:p>
          <a:p>
            <a:r>
              <a:rPr lang="en-IN" dirty="0"/>
              <a:t>Minimum Width </a:t>
            </a:r>
          </a:p>
          <a:p>
            <a:endParaRPr lang="en-IN" dirty="0"/>
          </a:p>
          <a:p>
            <a:r>
              <a:rPr lang="en-IN" dirty="0"/>
              <a:t>Maximum &amp; Minimum Height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528CC5-4629-1466-84C3-823072A1BE42}"/>
              </a:ext>
            </a:extLst>
          </p:cNvPr>
          <p:cNvSpPr/>
          <p:nvPr/>
        </p:nvSpPr>
        <p:spPr>
          <a:xfrm>
            <a:off x="7003889" y="5009827"/>
            <a:ext cx="3702423" cy="6106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Content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8BBB93-7EB6-FC68-0740-F5E02EBE94C6}"/>
              </a:ext>
            </a:extLst>
          </p:cNvPr>
          <p:cNvSpPr/>
          <p:nvPr/>
        </p:nvSpPr>
        <p:spPr>
          <a:xfrm>
            <a:off x="6656899" y="4585492"/>
            <a:ext cx="4391495" cy="14592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Padding</a:t>
            </a:r>
          </a:p>
        </p:txBody>
      </p:sp>
    </p:spTree>
    <p:extLst>
      <p:ext uri="{BB962C8B-B14F-4D97-AF65-F5344CB8AC3E}">
        <p14:creationId xmlns:p14="http://schemas.microsoft.com/office/powerpoint/2010/main" val="4020982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</a:t>
            </a:r>
            <a:r>
              <a:rPr lang="en-IN" sz="4800" dirty="0"/>
              <a:t>Box Model 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8676B8F-89F4-B9E3-8CF1-76C435D8E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77" y="1330424"/>
            <a:ext cx="1084784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Think of every HTML element as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(text/image)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Padding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(space inside the card around content)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Border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(frame around the card)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Margin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(space outside the card between other cards)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width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margin-left + border-left + padding-left + width + padding-right + border-right + margin-right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23A33B8-029E-0493-2D0A-5A4BB97B3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436" y="4914491"/>
            <a:ext cx="1174712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CSS properties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width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height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padding: 10px;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margin: 10px;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border: 1px solid #ccc;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box-sizing: content-box | border-box;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teach: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box-sizing: border-box;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easier: padding &amp; border included in width.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729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</a:t>
            </a:r>
            <a:r>
              <a:rPr lang="en-IN" sz="4800" dirty="0"/>
              <a:t>Box Model 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6A590E-C64E-2457-CD21-0D51D05E44E6}"/>
              </a:ext>
            </a:extLst>
          </p:cNvPr>
          <p:cNvSpPr txBox="1"/>
          <p:nvPr/>
        </p:nvSpPr>
        <p:spPr>
          <a:xfrm>
            <a:off x="161365" y="1308847"/>
            <a:ext cx="890867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&lt;div class="card"&gt;Hello&lt;/div&gt;</a:t>
            </a:r>
          </a:p>
          <a:p>
            <a:endParaRPr lang="en-IN" dirty="0"/>
          </a:p>
          <a:p>
            <a:r>
              <a:rPr lang="en-IN" dirty="0"/>
              <a:t>&lt;style&gt;</a:t>
            </a:r>
          </a:p>
          <a:p>
            <a:r>
              <a:rPr lang="en-IN" dirty="0"/>
              <a:t>.card{</a:t>
            </a:r>
          </a:p>
          <a:p>
            <a:r>
              <a:rPr lang="en-IN" dirty="0"/>
              <a:t>  width: 200px;</a:t>
            </a:r>
          </a:p>
          <a:p>
            <a:r>
              <a:rPr lang="en-IN" dirty="0"/>
              <a:t>  padding: 20px;</a:t>
            </a:r>
          </a:p>
          <a:p>
            <a:r>
              <a:rPr lang="en-IN" dirty="0"/>
              <a:t>  border: 2px solid #444;</a:t>
            </a:r>
          </a:p>
          <a:p>
            <a:r>
              <a:rPr lang="en-IN" dirty="0"/>
              <a:t>  margin: 10px;</a:t>
            </a:r>
          </a:p>
          <a:p>
            <a:r>
              <a:rPr lang="en-IN" dirty="0"/>
              <a:t>  box-sizing: border-box;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&lt;/style&gt;</a:t>
            </a:r>
          </a:p>
        </p:txBody>
      </p:sp>
    </p:spTree>
    <p:extLst>
      <p:ext uri="{BB962C8B-B14F-4D97-AF65-F5344CB8AC3E}">
        <p14:creationId xmlns:p14="http://schemas.microsoft.com/office/powerpoint/2010/main" val="2501471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Positioning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z-index (positions, stacking)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10A2A8-2A45-9B2F-D83D-709D7CBF9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" y="820527"/>
            <a:ext cx="11904734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Concepts (simple)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static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default; document flow.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relative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moved relative to its normal position (space still reserved).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absolute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removed from flow, positioned relative to nearest positioned ancestor.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fixed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positioned relative to viewport (sticky to screen).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sticky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behaves like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relative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until threshold, then like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fixed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z-index &amp; stacking context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z-index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controls order on the z-axis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positioned elements (other than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static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or those that create stacking contexts.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new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stacking context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created by elements with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position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+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z-index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opacity &lt; 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transform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etc.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Children are stacked within their stacking context — parent’s z-index can block child from appearing above outside elements.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973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Positioning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z-index (positions, stacking)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B59836-FD7F-1FEF-2C11-F1C916F94C04}"/>
              </a:ext>
            </a:extLst>
          </p:cNvPr>
          <p:cNvSpPr txBox="1"/>
          <p:nvPr/>
        </p:nvSpPr>
        <p:spPr>
          <a:xfrm>
            <a:off x="421341" y="1703294"/>
            <a:ext cx="867111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&lt;div class="box a"&gt;A&lt;/div&gt;</a:t>
            </a:r>
          </a:p>
          <a:p>
            <a:endParaRPr lang="en-IN" dirty="0"/>
          </a:p>
          <a:p>
            <a:r>
              <a:rPr lang="en-IN" dirty="0"/>
              <a:t>&lt;div class="box b"&gt;B&lt;/div&gt;</a:t>
            </a:r>
          </a:p>
          <a:p>
            <a:endParaRPr lang="en-IN" dirty="0"/>
          </a:p>
          <a:p>
            <a:r>
              <a:rPr lang="en-IN" dirty="0"/>
              <a:t>&lt;style&gt;</a:t>
            </a:r>
          </a:p>
          <a:p>
            <a:endParaRPr lang="en-IN" dirty="0"/>
          </a:p>
          <a:p>
            <a:r>
              <a:rPr lang="en-IN" dirty="0"/>
              <a:t>.box{ width:100px;height:100px; position: relative;}</a:t>
            </a:r>
          </a:p>
          <a:p>
            <a:endParaRPr lang="en-IN" dirty="0"/>
          </a:p>
          <a:p>
            <a:r>
              <a:rPr lang="en-IN" dirty="0"/>
              <a:t>.a{ background:#f88; z-index:1; top:20px; left:20px;}</a:t>
            </a:r>
          </a:p>
          <a:p>
            <a:endParaRPr lang="en-IN" dirty="0"/>
          </a:p>
          <a:p>
            <a:r>
              <a:rPr lang="en-IN" dirty="0"/>
              <a:t>.b{ background:#8af; z-index:2; top:-40px; left:60px;}</a:t>
            </a:r>
          </a:p>
          <a:p>
            <a:endParaRPr lang="en-IN" dirty="0"/>
          </a:p>
          <a:p>
            <a:r>
              <a:rPr lang="en-IN" dirty="0"/>
              <a:t>&lt;/style&gt;</a:t>
            </a:r>
          </a:p>
        </p:txBody>
      </p:sp>
    </p:spTree>
    <p:extLst>
      <p:ext uri="{BB962C8B-B14F-4D97-AF65-F5344CB8AC3E}">
        <p14:creationId xmlns:p14="http://schemas.microsoft.com/office/powerpoint/2010/main" val="2236382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IN" sz="4800" b="1" dirty="0"/>
              <a:t>Flexbox (flexible 1-D layout)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779232-DBDD-499A-009A-EA12A211F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41" y="1298193"/>
            <a:ext cx="1117806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to use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One-dimensional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layouts: row or column (nav bars, alignment of items in a header, lists of cards in a row).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properties (container)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display: flex;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flex-direction: row | column;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justify-content: flex-start | center | space-between | space-around;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main axis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align-items: flex-start | center | stretch;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cross axis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gap: 10px;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space between items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Item properties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flex: 1 1 auto;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shorthand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flex: 1;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grow/shrink/basis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align-self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override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align-items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single item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order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change visual order (not DOM order)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48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438EC5-CBE3-5B46-340C-5193BD72D6D6}"/>
              </a:ext>
            </a:extLst>
          </p:cNvPr>
          <p:cNvSpPr txBox="1"/>
          <p:nvPr/>
        </p:nvSpPr>
        <p:spPr>
          <a:xfrm>
            <a:off x="109818" y="84274"/>
            <a:ext cx="6243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horizontal nav </a:t>
            </a:r>
            <a:r>
              <a:rPr lang="en-IN" sz="3200" b="1" dirty="0" err="1"/>
              <a:t>centered</a:t>
            </a:r>
            <a:endParaRPr lang="en-IN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0044BF-0B82-B90F-B1A3-DDC81DEF866D}"/>
              </a:ext>
            </a:extLst>
          </p:cNvPr>
          <p:cNvSpPr txBox="1"/>
          <p:nvPr/>
        </p:nvSpPr>
        <p:spPr>
          <a:xfrm>
            <a:off x="313765" y="1210235"/>
            <a:ext cx="88190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&lt;nav class="nav"&gt;</a:t>
            </a:r>
          </a:p>
          <a:p>
            <a:r>
              <a:rPr lang="en-IN" dirty="0"/>
              <a:t>  &lt;a&gt;Home&lt;/a&gt;&lt;a&gt;About&lt;/a&gt;&lt;a&gt;Contact&lt;/a&gt;</a:t>
            </a:r>
          </a:p>
          <a:p>
            <a:r>
              <a:rPr lang="en-IN" dirty="0"/>
              <a:t>&lt;/nav&gt;</a:t>
            </a:r>
          </a:p>
          <a:p>
            <a:endParaRPr lang="en-IN" dirty="0"/>
          </a:p>
          <a:p>
            <a:r>
              <a:rPr lang="en-IN" dirty="0"/>
              <a:t>&lt;style&gt;</a:t>
            </a:r>
          </a:p>
          <a:p>
            <a:r>
              <a:rPr lang="en-IN" dirty="0"/>
              <a:t>.nav{ </a:t>
            </a:r>
            <a:r>
              <a:rPr lang="en-IN" dirty="0" err="1"/>
              <a:t>display:flex</a:t>
            </a:r>
            <a:r>
              <a:rPr lang="en-IN" dirty="0"/>
              <a:t>; </a:t>
            </a:r>
            <a:r>
              <a:rPr lang="en-IN" dirty="0" err="1"/>
              <a:t>justify-content:center</a:t>
            </a:r>
            <a:r>
              <a:rPr lang="en-IN" dirty="0"/>
              <a:t>; gap:20px; </a:t>
            </a:r>
            <a:r>
              <a:rPr lang="en-IN" dirty="0" err="1"/>
              <a:t>align-items:center</a:t>
            </a:r>
            <a:r>
              <a:rPr lang="en-IN" dirty="0"/>
              <a:t>; }</a:t>
            </a:r>
          </a:p>
          <a:p>
            <a:r>
              <a:rPr lang="en-IN" dirty="0"/>
              <a:t>&lt;/style&gt;</a:t>
            </a:r>
          </a:p>
        </p:txBody>
      </p:sp>
    </p:spTree>
    <p:extLst>
      <p:ext uri="{BB962C8B-B14F-4D97-AF65-F5344CB8AC3E}">
        <p14:creationId xmlns:p14="http://schemas.microsoft.com/office/powerpoint/2010/main" val="374954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IN" sz="4800" b="1" dirty="0"/>
              <a:t>CSS Grid (2-D layout)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0234CA-F789-8CC2-6FE6-24A5C036B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624" y="1246621"/>
            <a:ext cx="963488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to use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Two-dimensional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layouts: rows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columns (complex page layout, dashboards, galleries).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concepts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display: grid;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columns/rows: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grid-template-columns: 1fr 2fr; grid-template-rows: auto;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Place items with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grid-column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grid-row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grid-area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gap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works for grid as well.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23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IN" sz="4800" b="1" dirty="0"/>
              <a:t>CSS Grid (2-D layout)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1E5424-C820-F9EC-DE76-08C695E9F71B}"/>
              </a:ext>
            </a:extLst>
          </p:cNvPr>
          <p:cNvSpPr txBox="1"/>
          <p:nvPr/>
        </p:nvSpPr>
        <p:spPr>
          <a:xfrm>
            <a:off x="1272989" y="1807640"/>
            <a:ext cx="824528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&lt;div class="grid"&gt;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	&lt;div&gt;1&lt;/div&gt;&lt;div&gt;2&lt;/div&gt;&lt;div&gt;3&lt;/div&gt;</a:t>
            </a:r>
          </a:p>
          <a:p>
            <a:endParaRPr lang="en-IN" dirty="0"/>
          </a:p>
          <a:p>
            <a:r>
              <a:rPr lang="en-IN" dirty="0"/>
              <a:t>  	&lt;div&gt;4&lt;/div&gt;&lt;div&gt;5&lt;/div&gt;&lt;div&gt;6&lt;/div&gt;</a:t>
            </a:r>
          </a:p>
          <a:p>
            <a:r>
              <a:rPr lang="en-IN" dirty="0"/>
              <a:t>&lt;/div&gt;</a:t>
            </a:r>
          </a:p>
          <a:p>
            <a:endParaRPr lang="en-IN" dirty="0"/>
          </a:p>
          <a:p>
            <a:r>
              <a:rPr lang="en-IN" dirty="0"/>
              <a:t>&lt;style&gt;</a:t>
            </a:r>
          </a:p>
          <a:p>
            <a:endParaRPr lang="en-IN" dirty="0"/>
          </a:p>
          <a:p>
            <a:r>
              <a:rPr lang="en-IN" dirty="0"/>
              <a:t>.grid{ </a:t>
            </a:r>
            <a:r>
              <a:rPr lang="en-IN" dirty="0" err="1"/>
              <a:t>display:grid</a:t>
            </a:r>
            <a:r>
              <a:rPr lang="en-IN" dirty="0"/>
              <a:t>; grid-template-columns: repeat(3, 1fr); gap:10px; }</a:t>
            </a:r>
          </a:p>
          <a:p>
            <a:endParaRPr lang="en-IN" dirty="0"/>
          </a:p>
          <a:p>
            <a:r>
              <a:rPr lang="en-IN" dirty="0"/>
              <a:t>&lt;/style&gt;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CF1457-2BF9-7F2F-8E95-A4E6864E7A79}"/>
              </a:ext>
            </a:extLst>
          </p:cNvPr>
          <p:cNvSpPr txBox="1"/>
          <p:nvPr/>
        </p:nvSpPr>
        <p:spPr>
          <a:xfrm>
            <a:off x="118783" y="1407530"/>
            <a:ext cx="6243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simple 3-column grid</a:t>
            </a:r>
          </a:p>
        </p:txBody>
      </p:sp>
    </p:spTree>
    <p:extLst>
      <p:ext uri="{BB962C8B-B14F-4D97-AF65-F5344CB8AC3E}">
        <p14:creationId xmlns:p14="http://schemas.microsoft.com/office/powerpoint/2010/main" val="299784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000" b="1" dirty="0"/>
              <a:t>Responsive Design (make pages work on all screens)</a:t>
            </a:r>
            <a:endParaRPr lang="en-US" sz="4000" b="1" dirty="0">
              <a:latin typeface="Lato" panose="020F050202020403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A79254-4DF5-7FA3-0067-68E71A665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433" y="1347047"/>
            <a:ext cx="11555507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ideas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Mobile-first CSS: start with base styles for small screens, add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@media (min-width: ...)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larger screens.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relative units: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%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vw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vh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flexible units like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grid.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meta viewport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HTML: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&lt;meta name="viewport" content="width=device-width, initial-scale=1"&gt;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Breakpoints (practical suggestion)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Mobile: up to 600px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Tablet: 600–900px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Desktop: 900–1200px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desktop: 1200px+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9032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3881</TotalTime>
  <Words>834</Words>
  <Application>Microsoft Office PowerPoint</Application>
  <PresentationFormat>Widescreen</PresentationFormat>
  <Paragraphs>169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 Unicode MS</vt:lpstr>
      <vt:lpstr>Arial</vt:lpstr>
      <vt:lpstr>Calibri</vt:lpstr>
      <vt:lpstr>Lato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Pushplata Bagati</dc:creator>
  <cp:lastModifiedBy>DELL</cp:lastModifiedBy>
  <cp:revision>78</cp:revision>
  <dcterms:created xsi:type="dcterms:W3CDTF">2022-08-19T11:01:50Z</dcterms:created>
  <dcterms:modified xsi:type="dcterms:W3CDTF">2025-11-10T15:07:33Z</dcterms:modified>
</cp:coreProperties>
</file>