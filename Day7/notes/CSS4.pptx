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4"/>
  </p:notesMasterIdLst>
  <p:sldIdLst>
    <p:sldId id="310" r:id="rId2"/>
    <p:sldId id="330" r:id="rId3"/>
    <p:sldId id="331" r:id="rId4"/>
    <p:sldId id="332" r:id="rId5"/>
    <p:sldId id="333" r:id="rId6"/>
    <p:sldId id="323" r:id="rId7"/>
    <p:sldId id="325" r:id="rId8"/>
    <p:sldId id="327" r:id="rId9"/>
    <p:sldId id="328" r:id="rId10"/>
    <p:sldId id="329" r:id="rId11"/>
    <p:sldId id="326" r:id="rId12"/>
    <p:sldId id="32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885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6438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4664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2500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643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2218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793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9609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731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0391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7968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ACD8E81-2AAA-6B92-6235-1F050F5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37578E-D25B-9FE4-9546-C412F2EB7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314334E-FCCD-1FE3-ED76-BCCD9885A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4841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43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32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48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7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3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81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3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39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09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A82C0F-A81B-4B2B-9B0C-842E6D2AD82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7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0" y="288711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US" sz="4800" b="1" dirty="0">
                <a:latin typeface="Lato" panose="020F0502020204030203" pitchFamily="34" charset="0"/>
              </a:rPr>
              <a:t>More about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9E43BB4-03BE-2BD4-3617-8CC7E5ADE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61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A6FD97A-5127-9534-C7EB-B9D72039E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642938"/>
            <a:ext cx="9896475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FC16979-9C3E-AFC3-1C79-FC5485EAF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79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5EC8B25-7B16-AFC8-349C-28B9AFEA3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28750"/>
            <a:ext cx="7620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03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8C437-2C82-CE6A-1DD9-C7D74F373591}"/>
              </a:ext>
            </a:extLst>
          </p:cNvPr>
          <p:cNvSpPr txBox="1"/>
          <p:nvPr/>
        </p:nvSpPr>
        <p:spPr>
          <a:xfrm>
            <a:off x="206188" y="1201272"/>
            <a:ext cx="114479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CSS Grid is a </a:t>
            </a:r>
            <a:r>
              <a:rPr lang="en-US" b="1" dirty="0"/>
              <a:t>layout system</a:t>
            </a:r>
            <a:r>
              <a:rPr lang="en-US" dirty="0"/>
              <a:t> in CSS used to arrange items (boxes) on a webpage in </a:t>
            </a:r>
            <a:r>
              <a:rPr lang="en-US" b="1" dirty="0"/>
              <a:t>rows and columns</a:t>
            </a:r>
            <a:r>
              <a:rPr lang="en-US" dirty="0"/>
              <a:t>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Think of it like a </a:t>
            </a:r>
            <a:r>
              <a:rPr lang="en-US" b="1" dirty="0"/>
              <a:t>chessboard or matrix</a:t>
            </a:r>
            <a:r>
              <a:rPr lang="en-US" dirty="0"/>
              <a:t> where you can place elements inside different squares.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93DB6-343E-62A9-9D14-137DFABB3D4F}"/>
              </a:ext>
            </a:extLst>
          </p:cNvPr>
          <p:cNvSpPr txBox="1"/>
          <p:nvPr/>
        </p:nvSpPr>
        <p:spPr>
          <a:xfrm>
            <a:off x="316006" y="2973178"/>
            <a:ext cx="94644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Do We Use Grid?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make web layouts neat and clean.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divide a webpage into structured sections.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easily arrange content in multiple rows and columns.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responsive</a:t>
            </a:r>
            <a:r>
              <a:rPr lang="en-US" dirty="0"/>
              <a:t>, meaning layout adjusts for mobile/tablet/computer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9562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179E11-93FD-873D-E124-92D3B30C4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57179"/>
              </p:ext>
            </p:extLst>
          </p:nvPr>
        </p:nvGraphicFramePr>
        <p:xfrm>
          <a:off x="206188" y="1344706"/>
          <a:ext cx="10538010" cy="4187098"/>
        </p:xfrm>
        <a:graphic>
          <a:graphicData uri="http://schemas.openxmlformats.org/drawingml/2006/table">
            <a:tbl>
              <a:tblPr/>
              <a:tblGrid>
                <a:gridCol w="3512670">
                  <a:extLst>
                    <a:ext uri="{9D8B030D-6E8A-4147-A177-3AD203B41FA5}">
                      <a16:colId xmlns:a16="http://schemas.microsoft.com/office/drawing/2014/main" val="2674667192"/>
                    </a:ext>
                  </a:extLst>
                </a:gridCol>
                <a:gridCol w="3512670">
                  <a:extLst>
                    <a:ext uri="{9D8B030D-6E8A-4147-A177-3AD203B41FA5}">
                      <a16:colId xmlns:a16="http://schemas.microsoft.com/office/drawing/2014/main" val="1051260804"/>
                    </a:ext>
                  </a:extLst>
                </a:gridCol>
                <a:gridCol w="3512670">
                  <a:extLst>
                    <a:ext uri="{9D8B030D-6E8A-4147-A177-3AD203B41FA5}">
                      <a16:colId xmlns:a16="http://schemas.microsoft.com/office/drawing/2014/main" val="3764807859"/>
                    </a:ext>
                  </a:extLst>
                </a:gridCol>
              </a:tblGrid>
              <a:tr h="620311">
                <a:tc>
                  <a:txBody>
                    <a:bodyPr/>
                    <a:lstStyle/>
                    <a:p>
                      <a:r>
                        <a:rPr lang="en-IN" b="1" dirty="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33027"/>
                  </a:ext>
                </a:extLst>
              </a:tr>
              <a:tr h="620311">
                <a:tc>
                  <a:txBody>
                    <a:bodyPr/>
                    <a:lstStyle/>
                    <a:p>
                      <a:r>
                        <a:rPr lang="en-IN" b="1"/>
                        <a:t>Grid Container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box that holds the grid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&lt;div&gt; with display: 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240932"/>
                  </a:ext>
                </a:extLst>
              </a:tr>
              <a:tr h="1085543">
                <a:tc>
                  <a:txBody>
                    <a:bodyPr/>
                    <a:lstStyle/>
                    <a:p>
                      <a:r>
                        <a:rPr lang="en-IN" b="1"/>
                        <a:t>Grid Items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Children (inner elements) inside the grid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&lt;div&gt; inside the parent div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140155"/>
                  </a:ext>
                </a:extLst>
              </a:tr>
              <a:tr h="620311">
                <a:tc>
                  <a:txBody>
                    <a:bodyPr/>
                    <a:lstStyle/>
                    <a:p>
                      <a:r>
                        <a:rPr lang="en-IN" b="1"/>
                        <a:t>Rows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Horizontal divisions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Like rows in 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75298"/>
                  </a:ext>
                </a:extLst>
              </a:tr>
              <a:tr h="620311">
                <a:tc>
                  <a:txBody>
                    <a:bodyPr/>
                    <a:lstStyle/>
                    <a:p>
                      <a:r>
                        <a:rPr lang="en-IN" b="1"/>
                        <a:t>Columns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Vertical divisions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Like columns in 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39176"/>
                  </a:ext>
                </a:extLst>
              </a:tr>
              <a:tr h="620311">
                <a:tc>
                  <a:txBody>
                    <a:bodyPr/>
                    <a:lstStyle/>
                    <a:p>
                      <a:r>
                        <a:rPr lang="en-IN" b="1"/>
                        <a:t>Gap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Space between rows/columns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gap: 10px;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430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78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79CEAE-AE48-CFAC-7D44-598427CD5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94" y="1136321"/>
            <a:ext cx="94772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Create a Grid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a container.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display: grid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number of rows and columns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grid-template-columns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grid-template-rows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2FA1A-1A97-5D20-D9AA-88B6AB2BF472}"/>
              </a:ext>
            </a:extLst>
          </p:cNvPr>
          <p:cNvSpPr txBox="1"/>
          <p:nvPr/>
        </p:nvSpPr>
        <p:spPr>
          <a:xfrm>
            <a:off x="441512" y="3528394"/>
            <a:ext cx="6243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.container {</a:t>
            </a:r>
          </a:p>
          <a:p>
            <a:endParaRPr lang="en-IN" dirty="0"/>
          </a:p>
          <a:p>
            <a:r>
              <a:rPr lang="en-IN" dirty="0"/>
              <a:t>  display: grid;</a:t>
            </a:r>
          </a:p>
          <a:p>
            <a:endParaRPr lang="en-IN" dirty="0"/>
          </a:p>
          <a:p>
            <a:r>
              <a:rPr lang="en-IN" dirty="0"/>
              <a:t>  grid-template-columns: repeat(3, 1fr); /* 3 equal columns */</a:t>
            </a:r>
          </a:p>
          <a:p>
            <a:endParaRPr lang="en-IN" dirty="0"/>
          </a:p>
          <a:p>
            <a:r>
              <a:rPr lang="en-IN" dirty="0"/>
              <a:t>  gap: 10px;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EFF97C5-51F2-64AA-60CD-7ECCE2A97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06" y="6157863"/>
            <a:ext cx="34644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1fr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means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equal flexible space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9164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B44AA-7456-098C-676C-946075505488}"/>
              </a:ext>
            </a:extLst>
          </p:cNvPr>
          <p:cNvSpPr txBox="1"/>
          <p:nvPr/>
        </p:nvSpPr>
        <p:spPr>
          <a:xfrm>
            <a:off x="268942" y="1237129"/>
            <a:ext cx="378310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800" b="1" dirty="0"/>
              <a:t>HTML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&lt;div class="container"&gt;</a:t>
            </a:r>
          </a:p>
          <a:p>
            <a:r>
              <a:rPr lang="en-IN" dirty="0"/>
              <a:t>  &lt;div class="box"&gt;A&lt;/div&gt;</a:t>
            </a:r>
          </a:p>
          <a:p>
            <a:r>
              <a:rPr lang="en-IN" dirty="0"/>
              <a:t>  &lt;div class="box"&gt;B&lt;/div&gt;</a:t>
            </a:r>
          </a:p>
          <a:p>
            <a:r>
              <a:rPr lang="en-IN" dirty="0"/>
              <a:t>  &lt;div class="box"&gt;C&lt;/div&gt;</a:t>
            </a:r>
          </a:p>
          <a:p>
            <a:r>
              <a:rPr lang="en-IN" dirty="0"/>
              <a:t>  &lt;div class="box"&gt;D&lt;/div&gt;</a:t>
            </a:r>
          </a:p>
          <a:p>
            <a:r>
              <a:rPr lang="en-IN" dirty="0"/>
              <a:t>&lt;/div&gt;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CAE85-FC29-55EF-D540-869ED1CB668C}"/>
              </a:ext>
            </a:extLst>
          </p:cNvPr>
          <p:cNvSpPr txBox="1"/>
          <p:nvPr/>
        </p:nvSpPr>
        <p:spPr>
          <a:xfrm>
            <a:off x="4475630" y="1237129"/>
            <a:ext cx="7537076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CSS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.container {</a:t>
            </a:r>
          </a:p>
          <a:p>
            <a:r>
              <a:rPr lang="en-IN" dirty="0"/>
              <a:t>  display: grid;</a:t>
            </a:r>
          </a:p>
          <a:p>
            <a:r>
              <a:rPr lang="en-IN" dirty="0"/>
              <a:t>  grid-template-columns: 1fr </a:t>
            </a:r>
            <a:r>
              <a:rPr lang="en-IN" dirty="0" err="1"/>
              <a:t>1fr</a:t>
            </a:r>
            <a:r>
              <a:rPr lang="en-IN" dirty="0"/>
              <a:t>; /* 2 columns */</a:t>
            </a:r>
          </a:p>
          <a:p>
            <a:r>
              <a:rPr lang="en-IN" dirty="0"/>
              <a:t>  grid-template-rows: 100px </a:t>
            </a:r>
            <a:r>
              <a:rPr lang="en-IN" dirty="0" err="1"/>
              <a:t>100px</a:t>
            </a:r>
            <a:r>
              <a:rPr lang="en-IN" dirty="0"/>
              <a:t>; /* fixed height rows */</a:t>
            </a:r>
          </a:p>
          <a:p>
            <a:r>
              <a:rPr lang="en-IN" dirty="0"/>
              <a:t>  gap: 10px;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.box {</a:t>
            </a:r>
          </a:p>
          <a:p>
            <a:r>
              <a:rPr lang="en-IN" dirty="0"/>
              <a:t>  background: </a:t>
            </a:r>
            <a:r>
              <a:rPr lang="en-IN" dirty="0" err="1"/>
              <a:t>lightcoral</a:t>
            </a:r>
            <a:r>
              <a:rPr lang="en-IN" dirty="0"/>
              <a:t>;</a:t>
            </a:r>
          </a:p>
          <a:p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padding-top: 30px;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449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6F157-699A-1798-4D6F-81F54EDA6E07}"/>
              </a:ext>
            </a:extLst>
          </p:cNvPr>
          <p:cNvSpPr txBox="1"/>
          <p:nvPr/>
        </p:nvSpPr>
        <p:spPr>
          <a:xfrm>
            <a:off x="170329" y="1272988"/>
            <a:ext cx="889971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Advantages of CSS Grid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easy for making structured layouts.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complexity (less CSS code needed).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 design becomes simpler.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control over spacing and alignment.</a:t>
            </a:r>
          </a:p>
        </p:txBody>
      </p:sp>
    </p:spTree>
    <p:extLst>
      <p:ext uri="{BB962C8B-B14F-4D97-AF65-F5344CB8AC3E}">
        <p14:creationId xmlns:p14="http://schemas.microsoft.com/office/powerpoint/2010/main" val="1712301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0234CA-F789-8CC2-6FE6-24A5C036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4" y="1246621"/>
            <a:ext cx="963488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Two-dimensional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layouts: rows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columns (complex page layout, dashboards, galleries).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display: grid;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columns/rows: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grid-template-columns: 1fr 2fr; grid-template-rows: auto;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 items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grid-column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grid-row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grid-area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works for grid as well.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5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5CDB1B6-E544-D4BC-4EA5-CC07DE1C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21EA64A1-1941-2AC0-9D53-DE86CA25F824}"/>
              </a:ext>
            </a:extLst>
          </p:cNvPr>
          <p:cNvSpPr/>
          <p:nvPr/>
        </p:nvSpPr>
        <p:spPr>
          <a:xfrm>
            <a:off x="0" y="-31196"/>
            <a:ext cx="12192000" cy="10837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72775" tIns="36378" rIns="72775" bIns="36378" anchor="ctr" anchorCtr="0">
            <a:noAutofit/>
          </a:bodyPr>
          <a:lstStyle/>
          <a:p>
            <a:r>
              <a:rPr lang="en-IN" sz="4800" b="1" dirty="0"/>
              <a:t>CSS Grid (2-D layout)</a:t>
            </a:r>
            <a:endParaRPr lang="en-US" sz="4800" b="1" dirty="0"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E5424-C820-F9EC-DE76-08C695E9F71B}"/>
              </a:ext>
            </a:extLst>
          </p:cNvPr>
          <p:cNvSpPr txBox="1"/>
          <p:nvPr/>
        </p:nvSpPr>
        <p:spPr>
          <a:xfrm>
            <a:off x="1272989" y="1807640"/>
            <a:ext cx="82452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&lt;div class="grid"&gt;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	&lt;div&gt;1&lt;/div&gt;&lt;div&gt;2&lt;/div&gt;&lt;div&gt;3&lt;/div&gt;</a:t>
            </a:r>
          </a:p>
          <a:p>
            <a:endParaRPr lang="en-IN" dirty="0"/>
          </a:p>
          <a:p>
            <a:r>
              <a:rPr lang="en-IN" dirty="0"/>
              <a:t>  	&lt;div&gt;4&lt;/div&gt;&lt;div&gt;5&lt;/div&gt;&lt;div&gt;6&lt;/div&gt;</a:t>
            </a:r>
          </a:p>
          <a:p>
            <a:r>
              <a:rPr lang="en-IN" dirty="0"/>
              <a:t>&lt;/div&gt;</a:t>
            </a:r>
          </a:p>
          <a:p>
            <a:endParaRPr lang="en-IN" dirty="0"/>
          </a:p>
          <a:p>
            <a:r>
              <a:rPr lang="en-IN" dirty="0"/>
              <a:t>&lt;style&gt;</a:t>
            </a:r>
          </a:p>
          <a:p>
            <a:endParaRPr lang="en-IN" dirty="0"/>
          </a:p>
          <a:p>
            <a:r>
              <a:rPr lang="en-IN" dirty="0"/>
              <a:t>.grid{ </a:t>
            </a:r>
            <a:r>
              <a:rPr lang="en-IN" dirty="0" err="1"/>
              <a:t>display:grid</a:t>
            </a:r>
            <a:r>
              <a:rPr lang="en-IN" dirty="0"/>
              <a:t>; grid-template-columns: repeat(3, 1fr); gap:10px; }</a:t>
            </a:r>
          </a:p>
          <a:p>
            <a:endParaRPr lang="en-IN" dirty="0"/>
          </a:p>
          <a:p>
            <a:r>
              <a:rPr lang="en-IN" dirty="0"/>
              <a:t>&lt;/style&gt;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F1457-2BF9-7F2F-8E95-A4E6864E7A79}"/>
              </a:ext>
            </a:extLst>
          </p:cNvPr>
          <p:cNvSpPr txBox="1"/>
          <p:nvPr/>
        </p:nvSpPr>
        <p:spPr>
          <a:xfrm>
            <a:off x="118783" y="1407530"/>
            <a:ext cx="6243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simple 3-column grid</a:t>
            </a:r>
          </a:p>
        </p:txBody>
      </p:sp>
    </p:spTree>
    <p:extLst>
      <p:ext uri="{BB962C8B-B14F-4D97-AF65-F5344CB8AC3E}">
        <p14:creationId xmlns:p14="http://schemas.microsoft.com/office/powerpoint/2010/main" val="299784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4354</TotalTime>
  <Words>529</Words>
  <Application>Microsoft Office PowerPoint</Application>
  <PresentationFormat>Widescreen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 Unicode MS</vt:lpstr>
      <vt:lpstr>Arial</vt:lpstr>
      <vt:lpstr>Calibri</vt:lpstr>
      <vt:lpstr>Lato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80</cp:revision>
  <dcterms:created xsi:type="dcterms:W3CDTF">2022-08-19T11:01:50Z</dcterms:created>
  <dcterms:modified xsi:type="dcterms:W3CDTF">2025-11-11T16:12:22Z</dcterms:modified>
</cp:coreProperties>
</file>