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0" r:id="rId3"/>
    <p:sldId id="281" r:id="rId4"/>
    <p:sldId id="282" r:id="rId5"/>
    <p:sldId id="283" r:id="rId6"/>
    <p:sldId id="284" r:id="rId7"/>
    <p:sldId id="293" r:id="rId8"/>
    <p:sldId id="285" r:id="rId9"/>
    <p:sldId id="294" r:id="rId10"/>
    <p:sldId id="295" r:id="rId11"/>
    <p:sldId id="296" r:id="rId12"/>
    <p:sldId id="297" r:id="rId13"/>
    <p:sldId id="286" r:id="rId14"/>
    <p:sldId id="298" r:id="rId15"/>
    <p:sldId id="299" r:id="rId16"/>
    <p:sldId id="300" r:id="rId17"/>
    <p:sldId id="287" r:id="rId18"/>
    <p:sldId id="288" r:id="rId19"/>
    <p:sldId id="301" r:id="rId20"/>
    <p:sldId id="302" r:id="rId21"/>
    <p:sldId id="303" r:id="rId22"/>
    <p:sldId id="289" r:id="rId23"/>
    <p:sldId id="304" r:id="rId24"/>
    <p:sldId id="290" r:id="rId25"/>
    <p:sldId id="305" r:id="rId26"/>
    <p:sldId id="291" r:id="rId27"/>
    <p:sldId id="306" r:id="rId28"/>
    <p:sldId id="307" r:id="rId29"/>
    <p:sldId id="308" r:id="rId30"/>
    <p:sldId id="292" r:id="rId31"/>
    <p:sldId id="314" r:id="rId32"/>
    <p:sldId id="315" r:id="rId33"/>
    <p:sldId id="309" r:id="rId34"/>
    <p:sldId id="310" r:id="rId35"/>
    <p:sldId id="31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760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2318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61694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7815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6117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4983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5591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954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3262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721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4117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0848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0837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0668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0571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4753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3986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1285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3747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0147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5353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7589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7210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20947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9202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76538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48939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23231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8169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34598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6880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31540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6966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87549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4305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20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5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0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0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46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3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68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1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4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1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3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6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3116830"/>
            <a:ext cx="1053977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8000"/>
            </a:pPr>
            <a:r>
              <a:rPr lang="en-IN" sz="6000" dirty="0">
                <a:solidFill>
                  <a:schemeClr val="bg1"/>
                </a:solidFill>
              </a:rPr>
              <a:t>More About JS</a:t>
            </a:r>
            <a:endParaRPr sz="105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78996" y="5782489"/>
            <a:ext cx="378130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lt1"/>
                </a:solidFill>
                <a:latin typeface="Quicksand Light"/>
                <a:sym typeface="Quicksand Light"/>
              </a:rPr>
              <a:t>Let’s Start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475400" y="5548197"/>
            <a:ext cx="4932623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6704489" y="1076325"/>
            <a:ext cx="554811" cy="284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734EB1-D03A-4709-8BEE-BB985F1A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063" y="6349290"/>
            <a:ext cx="1976462" cy="50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69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Modern JavaScript (ES6+ Features)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A3D5-11DA-EE5F-D360-415B4120BA73}"/>
              </a:ext>
            </a:extLst>
          </p:cNvPr>
          <p:cNvSpPr txBox="1"/>
          <p:nvPr/>
        </p:nvSpPr>
        <p:spPr>
          <a:xfrm>
            <a:off x="188259" y="1488142"/>
            <a:ext cx="89243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ECMAScript?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ECMAScript (ES) is the </a:t>
            </a:r>
            <a:r>
              <a:rPr lang="en-US" b="1" dirty="0"/>
              <a:t>official standard</a:t>
            </a:r>
            <a:r>
              <a:rPr lang="en-US" dirty="0"/>
              <a:t> that defines how JavaScript should work.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JavaScript = </a:t>
            </a:r>
            <a:r>
              <a:rPr lang="en-US" b="1" dirty="0"/>
              <a:t>programming language</a:t>
            </a:r>
            <a:br>
              <a:rPr lang="en-US" dirty="0"/>
            </a:br>
            <a:r>
              <a:rPr lang="en-US" dirty="0"/>
              <a:t> ECMAScript = </a:t>
            </a:r>
            <a:r>
              <a:rPr lang="en-US" b="1" dirty="0"/>
              <a:t>rules that standardize JavaScript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by </a:t>
            </a:r>
            <a:r>
              <a:rPr lang="en-US" b="1" dirty="0"/>
              <a:t>ECMA International</a:t>
            </a:r>
            <a:r>
              <a:rPr lang="en-US" dirty="0"/>
              <a:t>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Why ECMAScript Exists?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ensure </a:t>
            </a:r>
            <a:r>
              <a:rPr lang="en-US" b="1" dirty="0"/>
              <a:t>all browsers behave the same way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provide </a:t>
            </a:r>
            <a:r>
              <a:rPr lang="en-US" b="1" dirty="0"/>
              <a:t>new language features</a:t>
            </a:r>
            <a:r>
              <a:rPr lang="en-US" dirty="0"/>
              <a:t> in a consistent manner.</a:t>
            </a:r>
          </a:p>
        </p:txBody>
      </p:sp>
    </p:spTree>
    <p:extLst>
      <p:ext uri="{BB962C8B-B14F-4D97-AF65-F5344CB8AC3E}">
        <p14:creationId xmlns:p14="http://schemas.microsoft.com/office/powerpoint/2010/main" val="296490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Modern JavaScript (ES6+ Features)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D2109-4B35-D1CF-3EDB-8DDCB8492E1E}"/>
              </a:ext>
            </a:extLst>
          </p:cNvPr>
          <p:cNvSpPr txBox="1"/>
          <p:nvPr/>
        </p:nvSpPr>
        <p:spPr>
          <a:xfrm>
            <a:off x="345142" y="1496216"/>
            <a:ext cx="6158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Major ES Versions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B07991-31FB-AABC-07B1-DB9D31591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011785"/>
              </p:ext>
            </p:extLst>
          </p:nvPr>
        </p:nvGraphicFramePr>
        <p:xfrm>
          <a:off x="546847" y="2244752"/>
          <a:ext cx="11098305" cy="3662986"/>
        </p:xfrm>
        <a:graphic>
          <a:graphicData uri="http://schemas.openxmlformats.org/drawingml/2006/table">
            <a:tbl>
              <a:tblPr/>
              <a:tblGrid>
                <a:gridCol w="3699435">
                  <a:extLst>
                    <a:ext uri="{9D8B030D-6E8A-4147-A177-3AD203B41FA5}">
                      <a16:colId xmlns:a16="http://schemas.microsoft.com/office/drawing/2014/main" val="3805410503"/>
                    </a:ext>
                  </a:extLst>
                </a:gridCol>
                <a:gridCol w="3699435">
                  <a:extLst>
                    <a:ext uri="{9D8B030D-6E8A-4147-A177-3AD203B41FA5}">
                      <a16:colId xmlns:a16="http://schemas.microsoft.com/office/drawing/2014/main" val="1843759864"/>
                    </a:ext>
                  </a:extLst>
                </a:gridCol>
                <a:gridCol w="3699435">
                  <a:extLst>
                    <a:ext uri="{9D8B030D-6E8A-4147-A177-3AD203B41FA5}">
                      <a16:colId xmlns:a16="http://schemas.microsoft.com/office/drawing/2014/main" val="1749586591"/>
                    </a:ext>
                  </a:extLst>
                </a:gridCol>
              </a:tblGrid>
              <a:tr h="637041">
                <a:tc>
                  <a:txBody>
                    <a:bodyPr/>
                    <a:lstStyle/>
                    <a:p>
                      <a:r>
                        <a:rPr lang="en-IN" b="1" dirty="0"/>
                        <a:t>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Highlights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87912"/>
                  </a:ext>
                </a:extLst>
              </a:tr>
              <a:tr h="637041">
                <a:tc>
                  <a:txBody>
                    <a:bodyPr/>
                    <a:lstStyle/>
                    <a:p>
                      <a:r>
                        <a:rPr lang="en-IN" b="1" dirty="0"/>
                        <a:t>ES3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Basics of modern 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13197"/>
                  </a:ext>
                </a:extLst>
              </a:tr>
              <a:tr h="637041">
                <a:tc>
                  <a:txBody>
                    <a:bodyPr/>
                    <a:lstStyle/>
                    <a:p>
                      <a:r>
                        <a:rPr lang="en-IN"/>
                        <a:t>ES5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Strict mode, 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821389"/>
                  </a:ext>
                </a:extLst>
              </a:tr>
              <a:tr h="1114822">
                <a:tc>
                  <a:txBody>
                    <a:bodyPr/>
                    <a:lstStyle/>
                    <a:p>
                      <a:r>
                        <a:rPr lang="en-IN" b="1"/>
                        <a:t>ES6 (ES2015)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2015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Major update: let, const, classes, arrow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517361"/>
                  </a:ext>
                </a:extLst>
              </a:tr>
              <a:tr h="637041">
                <a:tc>
                  <a:txBody>
                    <a:bodyPr/>
                    <a:lstStyle/>
                    <a:p>
                      <a:r>
                        <a:rPr lang="en-IN" dirty="0"/>
                        <a:t>ES7–ES14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2016–2023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Minor yearly improvements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3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72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What ES6 Introduced (ECMAScript 2015)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0AA2D-9796-63C2-1BB0-B04EC07DFF33}"/>
              </a:ext>
            </a:extLst>
          </p:cNvPr>
          <p:cNvSpPr txBox="1"/>
          <p:nvPr/>
        </p:nvSpPr>
        <p:spPr>
          <a:xfrm>
            <a:off x="0" y="1345171"/>
            <a:ext cx="748104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2000" b="1" dirty="0"/>
              <a:t>ES6 is a huge update because it added: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let &amp; const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Arrow functions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Classes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Template literals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Destructuring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Spread &amp; Rest operators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Promises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Modules (import/export)</a:t>
            </a:r>
            <a:endParaRPr lang="en-US" dirty="0"/>
          </a:p>
          <a:p>
            <a:endParaRPr lang="en-US" b="1" dirty="0"/>
          </a:p>
          <a:p>
            <a:r>
              <a:rPr lang="en-US" sz="2000" b="1" dirty="0"/>
              <a:t>Why ES6 is loved?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Cleaner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readable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modern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error-prone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 to write large apps</a:t>
            </a:r>
          </a:p>
        </p:txBody>
      </p:sp>
    </p:spTree>
    <p:extLst>
      <p:ext uri="{BB962C8B-B14F-4D97-AF65-F5344CB8AC3E}">
        <p14:creationId xmlns:p14="http://schemas.microsoft.com/office/powerpoint/2010/main" val="350576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let, const &amp; Block Scope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72C23-B792-0BE3-401A-699BC9998A1D}"/>
              </a:ext>
            </a:extLst>
          </p:cNvPr>
          <p:cNvSpPr txBox="1"/>
          <p:nvPr/>
        </p:nvSpPr>
        <p:spPr>
          <a:xfrm>
            <a:off x="143435" y="1640541"/>
            <a:ext cx="896246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Var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Function-scoped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redeclared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Hoisted (initialized as undefined)</a:t>
            </a:r>
          </a:p>
          <a:p>
            <a:endParaRPr lang="en-US" b="1" dirty="0"/>
          </a:p>
          <a:p>
            <a:r>
              <a:rPr lang="en-US" b="1" dirty="0"/>
              <a:t>let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Block-scoped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be redeclared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Hoisted but in </a:t>
            </a:r>
            <a:r>
              <a:rPr lang="en-US" b="1" dirty="0"/>
              <a:t>TDZ</a:t>
            </a:r>
            <a:r>
              <a:rPr lang="en-US" dirty="0"/>
              <a:t> (Temporal Dead Zone)</a:t>
            </a:r>
          </a:p>
          <a:p>
            <a:endParaRPr lang="en-US" b="1" dirty="0"/>
          </a:p>
          <a:p>
            <a:r>
              <a:rPr lang="en-US" b="1" dirty="0"/>
              <a:t>const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Block-scoped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 cannot be reassigned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Hoisted with TDZ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1C8676-1171-6D1B-C931-442A332F3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2118" y="5401253"/>
            <a:ext cx="34708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→ by default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→ when value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Avoid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var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94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var — Old JavaScript Variable (Before ES6)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038B95-D39E-8647-ABDB-414EFD5B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2" y="1520087"/>
            <a:ext cx="653527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Function-scoped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variable is only restricted to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the block.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6E3D7-6A54-CD5B-D55F-A0937DA7583C}"/>
              </a:ext>
            </a:extLst>
          </p:cNvPr>
          <p:cNvSpPr txBox="1"/>
          <p:nvPr/>
        </p:nvSpPr>
        <p:spPr>
          <a:xfrm>
            <a:off x="268941" y="2716172"/>
            <a:ext cx="6158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(true) {</a:t>
            </a:r>
          </a:p>
          <a:p>
            <a:r>
              <a:rPr lang="en-IN" dirty="0"/>
              <a:t>  var x = 10;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console.log(x);   // 10  (still accessible outside the block)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F04E2-C74D-DEF8-C636-4683FD0D93A4}"/>
              </a:ext>
            </a:extLst>
          </p:cNvPr>
          <p:cNvSpPr txBox="1"/>
          <p:nvPr/>
        </p:nvSpPr>
        <p:spPr>
          <a:xfrm>
            <a:off x="152400" y="473981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Can be redeclared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14CE13-BBDD-B411-4462-644382512D7C}"/>
              </a:ext>
            </a:extLst>
          </p:cNvPr>
          <p:cNvSpPr txBox="1"/>
          <p:nvPr/>
        </p:nvSpPr>
        <p:spPr>
          <a:xfrm>
            <a:off x="1008529" y="5745725"/>
            <a:ext cx="6158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var a = 5;</a:t>
            </a:r>
          </a:p>
          <a:p>
            <a:r>
              <a:rPr lang="en-IN" dirty="0"/>
              <a:t>var a = 10;   // allowed</a:t>
            </a:r>
          </a:p>
          <a:p>
            <a:r>
              <a:rPr lang="en-IN" dirty="0"/>
              <a:t>console.log(a);  // 10</a:t>
            </a:r>
          </a:p>
        </p:txBody>
      </p:sp>
    </p:spTree>
    <p:extLst>
      <p:ext uri="{BB962C8B-B14F-4D97-AF65-F5344CB8AC3E}">
        <p14:creationId xmlns:p14="http://schemas.microsoft.com/office/powerpoint/2010/main" val="264091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var — Old JavaScript Variable (Before ES6)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86EB8-DA0E-3520-2985-31507D5489A6}"/>
              </a:ext>
            </a:extLst>
          </p:cNvPr>
          <p:cNvSpPr txBox="1"/>
          <p:nvPr/>
        </p:nvSpPr>
        <p:spPr>
          <a:xfrm>
            <a:off x="309282" y="1702404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Hoisted (initialized as undefined)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BFC37A-5B89-A25E-FCCE-FAB529A2E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82" y="2518193"/>
            <a:ext cx="64022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var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moves to the top during execution, but value is assigned later.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F6FF80-7C3A-4B0C-95FA-7D37CD838C46}"/>
              </a:ext>
            </a:extLst>
          </p:cNvPr>
          <p:cNvSpPr txBox="1"/>
          <p:nvPr/>
        </p:nvSpPr>
        <p:spPr>
          <a:xfrm>
            <a:off x="721660" y="3244758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</a:t>
            </a:r>
            <a:r>
              <a:rPr lang="en-IN" dirty="0" err="1"/>
              <a:t>num</a:t>
            </a:r>
            <a:r>
              <a:rPr lang="en-IN" dirty="0"/>
              <a:t>);   // undefined (not error)</a:t>
            </a:r>
          </a:p>
          <a:p>
            <a:r>
              <a:rPr lang="en-IN" dirty="0"/>
              <a:t>var </a:t>
            </a:r>
            <a:r>
              <a:rPr lang="en-IN" dirty="0" err="1"/>
              <a:t>num</a:t>
            </a:r>
            <a:r>
              <a:rPr lang="en-IN" dirty="0"/>
              <a:t> = 20;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8C73D-A04F-60AC-3DCD-C58D817481B1}"/>
              </a:ext>
            </a:extLst>
          </p:cNvPr>
          <p:cNvSpPr txBox="1"/>
          <p:nvPr/>
        </p:nvSpPr>
        <p:spPr>
          <a:xfrm>
            <a:off x="309282" y="4417780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Behind the scenes: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DAECEC-07CA-0C43-FE7B-BBC58140832B}"/>
              </a:ext>
            </a:extLst>
          </p:cNvPr>
          <p:cNvSpPr txBox="1"/>
          <p:nvPr/>
        </p:nvSpPr>
        <p:spPr>
          <a:xfrm>
            <a:off x="1429871" y="4959679"/>
            <a:ext cx="6158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var </a:t>
            </a:r>
            <a:r>
              <a:rPr lang="en-IN" dirty="0" err="1"/>
              <a:t>num</a:t>
            </a:r>
            <a:r>
              <a:rPr lang="en-IN" dirty="0"/>
              <a:t>;     // hoisted</a:t>
            </a:r>
          </a:p>
          <a:p>
            <a:r>
              <a:rPr lang="en-IN" dirty="0"/>
              <a:t>console.log(</a:t>
            </a:r>
            <a:r>
              <a:rPr lang="en-IN" dirty="0" err="1"/>
              <a:t>num</a:t>
            </a:r>
            <a:r>
              <a:rPr lang="en-IN" dirty="0"/>
              <a:t>);   // undefined</a:t>
            </a:r>
          </a:p>
          <a:p>
            <a:r>
              <a:rPr lang="en-IN" dirty="0" err="1"/>
              <a:t>num</a:t>
            </a:r>
            <a:r>
              <a:rPr lang="en-IN" dirty="0"/>
              <a:t> = 20;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C89409-C312-50A4-DAAB-D53B01636ED0}"/>
              </a:ext>
            </a:extLst>
          </p:cNvPr>
          <p:cNvSpPr txBox="1"/>
          <p:nvPr/>
        </p:nvSpPr>
        <p:spPr>
          <a:xfrm>
            <a:off x="4298577" y="6307937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This behavior can cause bugs.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3147692-24A4-12A5-6FDA-AB9C8ACE5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548" y="2041139"/>
            <a:ext cx="5283228" cy="1323439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Hoisting is when JavaScript moves declarations (var/let/const/functions) to the top of their scope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before execution — but only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var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initialized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undefined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const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stay in the TDZ until declared.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88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let — Modern Variable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FF70E4-8795-30ED-9889-1DF288453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06" y="1443336"/>
            <a:ext cx="23891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Block-scoped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exists only inside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{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5FDA6-55C6-39A9-A1CB-ED733D8FB35A}"/>
              </a:ext>
            </a:extLst>
          </p:cNvPr>
          <p:cNvSpPr txBox="1"/>
          <p:nvPr/>
        </p:nvSpPr>
        <p:spPr>
          <a:xfrm>
            <a:off x="1752601" y="2828835"/>
            <a:ext cx="6158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(true) {</a:t>
            </a:r>
          </a:p>
          <a:p>
            <a:r>
              <a:rPr lang="en-IN" dirty="0"/>
              <a:t>  let y = 20;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console.log(y);  //  Error: y is not defined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6171AC-B95C-97B9-8EA3-F9C487793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06" y="4768333"/>
            <a:ext cx="2544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be redeclared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E381E0-FF51-2A71-4C9C-77DA0B19F052}"/>
              </a:ext>
            </a:extLst>
          </p:cNvPr>
          <p:cNvSpPr txBox="1"/>
          <p:nvPr/>
        </p:nvSpPr>
        <p:spPr>
          <a:xfrm>
            <a:off x="1241613" y="5414664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 x = 5;</a:t>
            </a:r>
          </a:p>
          <a:p>
            <a:r>
              <a:rPr lang="en-IN" dirty="0"/>
              <a:t>let x = 10;   // Error</a:t>
            </a:r>
          </a:p>
        </p:txBody>
      </p:sp>
    </p:spTree>
    <p:extLst>
      <p:ext uri="{BB962C8B-B14F-4D97-AF65-F5344CB8AC3E}">
        <p14:creationId xmlns:p14="http://schemas.microsoft.com/office/powerpoint/2010/main" val="141108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let — Modern Variable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90CE9-89E4-23DE-CDC2-FA90C8C47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358" y="5837692"/>
            <a:ext cx="65208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TDZ is the time period before 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variable is declared,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during which you cannot access 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If you try to access it, JavaScript throws an error.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1D6EF-BF29-FD23-9753-F892F88AD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1" y="1374294"/>
            <a:ext cx="54457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Hoisted but in TDZ (Temporal Dead Zone)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hoisted (moved up)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initialized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Accessing it before declaration →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ReferenceError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4CBD8-CBA9-78E5-32EB-4507FEFE010B}"/>
              </a:ext>
            </a:extLst>
          </p:cNvPr>
          <p:cNvSpPr txBox="1"/>
          <p:nvPr/>
        </p:nvSpPr>
        <p:spPr>
          <a:xfrm>
            <a:off x="383309" y="4099891"/>
            <a:ext cx="6160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console.log(a);   // Error (TDZ)</a:t>
            </a:r>
          </a:p>
          <a:p>
            <a:r>
              <a:rPr lang="en-IN" dirty="0"/>
              <a:t>let a = 50;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F80B1E5-9ED9-1627-8C89-0AC80211A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1" y="4816360"/>
            <a:ext cx="768184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error?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exists in memory but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accessible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until the declaration line.</a:t>
            </a:r>
          </a:p>
        </p:txBody>
      </p:sp>
    </p:spTree>
    <p:extLst>
      <p:ext uri="{BB962C8B-B14F-4D97-AF65-F5344CB8AC3E}">
        <p14:creationId xmlns:p14="http://schemas.microsoft.com/office/powerpoint/2010/main" val="169094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let — Modern Variable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9CCA8D-8AE5-6381-BADF-5583B7A3E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45" y="1540686"/>
            <a:ext cx="6502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TDZ is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between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variable is hoisted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variable is actually declared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this time: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be accessed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417B7-10A4-C45A-B1BA-EE87367F9AC5}"/>
              </a:ext>
            </a:extLst>
          </p:cNvPr>
          <p:cNvSpPr txBox="1"/>
          <p:nvPr/>
        </p:nvSpPr>
        <p:spPr>
          <a:xfrm>
            <a:off x="512618" y="4552356"/>
            <a:ext cx="6160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console.log(a);  //  TDZ Error</a:t>
            </a:r>
          </a:p>
          <a:p>
            <a:r>
              <a:rPr lang="en-IN" dirty="0"/>
              <a:t>let a = 10;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58024F-98E2-1711-7010-4EA2F96CDA53}"/>
              </a:ext>
            </a:extLst>
          </p:cNvPr>
          <p:cNvSpPr txBox="1"/>
          <p:nvPr/>
        </p:nvSpPr>
        <p:spPr>
          <a:xfrm>
            <a:off x="341745" y="5749697"/>
            <a:ext cx="6160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Start of Scope  → Hoisting → TDZ → Declaration → Usage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4D658C-8611-0A87-B63C-E088CC66B7BC}"/>
              </a:ext>
            </a:extLst>
          </p:cNvPr>
          <p:cNvSpPr txBox="1"/>
          <p:nvPr/>
        </p:nvSpPr>
        <p:spPr>
          <a:xfrm>
            <a:off x="8007927" y="2005981"/>
            <a:ext cx="3925455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Start of Scope                 Declaration Line</a:t>
            </a:r>
          </a:p>
          <a:p>
            <a:r>
              <a:rPr lang="en-IN" dirty="0"/>
              <a:t>      |______________________|</a:t>
            </a:r>
          </a:p>
          <a:p>
            <a:r>
              <a:rPr lang="en-IN" dirty="0"/>
              <a:t>                TDZ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958EAE-6B88-B884-088F-925BABF8D6D2}"/>
              </a:ext>
            </a:extLst>
          </p:cNvPr>
          <p:cNvSpPr txBox="1"/>
          <p:nvPr/>
        </p:nvSpPr>
        <p:spPr>
          <a:xfrm>
            <a:off x="8261927" y="3467025"/>
            <a:ext cx="26092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During the TDZ: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 exists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is </a:t>
            </a:r>
            <a:r>
              <a:rPr lang="en-US" b="1" dirty="0"/>
              <a:t>not usable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78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let — Modern Variable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4D658C-8611-0A87-B63C-E088CC66B7BC}"/>
              </a:ext>
            </a:extLst>
          </p:cNvPr>
          <p:cNvSpPr txBox="1"/>
          <p:nvPr/>
        </p:nvSpPr>
        <p:spPr>
          <a:xfrm>
            <a:off x="226562" y="1482768"/>
            <a:ext cx="3925455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Start of Scope                 Declaration Line</a:t>
            </a:r>
          </a:p>
          <a:p>
            <a:r>
              <a:rPr lang="en-IN" dirty="0"/>
              <a:t>      |______________________|</a:t>
            </a:r>
          </a:p>
          <a:p>
            <a:r>
              <a:rPr lang="en-IN" dirty="0"/>
              <a:t>                TDZ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958EAE-6B88-B884-088F-925BABF8D6D2}"/>
              </a:ext>
            </a:extLst>
          </p:cNvPr>
          <p:cNvSpPr txBox="1"/>
          <p:nvPr/>
        </p:nvSpPr>
        <p:spPr>
          <a:xfrm>
            <a:off x="226562" y="2758813"/>
            <a:ext cx="26092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During the TDZ: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 exists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is </a:t>
            </a:r>
            <a:r>
              <a:rPr lang="en-US" b="1" dirty="0"/>
              <a:t>not usable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F993D5-A29F-EA7E-EDFF-04AC9921F4CD}"/>
              </a:ext>
            </a:extLst>
          </p:cNvPr>
          <p:cNvSpPr txBox="1"/>
          <p:nvPr/>
        </p:nvSpPr>
        <p:spPr>
          <a:xfrm>
            <a:off x="336177" y="458885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TDZ Exists?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8174A-344B-E45D-A395-69A00D84459D}"/>
              </a:ext>
            </a:extLst>
          </p:cNvPr>
          <p:cNvSpPr txBox="1"/>
          <p:nvPr/>
        </p:nvSpPr>
        <p:spPr>
          <a:xfrm>
            <a:off x="793376" y="5052066"/>
            <a:ext cx="7391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</a:t>
            </a:r>
            <a:r>
              <a:rPr lang="en-US" b="1" dirty="0"/>
              <a:t>prevent bugs</a:t>
            </a:r>
            <a:r>
              <a:rPr lang="en-US" dirty="0"/>
              <a:t> caused by using variables before they are ready.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CC4E8-8466-B081-65B7-1EE0F6BD2A23}"/>
              </a:ext>
            </a:extLst>
          </p:cNvPr>
          <p:cNvSpPr txBox="1"/>
          <p:nvPr/>
        </p:nvSpPr>
        <p:spPr>
          <a:xfrm>
            <a:off x="793376" y="5466662"/>
            <a:ext cx="2460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console.log(price);</a:t>
            </a:r>
          </a:p>
          <a:p>
            <a:r>
              <a:rPr lang="en-IN" dirty="0"/>
              <a:t>let price = 100;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0F8D0C3-7CC7-BD29-24ED-1BA8CA751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835" y="6119067"/>
            <a:ext cx="85403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TDZ, JavaScript might assume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price = undefined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causing wrong results.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TDZ protects you from mistakes.</a:t>
            </a:r>
          </a:p>
        </p:txBody>
      </p:sp>
    </p:spTree>
    <p:extLst>
      <p:ext uri="{BB962C8B-B14F-4D97-AF65-F5344CB8AC3E}">
        <p14:creationId xmlns:p14="http://schemas.microsoft.com/office/powerpoint/2010/main" val="330634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6" grpId="0"/>
      <p:bldP spid="9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const — Constant Value Variable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776A3-92EC-D068-C8FA-A071A073CC92}"/>
              </a:ext>
            </a:extLst>
          </p:cNvPr>
          <p:cNvSpPr txBox="1"/>
          <p:nvPr/>
        </p:nvSpPr>
        <p:spPr>
          <a:xfrm>
            <a:off x="67236" y="1433463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Block-scoped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4AE0A-6CD1-2CAB-834A-732B2A3082E7}"/>
              </a:ext>
            </a:extLst>
          </p:cNvPr>
          <p:cNvSpPr txBox="1"/>
          <p:nvPr/>
        </p:nvSpPr>
        <p:spPr>
          <a:xfrm>
            <a:off x="632012" y="1891087"/>
            <a:ext cx="6158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</a:t>
            </a:r>
          </a:p>
          <a:p>
            <a:r>
              <a:rPr lang="en-IN" dirty="0"/>
              <a:t>  const pi = 3.14;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console.log(pi); // Error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4C714A-9B45-65ED-ECDC-BB52F57228C2}"/>
              </a:ext>
            </a:extLst>
          </p:cNvPr>
          <p:cNvSpPr txBox="1"/>
          <p:nvPr/>
        </p:nvSpPr>
        <p:spPr>
          <a:xfrm>
            <a:off x="67236" y="363733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Value cannot be reassigned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2F8FF6-DC73-C783-7352-EC70B292E266}"/>
              </a:ext>
            </a:extLst>
          </p:cNvPr>
          <p:cNvSpPr txBox="1"/>
          <p:nvPr/>
        </p:nvSpPr>
        <p:spPr>
          <a:xfrm>
            <a:off x="632012" y="4254902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age = 25;</a:t>
            </a:r>
          </a:p>
          <a:p>
            <a:r>
              <a:rPr lang="en-IN" dirty="0"/>
              <a:t>age = 30;  // </a:t>
            </a:r>
            <a:r>
              <a:rPr lang="en-IN" dirty="0" err="1"/>
              <a:t>TypeError</a:t>
            </a:r>
            <a:endParaRPr lang="en-IN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A799383F-F383-6D2C-02E0-3B4339C91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6" y="5017609"/>
            <a:ext cx="308610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Hoisted with TDZ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Same behavior as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C1F6F5-6331-CABE-54B5-2427DED9DD7E}"/>
              </a:ext>
            </a:extLst>
          </p:cNvPr>
          <p:cNvSpPr txBox="1"/>
          <p:nvPr/>
        </p:nvSpPr>
        <p:spPr>
          <a:xfrm>
            <a:off x="2792506" y="6001817"/>
            <a:ext cx="3169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</a:t>
            </a:r>
            <a:r>
              <a:rPr lang="en-IN" dirty="0" err="1"/>
              <a:t>msg</a:t>
            </a:r>
            <a:r>
              <a:rPr lang="en-IN" dirty="0"/>
              <a:t>);  // Error (TDZ)</a:t>
            </a:r>
          </a:p>
          <a:p>
            <a:r>
              <a:rPr lang="en-IN" dirty="0"/>
              <a:t>const </a:t>
            </a:r>
            <a:r>
              <a:rPr lang="en-IN" dirty="0" err="1"/>
              <a:t>msg</a:t>
            </a:r>
            <a:r>
              <a:rPr lang="en-IN" dirty="0"/>
              <a:t> = "Hello";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29C4F2-428E-A900-5269-BC2E50E88D02}"/>
              </a:ext>
            </a:extLst>
          </p:cNvPr>
          <p:cNvSpPr txBox="1"/>
          <p:nvPr/>
        </p:nvSpPr>
        <p:spPr>
          <a:xfrm>
            <a:off x="7920318" y="6013120"/>
            <a:ext cx="3393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Even though hoisted, it's not usable before the declaration.</a:t>
            </a:r>
          </a:p>
        </p:txBody>
      </p:sp>
    </p:spTree>
    <p:extLst>
      <p:ext uri="{BB962C8B-B14F-4D97-AF65-F5344CB8AC3E}">
        <p14:creationId xmlns:p14="http://schemas.microsoft.com/office/powerpoint/2010/main" val="309806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Template Literals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0EBFE-430B-AF47-A45F-E50C02CFBF95}"/>
              </a:ext>
            </a:extLst>
          </p:cNvPr>
          <p:cNvSpPr txBox="1"/>
          <p:nvPr/>
        </p:nvSpPr>
        <p:spPr>
          <a:xfrm>
            <a:off x="300318" y="1630687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Template literals are written using </a:t>
            </a:r>
            <a:r>
              <a:rPr lang="en-US" b="1" dirty="0"/>
              <a:t>backticks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6F35F-C188-3896-F7DC-EA16192509B1}"/>
              </a:ext>
            </a:extLst>
          </p:cNvPr>
          <p:cNvSpPr txBox="1"/>
          <p:nvPr/>
        </p:nvSpPr>
        <p:spPr>
          <a:xfrm>
            <a:off x="2173941" y="2285535"/>
            <a:ext cx="402963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`  (backtick, not single quote!)  `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34BF6-516C-CE6B-16CB-F3BE1DE493E2}"/>
              </a:ext>
            </a:extLst>
          </p:cNvPr>
          <p:cNvSpPr txBox="1"/>
          <p:nvPr/>
        </p:nvSpPr>
        <p:spPr>
          <a:xfrm>
            <a:off x="6033248" y="2940383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They make working with strings easier and more powerful.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A43D2-FC86-358A-DB46-FFBA3819258E}"/>
              </a:ext>
            </a:extLst>
          </p:cNvPr>
          <p:cNvSpPr txBox="1"/>
          <p:nvPr/>
        </p:nvSpPr>
        <p:spPr>
          <a:xfrm>
            <a:off x="300318" y="3814046"/>
            <a:ext cx="6158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Multi-Line Strings</a:t>
            </a:r>
          </a:p>
          <a:p>
            <a:endParaRPr lang="en-US" b="1" dirty="0"/>
          </a:p>
          <a:p>
            <a:r>
              <a:rPr lang="en-US" b="1" dirty="0"/>
              <a:t>	Before ES6 (old JavaScript)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795615-0977-156A-86DF-F1DBB4F88251}"/>
              </a:ext>
            </a:extLst>
          </p:cNvPr>
          <p:cNvSpPr txBox="1"/>
          <p:nvPr/>
        </p:nvSpPr>
        <p:spPr>
          <a:xfrm>
            <a:off x="2604247" y="4857981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couldn’t easily write multi-line strings.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BF27EE-88CD-AD16-F342-86670FDA370A}"/>
              </a:ext>
            </a:extLst>
          </p:cNvPr>
          <p:cNvSpPr txBox="1"/>
          <p:nvPr/>
        </p:nvSpPr>
        <p:spPr>
          <a:xfrm>
            <a:off x="3464859" y="5370241"/>
            <a:ext cx="38324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</a:t>
            </a:r>
            <a:r>
              <a:rPr lang="en-IN" b="1" dirty="0" err="1"/>
              <a:t>msg</a:t>
            </a:r>
            <a:r>
              <a:rPr lang="en-IN" b="1" dirty="0"/>
              <a:t> = "Hello\n" +</a:t>
            </a:r>
          </a:p>
          <a:p>
            <a:r>
              <a:rPr lang="en-IN" b="1" dirty="0"/>
              <a:t>            "Welcome to JavaScript\n" +</a:t>
            </a:r>
          </a:p>
          <a:p>
            <a:r>
              <a:rPr lang="en-IN" b="1" dirty="0"/>
              <a:t>            "Have a great day!";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7EE190-B9BB-C4FD-7512-6864317B68D7}"/>
              </a:ext>
            </a:extLst>
          </p:cNvPr>
          <p:cNvSpPr txBox="1"/>
          <p:nvPr/>
        </p:nvSpPr>
        <p:spPr>
          <a:xfrm>
            <a:off x="8359589" y="6293571"/>
            <a:ext cx="3007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0000"/>
                </a:highlight>
              </a:rPr>
              <a:t>Hard to read + messy.</a:t>
            </a:r>
          </a:p>
        </p:txBody>
      </p:sp>
    </p:spTree>
    <p:extLst>
      <p:ext uri="{BB962C8B-B14F-4D97-AF65-F5344CB8AC3E}">
        <p14:creationId xmlns:p14="http://schemas.microsoft.com/office/powerpoint/2010/main" val="177542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Template Literals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AC652-9F20-B785-BBA8-D54DDBF0AF23}"/>
              </a:ext>
            </a:extLst>
          </p:cNvPr>
          <p:cNvSpPr txBox="1"/>
          <p:nvPr/>
        </p:nvSpPr>
        <p:spPr>
          <a:xfrm>
            <a:off x="228600" y="1541040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 ES6 Template Literals (modern way)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A1EF7-C89F-C4EA-5EC7-0DE1F53A8659}"/>
              </a:ext>
            </a:extLst>
          </p:cNvPr>
          <p:cNvSpPr txBox="1"/>
          <p:nvPr/>
        </p:nvSpPr>
        <p:spPr>
          <a:xfrm>
            <a:off x="1555377" y="2106241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Just press </a:t>
            </a:r>
            <a:r>
              <a:rPr lang="en-IN" b="1" dirty="0"/>
              <a:t>Enter</a:t>
            </a:r>
            <a:r>
              <a:rPr lang="en-IN" dirty="0"/>
              <a:t> inside backticks: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B7E60-2946-8C03-DA13-9A31BFF3D089}"/>
              </a:ext>
            </a:extLst>
          </p:cNvPr>
          <p:cNvSpPr txBox="1"/>
          <p:nvPr/>
        </p:nvSpPr>
        <p:spPr>
          <a:xfrm>
            <a:off x="4208930" y="2671442"/>
            <a:ext cx="26759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</a:t>
            </a:r>
            <a:r>
              <a:rPr lang="en-IN" b="1" dirty="0" err="1"/>
              <a:t>msg</a:t>
            </a:r>
            <a:r>
              <a:rPr lang="en-IN" b="1" dirty="0"/>
              <a:t> = `</a:t>
            </a:r>
          </a:p>
          <a:p>
            <a:r>
              <a:rPr lang="en-IN" b="1" dirty="0"/>
              <a:t>Hello</a:t>
            </a:r>
          </a:p>
          <a:p>
            <a:r>
              <a:rPr lang="en-IN" b="1" dirty="0"/>
              <a:t>Welcome to JavaScript</a:t>
            </a:r>
          </a:p>
          <a:p>
            <a:r>
              <a:rPr lang="en-IN" b="1" dirty="0"/>
              <a:t>Have a great day!</a:t>
            </a:r>
          </a:p>
          <a:p>
            <a:r>
              <a:rPr lang="en-IN" b="1" dirty="0"/>
              <a:t>`;</a:t>
            </a:r>
          </a:p>
          <a:p>
            <a:endParaRPr lang="en-IN" b="1" dirty="0"/>
          </a:p>
          <a:p>
            <a:r>
              <a:rPr lang="en-IN" b="1" dirty="0"/>
              <a:t>console.log(</a:t>
            </a:r>
            <a:r>
              <a:rPr lang="en-IN" b="1" dirty="0" err="1"/>
              <a:t>msg</a:t>
            </a:r>
            <a:r>
              <a:rPr lang="en-IN" b="1" dirty="0"/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8D60BA-0D88-C04F-C0CD-D18B93342B4F}"/>
              </a:ext>
            </a:extLst>
          </p:cNvPr>
          <p:cNvSpPr txBox="1"/>
          <p:nvPr/>
        </p:nvSpPr>
        <p:spPr>
          <a:xfrm>
            <a:off x="228600" y="4674984"/>
            <a:ext cx="61587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it's useful?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formatting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Looks exactly like the output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Perfect for HTML, emails, paragraph text, instructions, etc.</a:t>
            </a:r>
          </a:p>
        </p:txBody>
      </p:sp>
    </p:spTree>
    <p:extLst>
      <p:ext uri="{BB962C8B-B14F-4D97-AF65-F5344CB8AC3E}">
        <p14:creationId xmlns:p14="http://schemas.microsoft.com/office/powerpoint/2010/main" val="60837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Template Literals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06D6B-9FAD-9F9A-5B16-F038AFD619DB}"/>
              </a:ext>
            </a:extLst>
          </p:cNvPr>
          <p:cNvSpPr txBox="1"/>
          <p:nvPr/>
        </p:nvSpPr>
        <p:spPr>
          <a:xfrm>
            <a:off x="174812" y="146932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String Interpolation (Embedding Variables inside Strings)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616EC-6115-F0E1-5502-F998E06E01CA}"/>
              </a:ext>
            </a:extLst>
          </p:cNvPr>
          <p:cNvSpPr txBox="1"/>
          <p:nvPr/>
        </p:nvSpPr>
        <p:spPr>
          <a:xfrm>
            <a:off x="2684930" y="1962805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means you can </a:t>
            </a:r>
            <a:r>
              <a:rPr lang="en-US" b="1" dirty="0"/>
              <a:t>insert variables directly into a string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75733-2832-F838-36F5-B825673A0E4F}"/>
              </a:ext>
            </a:extLst>
          </p:cNvPr>
          <p:cNvSpPr txBox="1"/>
          <p:nvPr/>
        </p:nvSpPr>
        <p:spPr>
          <a:xfrm>
            <a:off x="174812" y="2456288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Old way (before ES6)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515AD-80AE-0240-8CFC-C586468B0F73}"/>
              </a:ext>
            </a:extLst>
          </p:cNvPr>
          <p:cNvSpPr txBox="1"/>
          <p:nvPr/>
        </p:nvSpPr>
        <p:spPr>
          <a:xfrm>
            <a:off x="2944906" y="2819871"/>
            <a:ext cx="6158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name = "Ani";</a:t>
            </a:r>
          </a:p>
          <a:p>
            <a:r>
              <a:rPr lang="en-IN" b="1" dirty="0"/>
              <a:t>const age = 20;</a:t>
            </a:r>
          </a:p>
          <a:p>
            <a:r>
              <a:rPr lang="en-IN" b="1" dirty="0"/>
              <a:t>const </a:t>
            </a:r>
            <a:r>
              <a:rPr lang="en-IN" b="1" dirty="0" err="1"/>
              <a:t>msg</a:t>
            </a:r>
            <a:r>
              <a:rPr lang="en-IN" b="1" dirty="0"/>
              <a:t> = "My name is " + name + " and I am " + age + " years old.";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D574C7E-5BB3-D329-821F-725711650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5106" y="4199117"/>
            <a:ext cx="33015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Too much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 panose="020B0604020202020204" pitchFamily="34" charset="-128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+ too many quotes.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4A69F-FF41-55F9-EA84-F4D1D50C1D1A}"/>
              </a:ext>
            </a:extLst>
          </p:cNvPr>
          <p:cNvSpPr txBox="1"/>
          <p:nvPr/>
        </p:nvSpPr>
        <p:spPr>
          <a:xfrm>
            <a:off x="174812" y="467868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ES6 Modern Interpolation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11C075B-8A0C-7B02-8E3A-770CB2A2D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29" y="5171734"/>
            <a:ext cx="27751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${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 backticks: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E137E1-F020-E88B-8D7D-CAC8334B9410}"/>
              </a:ext>
            </a:extLst>
          </p:cNvPr>
          <p:cNvSpPr txBox="1"/>
          <p:nvPr/>
        </p:nvSpPr>
        <p:spPr>
          <a:xfrm>
            <a:off x="3097848" y="5186083"/>
            <a:ext cx="6158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name = "Ani";</a:t>
            </a:r>
          </a:p>
          <a:p>
            <a:r>
              <a:rPr lang="en-IN" b="1" dirty="0"/>
              <a:t>const age = 20;</a:t>
            </a:r>
          </a:p>
          <a:p>
            <a:endParaRPr lang="en-IN" b="1" dirty="0"/>
          </a:p>
          <a:p>
            <a:r>
              <a:rPr lang="en-IN" b="1" dirty="0"/>
              <a:t>const </a:t>
            </a:r>
            <a:r>
              <a:rPr lang="en-IN" b="1" dirty="0" err="1"/>
              <a:t>msg</a:t>
            </a:r>
            <a:r>
              <a:rPr lang="en-IN" b="1" dirty="0"/>
              <a:t> = `My name is ${name} and I am ${age} years old.`;</a:t>
            </a:r>
          </a:p>
          <a:p>
            <a:r>
              <a:rPr lang="en-IN" b="1" dirty="0"/>
              <a:t>console.log(</a:t>
            </a:r>
            <a:r>
              <a:rPr lang="en-IN" b="1" dirty="0" err="1"/>
              <a:t>msg</a:t>
            </a:r>
            <a:r>
              <a:rPr lang="en-IN" b="1" dirty="0"/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FA1917-2416-8C42-DA89-AE3C37EDB4D7}"/>
              </a:ext>
            </a:extLst>
          </p:cNvPr>
          <p:cNvSpPr txBox="1"/>
          <p:nvPr/>
        </p:nvSpPr>
        <p:spPr>
          <a:xfrm>
            <a:off x="9525001" y="5205395"/>
            <a:ext cx="2131650" cy="14773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You can insert: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Expressions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382211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Template Literals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BE30B-8B8F-6F9D-4E8E-E8041AE2319E}"/>
              </a:ext>
            </a:extLst>
          </p:cNvPr>
          <p:cNvSpPr txBox="1"/>
          <p:nvPr/>
        </p:nvSpPr>
        <p:spPr>
          <a:xfrm>
            <a:off x="129989" y="149621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Tagged Templates (Advanced but powerful)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5C063-273B-1D9F-6D2F-82C27339757C}"/>
              </a:ext>
            </a:extLst>
          </p:cNvPr>
          <p:cNvSpPr txBox="1"/>
          <p:nvPr/>
        </p:nvSpPr>
        <p:spPr>
          <a:xfrm>
            <a:off x="398930" y="2149332"/>
            <a:ext cx="86464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Tagged templates allow you to </a:t>
            </a:r>
            <a:r>
              <a:rPr lang="en-US" b="1" dirty="0"/>
              <a:t>process</a:t>
            </a:r>
            <a:r>
              <a:rPr lang="en-US" dirty="0"/>
              <a:t> template literals with a function.</a:t>
            </a:r>
          </a:p>
          <a:p>
            <a:endParaRPr lang="en-US" b="1" dirty="0"/>
          </a:p>
          <a:p>
            <a:r>
              <a:rPr lang="en-US" b="1" dirty="0"/>
              <a:t>How it works: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create a function (called a “tag function”).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That function receives: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string parts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interpolated values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modify or format the final output.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23976-82A5-2A9D-0A48-7A81909CD379}"/>
              </a:ext>
            </a:extLst>
          </p:cNvPr>
          <p:cNvSpPr txBox="1"/>
          <p:nvPr/>
        </p:nvSpPr>
        <p:spPr>
          <a:xfrm>
            <a:off x="5858435" y="3185209"/>
            <a:ext cx="52309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function tag(strings, ...values) {</a:t>
            </a:r>
          </a:p>
          <a:p>
            <a:r>
              <a:rPr lang="en-IN" b="1" dirty="0"/>
              <a:t>  console.log(strings);</a:t>
            </a:r>
          </a:p>
          <a:p>
            <a:r>
              <a:rPr lang="en-IN" b="1" dirty="0"/>
              <a:t>  console.log(values);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const name = "Ani";</a:t>
            </a:r>
          </a:p>
          <a:p>
            <a:r>
              <a:rPr lang="en-IN" b="1" dirty="0"/>
              <a:t>const age = 20;</a:t>
            </a:r>
          </a:p>
          <a:p>
            <a:endParaRPr lang="en-IN" b="1" dirty="0"/>
          </a:p>
          <a:p>
            <a:r>
              <a:rPr lang="en-IN" b="1" dirty="0" err="1"/>
              <a:t>tag`My</a:t>
            </a:r>
            <a:r>
              <a:rPr lang="en-IN" b="1" dirty="0"/>
              <a:t> name is ${name} and I am ${age} years old.`;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D4E0DD-1896-192C-353B-78C79C725E48}"/>
              </a:ext>
            </a:extLst>
          </p:cNvPr>
          <p:cNvSpPr txBox="1"/>
          <p:nvPr/>
        </p:nvSpPr>
        <p:spPr>
          <a:xfrm>
            <a:off x="129990" y="5665694"/>
            <a:ext cx="5114364" cy="92333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strings → ["My name is ", " and I am ", " years old."]</a:t>
            </a:r>
          </a:p>
          <a:p>
            <a:r>
              <a:rPr lang="en-IN" dirty="0"/>
              <a:t>values  → ["Ani", 20]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0E8510-FE6D-5508-512D-FCA1AEA4E905}"/>
              </a:ext>
            </a:extLst>
          </p:cNvPr>
          <p:cNvSpPr txBox="1"/>
          <p:nvPr/>
        </p:nvSpPr>
        <p:spPr>
          <a:xfrm>
            <a:off x="6096000" y="6324530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JavaScript breaks the sentence into string chunks and values.</a:t>
            </a:r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6842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2930A-FCE5-680F-6183-8DF480FA2278}"/>
              </a:ext>
            </a:extLst>
          </p:cNvPr>
          <p:cNvSpPr txBox="1"/>
          <p:nvPr/>
        </p:nvSpPr>
        <p:spPr>
          <a:xfrm>
            <a:off x="103093" y="1537011"/>
            <a:ext cx="7911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Arrow functions are a </a:t>
            </a:r>
            <a:r>
              <a:rPr lang="en-US" b="1" dirty="0"/>
              <a:t>shorter and modern way</a:t>
            </a:r>
            <a:r>
              <a:rPr lang="en-US" dirty="0"/>
              <a:t> to write functions in JavaScript.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F6DC2-C0A1-1CA7-D1B4-C736FC9EBA8A}"/>
              </a:ext>
            </a:extLst>
          </p:cNvPr>
          <p:cNvSpPr txBox="1"/>
          <p:nvPr/>
        </p:nvSpPr>
        <p:spPr>
          <a:xfrm>
            <a:off x="4630271" y="2258216"/>
            <a:ext cx="1017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() =&gt; {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6A8DB-9481-1CCB-6DCB-C1171FF1A2D7}"/>
              </a:ext>
            </a:extLst>
          </p:cNvPr>
          <p:cNvSpPr txBox="1"/>
          <p:nvPr/>
        </p:nvSpPr>
        <p:spPr>
          <a:xfrm>
            <a:off x="6701118" y="2831957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Think of arrow functions as </a:t>
            </a:r>
            <a:r>
              <a:rPr lang="en-US" b="1" dirty="0"/>
              <a:t>mini-functions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9605E-AC3C-4A34-4A50-B2EDFA18C76C}"/>
              </a:ext>
            </a:extLst>
          </p:cNvPr>
          <p:cNvSpPr txBox="1"/>
          <p:nvPr/>
        </p:nvSpPr>
        <p:spPr>
          <a:xfrm>
            <a:off x="304800" y="3429000"/>
            <a:ext cx="6490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Traditional Way:</a:t>
            </a:r>
          </a:p>
          <a:p>
            <a:endParaRPr lang="en-IN" dirty="0"/>
          </a:p>
          <a:p>
            <a:r>
              <a:rPr lang="en-IN" dirty="0"/>
              <a:t>function add(a, b) {</a:t>
            </a:r>
          </a:p>
          <a:p>
            <a:r>
              <a:rPr lang="en-IN" dirty="0"/>
              <a:t>  return a + b;</a:t>
            </a:r>
          </a:p>
          <a:p>
            <a:r>
              <a:rPr lang="en-IN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E4FB0-90E2-ABD7-0C25-668D550F3B21}"/>
              </a:ext>
            </a:extLst>
          </p:cNvPr>
          <p:cNvSpPr txBox="1"/>
          <p:nvPr/>
        </p:nvSpPr>
        <p:spPr>
          <a:xfrm>
            <a:off x="360830" y="5359986"/>
            <a:ext cx="6490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Arrow Function</a:t>
            </a:r>
          </a:p>
          <a:p>
            <a:endParaRPr lang="en-IN" b="1" dirty="0"/>
          </a:p>
          <a:p>
            <a:r>
              <a:rPr lang="en-IN" dirty="0"/>
              <a:t>const add = (a, b) =&gt; {</a:t>
            </a:r>
          </a:p>
          <a:p>
            <a:r>
              <a:rPr lang="en-IN" dirty="0"/>
              <a:t>  return a + b;</a:t>
            </a:r>
          </a:p>
          <a:p>
            <a:r>
              <a:rPr lang="en-IN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5338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1B5512-39FC-7C36-D167-741B8ECE3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0" y="1823882"/>
            <a:ext cx="64812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 with ONE parameter (no brackets needed)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5E4445-27FB-B47D-29D8-DA8856871CD3}"/>
              </a:ext>
            </a:extLst>
          </p:cNvPr>
          <p:cNvSpPr txBox="1"/>
          <p:nvPr/>
        </p:nvSpPr>
        <p:spPr>
          <a:xfrm>
            <a:off x="4217895" y="2662535"/>
            <a:ext cx="2918011" cy="92333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const square = x =&gt; {</a:t>
            </a:r>
          </a:p>
          <a:p>
            <a:r>
              <a:rPr lang="en-IN" b="1" dirty="0"/>
              <a:t>  return x * x;</a:t>
            </a:r>
          </a:p>
          <a:p>
            <a:r>
              <a:rPr lang="en-IN" b="1" dirty="0"/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39833-4444-8C3D-4F36-4FD040090AB6}"/>
              </a:ext>
            </a:extLst>
          </p:cNvPr>
          <p:cNvSpPr txBox="1"/>
          <p:nvPr/>
        </p:nvSpPr>
        <p:spPr>
          <a:xfrm>
            <a:off x="134470" y="420312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Arrow function with NO parameters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ECAA0-2F05-520C-CAB2-F1B73232B1A8}"/>
              </a:ext>
            </a:extLst>
          </p:cNvPr>
          <p:cNvSpPr txBox="1"/>
          <p:nvPr/>
        </p:nvSpPr>
        <p:spPr>
          <a:xfrm>
            <a:off x="4217895" y="4728046"/>
            <a:ext cx="2828364" cy="92333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const hello = () =&gt; {</a:t>
            </a:r>
          </a:p>
          <a:p>
            <a:r>
              <a:rPr lang="en-IN" dirty="0"/>
              <a:t>  console.log("Hello!");</a:t>
            </a:r>
          </a:p>
          <a:p>
            <a:r>
              <a:rPr lang="en-IN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0147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B7BF6-9687-1EE2-3DC5-9C260BAC0B73}"/>
              </a:ext>
            </a:extLst>
          </p:cNvPr>
          <p:cNvSpPr txBox="1"/>
          <p:nvPr/>
        </p:nvSpPr>
        <p:spPr>
          <a:xfrm>
            <a:off x="228599" y="1572870"/>
            <a:ext cx="705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Arrow function with </a:t>
            </a:r>
            <a:r>
              <a:rPr lang="en-US" b="1" dirty="0" err="1"/>
              <a:t>IMPlicit</a:t>
            </a:r>
            <a:r>
              <a:rPr lang="en-US" b="1" dirty="0"/>
              <a:t> return (no return keyword needed)</a:t>
            </a:r>
            <a:endParaRPr lang="en-IN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F640A95-F63D-B7C1-CEEB-33B51016B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164" y="2124275"/>
            <a:ext cx="762000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function has only ONE line that returns something, you can remove: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return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{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curly braces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47A6BC-00E3-9259-5F8A-FB033A67C51D}"/>
              </a:ext>
            </a:extLst>
          </p:cNvPr>
          <p:cNvSpPr txBox="1"/>
          <p:nvPr/>
        </p:nvSpPr>
        <p:spPr>
          <a:xfrm>
            <a:off x="2689413" y="391668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add = (a, b) =&gt; a + b;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BFD7205-CC7B-F08C-A569-0B83AA6C5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280" y="5100464"/>
            <a:ext cx="39308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line automatically returns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 + 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50324-5BCB-128A-50EB-5216229CCBDB}"/>
              </a:ext>
            </a:extLst>
          </p:cNvPr>
          <p:cNvSpPr txBox="1"/>
          <p:nvPr/>
        </p:nvSpPr>
        <p:spPr>
          <a:xfrm>
            <a:off x="228599" y="5637911"/>
            <a:ext cx="4576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an arrow function uses </a:t>
            </a:r>
            <a:r>
              <a:rPr lang="en-US" b="1" dirty="0"/>
              <a:t>no curly braces</a:t>
            </a:r>
            <a:r>
              <a:rPr lang="en-US" dirty="0"/>
              <a:t>,</a:t>
            </a:r>
          </a:p>
          <a:p>
            <a:r>
              <a:rPr lang="en-US" dirty="0"/>
              <a:t>JavaScript </a:t>
            </a:r>
            <a:r>
              <a:rPr lang="en-US" b="1" dirty="0"/>
              <a:t>automatically returns the value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FC14A-2F40-D798-6529-67A8ACC136D7}"/>
              </a:ext>
            </a:extLst>
          </p:cNvPr>
          <p:cNvSpPr txBox="1"/>
          <p:nvPr/>
        </p:nvSpPr>
        <p:spPr>
          <a:xfrm>
            <a:off x="5179358" y="5637910"/>
            <a:ext cx="3812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greet = () =&gt; "Hello world!";</a:t>
            </a:r>
          </a:p>
          <a:p>
            <a:r>
              <a:rPr lang="en-IN" dirty="0"/>
              <a:t>console.log(greet()); // "Hello world!"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1C744-232C-1804-B03F-64E8B8A23981}"/>
              </a:ext>
            </a:extLst>
          </p:cNvPr>
          <p:cNvSpPr txBox="1"/>
          <p:nvPr/>
        </p:nvSpPr>
        <p:spPr>
          <a:xfrm>
            <a:off x="8009965" y="6390946"/>
            <a:ext cx="3957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But if you use { }, you MUST use return.</a:t>
            </a:r>
          </a:p>
        </p:txBody>
      </p:sp>
    </p:spTree>
    <p:extLst>
      <p:ext uri="{BB962C8B-B14F-4D97-AF65-F5344CB8AC3E}">
        <p14:creationId xmlns:p14="http://schemas.microsoft.com/office/powerpoint/2010/main" val="80134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BDF8A-D5E3-FDC7-DA73-5249AA10E34C}"/>
              </a:ext>
            </a:extLst>
          </p:cNvPr>
          <p:cNvSpPr txBox="1"/>
          <p:nvPr/>
        </p:nvSpPr>
        <p:spPr>
          <a:xfrm>
            <a:off x="255494" y="146932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Arrow Functions &amp; This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ED4606-0720-1CDB-D69F-B7DDBD76A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23" y="1905472"/>
            <a:ext cx="93017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functions do NOT have their own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this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borrow ‘this’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place where they are written.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called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lexical 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311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606C6-FDAB-055B-379D-D35D868C2F0B}"/>
              </a:ext>
            </a:extLst>
          </p:cNvPr>
          <p:cNvSpPr txBox="1"/>
          <p:nvPr/>
        </p:nvSpPr>
        <p:spPr>
          <a:xfrm>
            <a:off x="300318" y="1567934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Traditional function: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7FF93-2AAA-487C-92A8-5856E899A8BE}"/>
              </a:ext>
            </a:extLst>
          </p:cNvPr>
          <p:cNvSpPr txBox="1"/>
          <p:nvPr/>
        </p:nvSpPr>
        <p:spPr>
          <a:xfrm>
            <a:off x="1044388" y="2141170"/>
            <a:ext cx="46302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student = {</a:t>
            </a:r>
          </a:p>
          <a:p>
            <a:r>
              <a:rPr lang="en-IN" b="1" dirty="0"/>
              <a:t>  name: "Ani",</a:t>
            </a:r>
          </a:p>
          <a:p>
            <a:r>
              <a:rPr lang="en-IN" b="1" dirty="0"/>
              <a:t>  show() {</a:t>
            </a:r>
          </a:p>
          <a:p>
            <a:r>
              <a:rPr lang="en-IN" b="1" dirty="0"/>
              <a:t>    console.log(this.name);  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  <a:p>
            <a:endParaRPr lang="en-IN" b="1" dirty="0"/>
          </a:p>
          <a:p>
            <a:r>
              <a:rPr lang="en-IN" b="1" dirty="0" err="1"/>
              <a:t>student.show</a:t>
            </a:r>
            <a:r>
              <a:rPr lang="en-IN" b="1" dirty="0"/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9246F-DD41-8147-C9E2-6CF5A54CEFCF}"/>
              </a:ext>
            </a:extLst>
          </p:cNvPr>
          <p:cNvSpPr txBox="1"/>
          <p:nvPr/>
        </p:nvSpPr>
        <p:spPr>
          <a:xfrm>
            <a:off x="5419166" y="4342093"/>
            <a:ext cx="63335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student = {</a:t>
            </a:r>
          </a:p>
          <a:p>
            <a:r>
              <a:rPr lang="en-IN" b="1" dirty="0"/>
              <a:t>  name: "Aisha",</a:t>
            </a:r>
          </a:p>
          <a:p>
            <a:r>
              <a:rPr lang="en-IN" b="1" dirty="0"/>
              <a:t>  show: () =&gt; {</a:t>
            </a:r>
          </a:p>
          <a:p>
            <a:r>
              <a:rPr lang="en-IN" b="1" dirty="0"/>
              <a:t>    console.log(this.name);  // doesn't work → undefined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  <a:p>
            <a:endParaRPr lang="en-IN" b="1" dirty="0"/>
          </a:p>
          <a:p>
            <a:r>
              <a:rPr lang="en-IN" b="1" dirty="0" err="1"/>
              <a:t>student.show</a:t>
            </a:r>
            <a:r>
              <a:rPr lang="en-IN" b="1" dirty="0"/>
              <a:t>();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CA6D3-3970-6F44-EEE0-9CD57A2AD2B8}"/>
              </a:ext>
            </a:extLst>
          </p:cNvPr>
          <p:cNvSpPr txBox="1"/>
          <p:nvPr/>
        </p:nvSpPr>
        <p:spPr>
          <a:xfrm>
            <a:off x="5894295" y="3722214"/>
            <a:ext cx="3966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Arrow function inside an object</a:t>
            </a:r>
            <a:endParaRPr lang="en-IN" b="1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469DF7A-4118-6B80-A4EF-A1C5D44F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17" y="6157975"/>
            <a:ext cx="41200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Because arrow functions don’t bind their own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 Unicode MS" panose="020B0604020202020204" pitchFamily="34" charset="-128"/>
              </a:rPr>
              <a:t>this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So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 Unicode MS" panose="020B0604020202020204" pitchFamily="34" charset="-128"/>
              </a:rPr>
              <a:t>this.name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 becomes undefined.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61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D3461-FD14-6760-9DB5-A6BCC8ABCECE}"/>
              </a:ext>
            </a:extLst>
          </p:cNvPr>
          <p:cNvSpPr txBox="1"/>
          <p:nvPr/>
        </p:nvSpPr>
        <p:spPr>
          <a:xfrm>
            <a:off x="233082" y="1568825"/>
            <a:ext cx="887954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When to use:</a:t>
            </a:r>
          </a:p>
          <a:p>
            <a:endParaRPr lang="en-US" dirty="0"/>
          </a:p>
          <a:p>
            <a:r>
              <a:rPr lang="en-US" dirty="0"/>
              <a:t>Short calculations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Simple return statements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Callbacks (</a:t>
            </a:r>
            <a:r>
              <a:rPr lang="en-US" dirty="0" err="1"/>
              <a:t>setTimeout</a:t>
            </a:r>
            <a:r>
              <a:rPr lang="en-US" dirty="0"/>
              <a:t>, array methods)</a:t>
            </a:r>
          </a:p>
          <a:p>
            <a:endParaRPr lang="en-US" dirty="0"/>
          </a:p>
          <a:p>
            <a:r>
              <a:rPr lang="en-US" dirty="0"/>
              <a:t>Clean and readable code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D50C77-15CF-341D-9C51-D069C0AAA78C}"/>
              </a:ext>
            </a:extLst>
          </p:cNvPr>
          <p:cNvSpPr txBox="1"/>
          <p:nvPr/>
        </p:nvSpPr>
        <p:spPr>
          <a:xfrm>
            <a:off x="3160059" y="4634770"/>
            <a:ext cx="6158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numbers = [1,2,3];</a:t>
            </a:r>
          </a:p>
          <a:p>
            <a:endParaRPr lang="en-IN" b="1" dirty="0"/>
          </a:p>
          <a:p>
            <a:r>
              <a:rPr lang="en-IN" b="1" dirty="0"/>
              <a:t>const doubled = </a:t>
            </a:r>
            <a:r>
              <a:rPr lang="en-IN" b="1" dirty="0" err="1"/>
              <a:t>numbers.map</a:t>
            </a:r>
            <a:r>
              <a:rPr lang="en-IN" b="1" dirty="0"/>
              <a:t>(n =&gt; n * 2);</a:t>
            </a:r>
          </a:p>
          <a:p>
            <a:endParaRPr lang="en-IN" b="1" dirty="0"/>
          </a:p>
          <a:p>
            <a:r>
              <a:rPr lang="en-IN" b="1" dirty="0"/>
              <a:t>console.log(doubled);  // [2,4,6]</a:t>
            </a:r>
          </a:p>
        </p:txBody>
      </p:sp>
    </p:spTree>
    <p:extLst>
      <p:ext uri="{BB962C8B-B14F-4D97-AF65-F5344CB8AC3E}">
        <p14:creationId xmlns:p14="http://schemas.microsoft.com/office/powerpoint/2010/main" val="126351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21E0F-DE72-CA6C-F2FA-36E8AB347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47" y="1699792"/>
            <a:ext cx="784323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shorter way to write functions, usually used for simple tasks.”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Implicit Return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“Arrow functions can return automatically without writing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.”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 Arrow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“Arrow functions don’t have their own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.”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NOT to use them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“In objects, constructors, event handlers, or places where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must change.”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691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Ternary Operator ( ? :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B69B7-B8EC-3524-0BA3-761353CB0060}"/>
              </a:ext>
            </a:extLst>
          </p:cNvPr>
          <p:cNvSpPr txBox="1"/>
          <p:nvPr/>
        </p:nvSpPr>
        <p:spPr>
          <a:xfrm>
            <a:off x="62753" y="1595718"/>
            <a:ext cx="904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ternary operator is a short way to write an if-else statement.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76046-426F-9864-6D0C-9DBF9A10AFF1}"/>
              </a:ext>
            </a:extLst>
          </p:cNvPr>
          <p:cNvSpPr txBox="1"/>
          <p:nvPr/>
        </p:nvSpPr>
        <p:spPr>
          <a:xfrm>
            <a:off x="3009900" y="2205742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checks a condition and returns a value </a:t>
            </a:r>
            <a:r>
              <a:rPr lang="en-US" b="1" dirty="0"/>
              <a:t>in one line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56CE3-879B-2C11-2AF7-FAA08A8B3F4B}"/>
              </a:ext>
            </a:extLst>
          </p:cNvPr>
          <p:cNvSpPr txBox="1"/>
          <p:nvPr/>
        </p:nvSpPr>
        <p:spPr>
          <a:xfrm>
            <a:off x="3148853" y="2921604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condition ? </a:t>
            </a:r>
            <a:r>
              <a:rPr lang="en-IN" b="1" dirty="0" err="1"/>
              <a:t>valueIfTrue</a:t>
            </a:r>
            <a:r>
              <a:rPr lang="en-IN" b="1" dirty="0"/>
              <a:t> : </a:t>
            </a:r>
            <a:r>
              <a:rPr lang="en-IN" b="1" dirty="0" err="1"/>
              <a:t>valueIfFalse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4A238-74C4-7BF5-CDE5-BD76F533F802}"/>
              </a:ext>
            </a:extLst>
          </p:cNvPr>
          <p:cNvSpPr txBox="1"/>
          <p:nvPr/>
        </p:nvSpPr>
        <p:spPr>
          <a:xfrm>
            <a:off x="567018" y="3821262"/>
            <a:ext cx="55289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</a:t>
            </a:r>
          </a:p>
          <a:p>
            <a:endParaRPr lang="en-IN" dirty="0"/>
          </a:p>
          <a:p>
            <a:r>
              <a:rPr lang="en-IN" dirty="0"/>
              <a:t>let </a:t>
            </a:r>
            <a:r>
              <a:rPr lang="en-IN" dirty="0" err="1"/>
              <a:t>num</a:t>
            </a:r>
            <a:r>
              <a:rPr lang="en-IN" dirty="0"/>
              <a:t> = 10;</a:t>
            </a:r>
          </a:p>
          <a:p>
            <a:r>
              <a:rPr lang="en-IN" dirty="0"/>
              <a:t>let result = (</a:t>
            </a:r>
            <a:r>
              <a:rPr lang="en-IN" dirty="0" err="1"/>
              <a:t>num</a:t>
            </a:r>
            <a:r>
              <a:rPr lang="en-IN" dirty="0"/>
              <a:t> % 2 === 0) ? "Even" : "Odd";</a:t>
            </a:r>
          </a:p>
          <a:p>
            <a:r>
              <a:rPr lang="en-IN" dirty="0"/>
              <a:t>console.log(result);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7E2349-BA0C-1290-440C-A2A14E9A6447}"/>
              </a:ext>
            </a:extLst>
          </p:cNvPr>
          <p:cNvSpPr txBox="1"/>
          <p:nvPr/>
        </p:nvSpPr>
        <p:spPr>
          <a:xfrm>
            <a:off x="4587688" y="5504346"/>
            <a:ext cx="6172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</a:t>
            </a:r>
          </a:p>
          <a:p>
            <a:r>
              <a:rPr lang="en-IN" dirty="0"/>
              <a:t>let </a:t>
            </a:r>
            <a:r>
              <a:rPr lang="en-IN" dirty="0" err="1"/>
              <a:t>isLoggedIn</a:t>
            </a:r>
            <a:r>
              <a:rPr lang="en-IN" dirty="0"/>
              <a:t> = true;</a:t>
            </a:r>
          </a:p>
          <a:p>
            <a:r>
              <a:rPr lang="en-IN" dirty="0"/>
              <a:t>let message = </a:t>
            </a:r>
            <a:r>
              <a:rPr lang="en-IN" dirty="0" err="1"/>
              <a:t>isLoggedIn</a:t>
            </a:r>
            <a:r>
              <a:rPr lang="en-IN" dirty="0"/>
              <a:t> ? "Welcome!" : "Please login";</a:t>
            </a:r>
          </a:p>
          <a:p>
            <a:r>
              <a:rPr lang="en-IN" dirty="0"/>
              <a:t>console.log(message);</a:t>
            </a:r>
          </a:p>
        </p:txBody>
      </p:sp>
    </p:spTree>
    <p:extLst>
      <p:ext uri="{BB962C8B-B14F-4D97-AF65-F5344CB8AC3E}">
        <p14:creationId xmlns:p14="http://schemas.microsoft.com/office/powerpoint/2010/main" val="365903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Ternary Operator ( ? :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7FF18F-9C11-01DF-B6B0-B44F02EA12DC}"/>
              </a:ext>
            </a:extLst>
          </p:cNvPr>
          <p:cNvSpPr txBox="1"/>
          <p:nvPr/>
        </p:nvSpPr>
        <p:spPr>
          <a:xfrm>
            <a:off x="136711" y="1519081"/>
            <a:ext cx="6172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Avoiding Nested Ternary:</a:t>
            </a:r>
          </a:p>
          <a:p>
            <a:endParaRPr lang="en-US" b="1" dirty="0"/>
          </a:p>
          <a:p>
            <a:r>
              <a:rPr lang="en-US" b="1" dirty="0"/>
              <a:t>Nested ternary = ternary inside ternary</a:t>
            </a:r>
          </a:p>
          <a:p>
            <a:endParaRPr lang="en-US" b="1" dirty="0"/>
          </a:p>
          <a:p>
            <a:r>
              <a:rPr lang="en-US" dirty="0"/>
              <a:t>This becomes confusing even for programmers.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4C44D-2513-EA68-89C9-081046F44443}"/>
              </a:ext>
            </a:extLst>
          </p:cNvPr>
          <p:cNvSpPr txBox="1"/>
          <p:nvPr/>
        </p:nvSpPr>
        <p:spPr>
          <a:xfrm>
            <a:off x="2933700" y="3235369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let grade = marks &gt; 90 ? "A" : marks &gt; 75 ? "B" : "C";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0E0A3-76B8-15C1-CDAC-369386F78D23}"/>
              </a:ext>
            </a:extLst>
          </p:cNvPr>
          <p:cNvSpPr txBox="1"/>
          <p:nvPr/>
        </p:nvSpPr>
        <p:spPr>
          <a:xfrm>
            <a:off x="253253" y="3940460"/>
            <a:ext cx="6172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 ternary when:</a:t>
            </a:r>
          </a:p>
          <a:p>
            <a:br>
              <a:rPr lang="en-US" dirty="0"/>
            </a:br>
            <a:r>
              <a:rPr lang="en-US" dirty="0"/>
              <a:t>✔ Only </a:t>
            </a:r>
            <a:r>
              <a:rPr lang="en-US" b="1" dirty="0"/>
              <a:t>one condition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✔ Only </a:t>
            </a:r>
            <a:r>
              <a:rPr lang="en-US" b="1" dirty="0"/>
              <a:t>two outputs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✔ The result is a small value (string, number, </a:t>
            </a:r>
            <a:r>
              <a:rPr lang="en-US" dirty="0" err="1"/>
              <a:t>boolean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34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Destructuring</a:t>
            </a:r>
            <a:r>
              <a:rPr lang="en-IN" sz="2800" b="1" dirty="0">
                <a:solidFill>
                  <a:schemeClr val="bg1"/>
                </a:solidFill>
              </a:rPr>
              <a:t>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D0B05-CFA7-38CE-E3FB-04DBFC8FA5FD}"/>
              </a:ext>
            </a:extLst>
          </p:cNvPr>
          <p:cNvSpPr txBox="1"/>
          <p:nvPr/>
        </p:nvSpPr>
        <p:spPr>
          <a:xfrm>
            <a:off x="224118" y="1443318"/>
            <a:ext cx="117079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Destructuring</a:t>
            </a:r>
            <a:r>
              <a:rPr lang="en-US" dirty="0"/>
              <a:t> is a feature in JavaScript that allows you to </a:t>
            </a:r>
            <a:r>
              <a:rPr lang="en-US" b="1" dirty="0"/>
              <a:t>extract values from arrays or objects and store them into variables easily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Think of </a:t>
            </a:r>
            <a:r>
              <a:rPr lang="en-US" dirty="0" err="1"/>
              <a:t>destructuring</a:t>
            </a:r>
            <a:r>
              <a:rPr lang="en-US" dirty="0"/>
              <a:t> as </a:t>
            </a:r>
            <a:r>
              <a:rPr lang="en-US" b="1" dirty="0"/>
              <a:t>unpacking a suitcase</a:t>
            </a:r>
            <a:r>
              <a:rPr lang="en-US" dirty="0"/>
              <a:t> into different drawers.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FB968-3D5B-4F39-8FC1-8F2E644E10AE}"/>
              </a:ext>
            </a:extLst>
          </p:cNvPr>
          <p:cNvSpPr txBox="1"/>
          <p:nvPr/>
        </p:nvSpPr>
        <p:spPr>
          <a:xfrm>
            <a:off x="224118" y="332501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Array </a:t>
            </a:r>
            <a:r>
              <a:rPr lang="en-IN" b="1" dirty="0" err="1"/>
              <a:t>Destructuring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DF176-F2E3-C2DF-0D59-A2B95401232A}"/>
              </a:ext>
            </a:extLst>
          </p:cNvPr>
          <p:cNvSpPr txBox="1"/>
          <p:nvPr/>
        </p:nvSpPr>
        <p:spPr>
          <a:xfrm>
            <a:off x="1107140" y="3775552"/>
            <a:ext cx="7525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Array </a:t>
            </a:r>
            <a:r>
              <a:rPr lang="en-US" dirty="0" err="1"/>
              <a:t>destructuring</a:t>
            </a:r>
            <a:r>
              <a:rPr lang="en-US" dirty="0"/>
              <a:t> means taking values from an array </a:t>
            </a:r>
            <a:r>
              <a:rPr lang="en-US" b="1" dirty="0"/>
              <a:t>based on their position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DD562-FDDA-5C2B-304F-00321E024880}"/>
              </a:ext>
            </a:extLst>
          </p:cNvPr>
          <p:cNvSpPr txBox="1"/>
          <p:nvPr/>
        </p:nvSpPr>
        <p:spPr>
          <a:xfrm>
            <a:off x="748554" y="4549271"/>
            <a:ext cx="61587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</a:t>
            </a:r>
            <a:r>
              <a:rPr lang="en-IN" dirty="0" err="1"/>
              <a:t>colors</a:t>
            </a:r>
            <a:r>
              <a:rPr lang="en-IN" dirty="0"/>
              <a:t> = ["red", "green", "blue"];</a:t>
            </a:r>
          </a:p>
          <a:p>
            <a:endParaRPr lang="en-IN" dirty="0"/>
          </a:p>
          <a:p>
            <a:r>
              <a:rPr lang="en-IN" dirty="0"/>
              <a:t>const [first, second, third] = </a:t>
            </a:r>
            <a:r>
              <a:rPr lang="en-IN" dirty="0" err="1"/>
              <a:t>colors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console.log(first);  // red</a:t>
            </a:r>
          </a:p>
          <a:p>
            <a:r>
              <a:rPr lang="en-IN" dirty="0"/>
              <a:t>console.log(second); // green</a:t>
            </a:r>
          </a:p>
          <a:p>
            <a:r>
              <a:rPr lang="en-IN" dirty="0"/>
              <a:t>console.log(third);  // blue</a:t>
            </a:r>
          </a:p>
        </p:txBody>
      </p:sp>
    </p:spTree>
    <p:extLst>
      <p:ext uri="{BB962C8B-B14F-4D97-AF65-F5344CB8AC3E}">
        <p14:creationId xmlns:p14="http://schemas.microsoft.com/office/powerpoint/2010/main" val="113208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Destructuring</a:t>
            </a:r>
            <a:r>
              <a:rPr lang="en-IN" sz="2800" b="1" dirty="0">
                <a:solidFill>
                  <a:schemeClr val="bg1"/>
                </a:solidFill>
              </a:rPr>
              <a:t>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125FD-6B2F-D277-24E0-3C7134A45CA2}"/>
              </a:ext>
            </a:extLst>
          </p:cNvPr>
          <p:cNvSpPr txBox="1"/>
          <p:nvPr/>
        </p:nvSpPr>
        <p:spPr>
          <a:xfrm>
            <a:off x="112060" y="1514145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Object </a:t>
            </a:r>
            <a:r>
              <a:rPr lang="en-IN" b="1" dirty="0" err="1"/>
              <a:t>Destructuring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90F79-51E7-BBEA-E32D-C2E8C4CBA88D}"/>
              </a:ext>
            </a:extLst>
          </p:cNvPr>
          <p:cNvSpPr txBox="1"/>
          <p:nvPr/>
        </p:nvSpPr>
        <p:spPr>
          <a:xfrm>
            <a:off x="1340224" y="1976281"/>
            <a:ext cx="8798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Object </a:t>
            </a:r>
            <a:r>
              <a:rPr lang="en-US" dirty="0" err="1"/>
              <a:t>destructuring</a:t>
            </a:r>
            <a:r>
              <a:rPr lang="en-US" dirty="0"/>
              <a:t> means extracting values from an object </a:t>
            </a:r>
            <a:r>
              <a:rPr lang="en-US" b="1" dirty="0"/>
              <a:t>using the property names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AC0FD9-B5DB-56C1-A0EE-3440354585E1}"/>
              </a:ext>
            </a:extLst>
          </p:cNvPr>
          <p:cNvSpPr txBox="1"/>
          <p:nvPr/>
        </p:nvSpPr>
        <p:spPr>
          <a:xfrm>
            <a:off x="112060" y="2438417"/>
            <a:ext cx="37875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person = {</a:t>
            </a:r>
          </a:p>
          <a:p>
            <a:r>
              <a:rPr lang="en-IN" dirty="0"/>
              <a:t>  name: "Amit",</a:t>
            </a:r>
          </a:p>
          <a:p>
            <a:r>
              <a:rPr lang="en-IN" dirty="0"/>
              <a:t>  age: 19,</a:t>
            </a:r>
          </a:p>
          <a:p>
            <a:r>
              <a:rPr lang="en-IN" dirty="0"/>
              <a:t>  city: "Delhi"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const { name, age, city } = person;</a:t>
            </a:r>
          </a:p>
          <a:p>
            <a:endParaRPr lang="en-IN" dirty="0"/>
          </a:p>
          <a:p>
            <a:r>
              <a:rPr lang="en-IN" dirty="0"/>
              <a:t>console.log(name); // Amit</a:t>
            </a:r>
          </a:p>
          <a:p>
            <a:r>
              <a:rPr lang="en-IN" dirty="0"/>
              <a:t>console.log(age);  // 19</a:t>
            </a:r>
          </a:p>
          <a:p>
            <a:r>
              <a:rPr lang="en-IN" dirty="0"/>
              <a:t>console.log(city); // Delhi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07B99D-ADE3-13AD-4262-E7CC893B06FE}"/>
              </a:ext>
            </a:extLst>
          </p:cNvPr>
          <p:cNvSpPr txBox="1"/>
          <p:nvPr/>
        </p:nvSpPr>
        <p:spPr>
          <a:xfrm>
            <a:off x="5437095" y="3067743"/>
            <a:ext cx="4289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Default Values in Object </a:t>
            </a:r>
            <a:r>
              <a:rPr lang="en-US" b="1" dirty="0" err="1"/>
              <a:t>Destructuring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DF2FED-CF3E-A75C-4AB6-59F1DE73B19B}"/>
              </a:ext>
            </a:extLst>
          </p:cNvPr>
          <p:cNvSpPr txBox="1"/>
          <p:nvPr/>
        </p:nvSpPr>
        <p:spPr>
          <a:xfrm>
            <a:off x="5598459" y="3866527"/>
            <a:ext cx="6158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book = { title: "JS Guide" };</a:t>
            </a:r>
          </a:p>
          <a:p>
            <a:endParaRPr lang="en-IN" dirty="0"/>
          </a:p>
          <a:p>
            <a:r>
              <a:rPr lang="en-IN" dirty="0"/>
              <a:t>const { title, author = "Unknown" } = book;</a:t>
            </a:r>
          </a:p>
          <a:p>
            <a:endParaRPr lang="en-IN" dirty="0"/>
          </a:p>
          <a:p>
            <a:r>
              <a:rPr lang="en-IN" dirty="0"/>
              <a:t>console.log(author); // Unknown</a:t>
            </a:r>
          </a:p>
        </p:txBody>
      </p:sp>
    </p:spTree>
    <p:extLst>
      <p:ext uri="{BB962C8B-B14F-4D97-AF65-F5344CB8AC3E}">
        <p14:creationId xmlns:p14="http://schemas.microsoft.com/office/powerpoint/2010/main" val="141098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Destructuring</a:t>
            </a:r>
            <a:r>
              <a:rPr lang="en-IN" sz="2800" b="1" dirty="0">
                <a:solidFill>
                  <a:schemeClr val="bg1"/>
                </a:solidFill>
              </a:rPr>
              <a:t>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07C3D-E4FD-E991-1830-BCC7BB2F5553}"/>
              </a:ext>
            </a:extLst>
          </p:cNvPr>
          <p:cNvSpPr txBox="1"/>
          <p:nvPr/>
        </p:nvSpPr>
        <p:spPr>
          <a:xfrm>
            <a:off x="180109" y="1574860"/>
            <a:ext cx="6160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Nested </a:t>
            </a:r>
            <a:r>
              <a:rPr lang="en-IN" b="1" dirty="0" err="1"/>
              <a:t>Destructuring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479DC-D573-55B7-F7F6-5600A5AA0C10}"/>
              </a:ext>
            </a:extLst>
          </p:cNvPr>
          <p:cNvSpPr txBox="1"/>
          <p:nvPr/>
        </p:nvSpPr>
        <p:spPr>
          <a:xfrm>
            <a:off x="872835" y="2064434"/>
            <a:ext cx="829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Used when you have objects </a:t>
            </a:r>
            <a:r>
              <a:rPr lang="en-US" i="1" dirty="0"/>
              <a:t>inside objects</a:t>
            </a:r>
            <a:r>
              <a:rPr lang="en-US" dirty="0"/>
              <a:t> or arrays inside objects.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C1701-C4FE-AD13-30EE-B9520CB89601}"/>
              </a:ext>
            </a:extLst>
          </p:cNvPr>
          <p:cNvSpPr txBox="1"/>
          <p:nvPr/>
        </p:nvSpPr>
        <p:spPr>
          <a:xfrm>
            <a:off x="1029855" y="2840749"/>
            <a:ext cx="61606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student = {</a:t>
            </a:r>
          </a:p>
          <a:p>
            <a:r>
              <a:rPr lang="en-IN" b="1" dirty="0"/>
              <a:t>  name: "Reena",</a:t>
            </a:r>
          </a:p>
          <a:p>
            <a:r>
              <a:rPr lang="en-IN" b="1" dirty="0"/>
              <a:t>  marks: {</a:t>
            </a:r>
          </a:p>
          <a:p>
            <a:r>
              <a:rPr lang="en-IN" b="1" dirty="0"/>
              <a:t>    maths: 90,</a:t>
            </a:r>
          </a:p>
          <a:p>
            <a:r>
              <a:rPr lang="en-IN" b="1" dirty="0"/>
              <a:t>    science: 88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  <a:p>
            <a:endParaRPr lang="en-IN" b="1" dirty="0"/>
          </a:p>
          <a:p>
            <a:r>
              <a:rPr lang="en-IN" b="1" dirty="0"/>
              <a:t>const { marks: { maths, science } } = student;</a:t>
            </a:r>
          </a:p>
          <a:p>
            <a:endParaRPr lang="en-IN" b="1" dirty="0"/>
          </a:p>
          <a:p>
            <a:r>
              <a:rPr lang="en-IN" b="1" dirty="0"/>
              <a:t>console.log(maths);   // 90</a:t>
            </a:r>
          </a:p>
          <a:p>
            <a:r>
              <a:rPr lang="en-IN" b="1" dirty="0"/>
              <a:t>console.log(science); // 88</a:t>
            </a:r>
          </a:p>
        </p:txBody>
      </p:sp>
    </p:spTree>
    <p:extLst>
      <p:ext uri="{BB962C8B-B14F-4D97-AF65-F5344CB8AC3E}">
        <p14:creationId xmlns:p14="http://schemas.microsoft.com/office/powerpoint/2010/main" val="321871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Destructuring</a:t>
            </a:r>
            <a:r>
              <a:rPr lang="en-IN" sz="2800" b="1" dirty="0">
                <a:solidFill>
                  <a:schemeClr val="bg1"/>
                </a:solidFill>
              </a:rPr>
              <a:t>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0A6AF-D9D5-4AB7-3F69-99BA9AA8A929}"/>
              </a:ext>
            </a:extLst>
          </p:cNvPr>
          <p:cNvSpPr txBox="1"/>
          <p:nvPr/>
        </p:nvSpPr>
        <p:spPr>
          <a:xfrm>
            <a:off x="0" y="1491780"/>
            <a:ext cx="6160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Function Parameter </a:t>
            </a:r>
            <a:r>
              <a:rPr lang="en-US" b="1" dirty="0" err="1"/>
              <a:t>Destructuring</a:t>
            </a:r>
            <a:endParaRPr lang="en-US" b="1" dirty="0"/>
          </a:p>
          <a:p>
            <a:endParaRPr lang="en-US" b="1" dirty="0"/>
          </a:p>
          <a:p>
            <a:r>
              <a:rPr lang="en-US" dirty="0" err="1"/>
              <a:t>Destructuring</a:t>
            </a:r>
            <a:r>
              <a:rPr lang="en-US" dirty="0"/>
              <a:t> can also be used </a:t>
            </a:r>
            <a:r>
              <a:rPr lang="en-US" b="1" dirty="0"/>
              <a:t>inside function parameters</a:t>
            </a:r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75B186-3E68-33F1-89C0-C4C764F12637}"/>
              </a:ext>
            </a:extLst>
          </p:cNvPr>
          <p:cNvSpPr txBox="1"/>
          <p:nvPr/>
        </p:nvSpPr>
        <p:spPr>
          <a:xfrm>
            <a:off x="457200" y="2840519"/>
            <a:ext cx="61606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display({ name, age })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console.log(name);</a:t>
            </a:r>
          </a:p>
          <a:p>
            <a:r>
              <a:rPr lang="en-IN" dirty="0"/>
              <a:t>  console.log(age);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const person = { name: "Asha", age: 22 };</a:t>
            </a:r>
          </a:p>
          <a:p>
            <a:r>
              <a:rPr lang="en-IN" dirty="0"/>
              <a:t>display(person);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8E60D-278A-EE84-2A88-B860DD3DDEC5}"/>
              </a:ext>
            </a:extLst>
          </p:cNvPr>
          <p:cNvSpPr txBox="1"/>
          <p:nvPr/>
        </p:nvSpPr>
        <p:spPr>
          <a:xfrm>
            <a:off x="6423890" y="4889865"/>
            <a:ext cx="54263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Do We Use </a:t>
            </a:r>
            <a:r>
              <a:rPr lang="en-US" b="1" dirty="0" err="1"/>
              <a:t>Destructuring</a:t>
            </a:r>
            <a:r>
              <a:rPr lang="en-US" b="1" dirty="0"/>
              <a:t>?</a:t>
            </a:r>
          </a:p>
          <a:p>
            <a:endParaRPr lang="en-US" b="1" dirty="0"/>
          </a:p>
          <a:p>
            <a:r>
              <a:rPr lang="en-US" dirty="0"/>
              <a:t>✔ Makes code shorter</a:t>
            </a:r>
            <a:br>
              <a:rPr lang="en-US" dirty="0"/>
            </a:br>
            <a:r>
              <a:rPr lang="en-US" dirty="0"/>
              <a:t>✔ Makes code cleaner</a:t>
            </a:r>
            <a:br>
              <a:rPr lang="en-US" dirty="0"/>
            </a:br>
            <a:r>
              <a:rPr lang="en-US" dirty="0"/>
              <a:t>✔ Easy to read</a:t>
            </a:r>
            <a:br>
              <a:rPr lang="en-US" dirty="0"/>
            </a:br>
            <a:r>
              <a:rPr lang="en-US" dirty="0"/>
              <a:t>✔ Extract only what you need</a:t>
            </a:r>
            <a:br>
              <a:rPr lang="en-US" dirty="0"/>
            </a:br>
            <a:r>
              <a:rPr lang="en-US" dirty="0"/>
              <a:t>✔ Works great with APIs and JSON data</a:t>
            </a:r>
          </a:p>
        </p:txBody>
      </p:sp>
    </p:spTree>
    <p:extLst>
      <p:ext uri="{BB962C8B-B14F-4D97-AF65-F5344CB8AC3E}">
        <p14:creationId xmlns:p14="http://schemas.microsoft.com/office/powerpoint/2010/main" val="117547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Spread &amp; Rest Operators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A30173-214B-4FDB-C870-1D6B36CAE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41" y="1563507"/>
            <a:ext cx="806823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dots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their purpose is different: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Spread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→ EXPANDS/UNPACKS values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opening a packed box and spreading items out.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Rest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→ COLLECTS/GROUPS values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packing many items into one box.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87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Spread &amp; Rest Operators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7DD147-A40A-D4D5-75D7-8DF9ADAC4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" y="1364386"/>
            <a:ext cx="84561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Spread Operator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Spread is used when you want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array or object into individual items.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A2C61D-60BD-FD17-6DBD-E237EDE899C7}"/>
              </a:ext>
            </a:extLst>
          </p:cNvPr>
          <p:cNvSpPr txBox="1"/>
          <p:nvPr/>
        </p:nvSpPr>
        <p:spPr>
          <a:xfrm>
            <a:off x="129989" y="2661628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Spread in Arrays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D8C4C-B198-599E-69C1-475544A3B261}"/>
              </a:ext>
            </a:extLst>
          </p:cNvPr>
          <p:cNvSpPr txBox="1"/>
          <p:nvPr/>
        </p:nvSpPr>
        <p:spPr>
          <a:xfrm>
            <a:off x="2039471" y="3119735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numbers = [1, 2, 3];</a:t>
            </a:r>
          </a:p>
          <a:p>
            <a:r>
              <a:rPr lang="en-IN" dirty="0"/>
              <a:t>console.log(...numbers);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8B63C-A07C-EB8C-5393-9017D8BF38C7}"/>
              </a:ext>
            </a:extLst>
          </p:cNvPr>
          <p:cNvSpPr txBox="1"/>
          <p:nvPr/>
        </p:nvSpPr>
        <p:spPr>
          <a:xfrm>
            <a:off x="129989" y="4320098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Spread in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2F2B4C-2C2A-257A-6142-5FF1F6814C00}"/>
              </a:ext>
            </a:extLst>
          </p:cNvPr>
          <p:cNvSpPr txBox="1"/>
          <p:nvPr/>
        </p:nvSpPr>
        <p:spPr>
          <a:xfrm>
            <a:off x="1940859" y="5000526"/>
            <a:ext cx="6158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user = { name: "Ani", age: 21 };</a:t>
            </a:r>
          </a:p>
          <a:p>
            <a:endParaRPr lang="en-IN" dirty="0"/>
          </a:p>
          <a:p>
            <a:r>
              <a:rPr lang="en-IN" dirty="0"/>
              <a:t>const copy = { ...user };</a:t>
            </a:r>
          </a:p>
          <a:p>
            <a:endParaRPr lang="en-IN" dirty="0"/>
          </a:p>
          <a:p>
            <a:r>
              <a:rPr lang="en-IN" dirty="0"/>
              <a:t>console.log(copy);</a:t>
            </a:r>
          </a:p>
        </p:txBody>
      </p:sp>
    </p:spTree>
    <p:extLst>
      <p:ext uri="{BB962C8B-B14F-4D97-AF65-F5344CB8AC3E}">
        <p14:creationId xmlns:p14="http://schemas.microsoft.com/office/powerpoint/2010/main" val="350372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Spread &amp; Rest Operators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0DB9F-319C-FDF6-1C9F-7C2C5554B71A}"/>
              </a:ext>
            </a:extLst>
          </p:cNvPr>
          <p:cNvSpPr txBox="1"/>
          <p:nvPr/>
        </p:nvSpPr>
        <p:spPr>
          <a:xfrm>
            <a:off x="273424" y="162172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Spread in Function Calls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29F77-66DE-36C6-F8A6-6A77D3C53F0F}"/>
              </a:ext>
            </a:extLst>
          </p:cNvPr>
          <p:cNvSpPr txBox="1"/>
          <p:nvPr/>
        </p:nvSpPr>
        <p:spPr>
          <a:xfrm>
            <a:off x="2290483" y="2267605"/>
            <a:ext cx="27835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sum(a, b, c)</a:t>
            </a:r>
          </a:p>
          <a:p>
            <a:r>
              <a:rPr lang="en-IN" dirty="0"/>
              <a:t> {</a:t>
            </a:r>
          </a:p>
          <a:p>
            <a:r>
              <a:rPr lang="en-IN" dirty="0"/>
              <a:t>  console.log(a + b + c);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const </a:t>
            </a:r>
            <a:r>
              <a:rPr lang="en-IN" dirty="0" err="1"/>
              <a:t>nums</a:t>
            </a:r>
            <a:r>
              <a:rPr lang="en-IN" dirty="0"/>
              <a:t> = [1, 2, 3];</a:t>
            </a:r>
          </a:p>
          <a:p>
            <a:endParaRPr lang="en-IN" dirty="0"/>
          </a:p>
          <a:p>
            <a:r>
              <a:rPr lang="en-IN" dirty="0"/>
              <a:t>sum(...</a:t>
            </a:r>
            <a:r>
              <a:rPr lang="en-IN" dirty="0" err="1"/>
              <a:t>nums</a:t>
            </a:r>
            <a:r>
              <a:rPr lang="en-IN" dirty="0"/>
              <a:t>); // 6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6E12A5F-033B-87CA-DE32-525B46E8F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718" y="1529389"/>
            <a:ext cx="46858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Operator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collects multiple values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array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6E64E-9DDC-0CF3-4FC2-B77BAABBE57A}"/>
              </a:ext>
            </a:extLst>
          </p:cNvPr>
          <p:cNvSpPr txBox="1"/>
          <p:nvPr/>
        </p:nvSpPr>
        <p:spPr>
          <a:xfrm>
            <a:off x="5688107" y="264501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Used when we don’t know how many values will be passed.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D83478-216E-8FC4-F439-DBB96196CB93}"/>
              </a:ext>
            </a:extLst>
          </p:cNvPr>
          <p:cNvSpPr txBox="1"/>
          <p:nvPr/>
        </p:nvSpPr>
        <p:spPr>
          <a:xfrm>
            <a:off x="5836943" y="3429000"/>
            <a:ext cx="45854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function add(...numbers) {</a:t>
            </a:r>
          </a:p>
          <a:p>
            <a:r>
              <a:rPr lang="en-IN" b="1" dirty="0"/>
              <a:t>  let total = 0;</a:t>
            </a:r>
          </a:p>
          <a:p>
            <a:r>
              <a:rPr lang="en-IN" b="1" dirty="0"/>
              <a:t>  for (let n of numbers) total += n;</a:t>
            </a:r>
          </a:p>
          <a:p>
            <a:r>
              <a:rPr lang="en-IN" b="1" dirty="0"/>
              <a:t>  console.log(total);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add(5, 10, 15); // 30</a:t>
            </a:r>
          </a:p>
          <a:p>
            <a:r>
              <a:rPr lang="en-IN" b="1" dirty="0"/>
              <a:t>add(1, 2, 3, 4, 5); // 15</a:t>
            </a:r>
          </a:p>
        </p:txBody>
      </p:sp>
    </p:spTree>
    <p:extLst>
      <p:ext uri="{BB962C8B-B14F-4D97-AF65-F5344CB8AC3E}">
        <p14:creationId xmlns:p14="http://schemas.microsoft.com/office/powerpoint/2010/main" val="314146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Optional Chaining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2A0811-925C-C573-C03D-C43AB51EC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3" y="1367589"/>
            <a:ext cx="90618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Optional Chaining?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 chaining uses the symbol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?.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safely access a property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if the value exists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it does NOT exist → it returns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undefined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crashing.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5DD72D-754E-B3C6-BFD2-FF74B28FA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3" y="2899192"/>
            <a:ext cx="42383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Use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?.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Safe Property Access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7637E-542F-C919-7DE1-1578D696BC98}"/>
              </a:ext>
            </a:extLst>
          </p:cNvPr>
          <p:cNvSpPr txBox="1"/>
          <p:nvPr/>
        </p:nvSpPr>
        <p:spPr>
          <a:xfrm>
            <a:off x="434789" y="3599798"/>
            <a:ext cx="42268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student = {</a:t>
            </a:r>
          </a:p>
          <a:p>
            <a:r>
              <a:rPr lang="en-IN" b="1" dirty="0"/>
              <a:t>  name: "Ani",</a:t>
            </a:r>
          </a:p>
          <a:p>
            <a:r>
              <a:rPr lang="en-IN" b="1" dirty="0"/>
              <a:t>  marks: {</a:t>
            </a:r>
          </a:p>
          <a:p>
            <a:r>
              <a:rPr lang="en-IN" b="1" dirty="0"/>
              <a:t>    math: 95,</a:t>
            </a:r>
          </a:p>
          <a:p>
            <a:r>
              <a:rPr lang="en-IN" b="1" dirty="0"/>
              <a:t>    science: 88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630EA-B32F-5C03-989A-36A7C7C7B689}"/>
              </a:ext>
            </a:extLst>
          </p:cNvPr>
          <p:cNvSpPr txBox="1"/>
          <p:nvPr/>
        </p:nvSpPr>
        <p:spPr>
          <a:xfrm>
            <a:off x="336176" y="5750631"/>
            <a:ext cx="3989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console.log(</a:t>
            </a:r>
            <a:r>
              <a:rPr lang="en-IN" b="1" dirty="0" err="1"/>
              <a:t>student?.marks?.math</a:t>
            </a:r>
            <a:r>
              <a:rPr lang="en-IN" b="1" dirty="0"/>
              <a:t>);  </a:t>
            </a:r>
          </a:p>
          <a:p>
            <a:r>
              <a:rPr lang="en-IN" b="1" dirty="0"/>
              <a:t>// 95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1EB94C-0B8D-56D1-9283-80136937FED6}"/>
              </a:ext>
            </a:extLst>
          </p:cNvPr>
          <p:cNvSpPr txBox="1"/>
          <p:nvPr/>
        </p:nvSpPr>
        <p:spPr>
          <a:xfrm>
            <a:off x="6598023" y="2768801"/>
            <a:ext cx="51591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</a:t>
            </a:r>
            <a:r>
              <a:rPr lang="en-IN" b="1" dirty="0" err="1"/>
              <a:t>apiResponse</a:t>
            </a:r>
            <a:r>
              <a:rPr lang="en-IN" b="1" dirty="0"/>
              <a:t> = {</a:t>
            </a:r>
          </a:p>
          <a:p>
            <a:r>
              <a:rPr lang="en-IN" b="1" dirty="0"/>
              <a:t>  user: {</a:t>
            </a:r>
          </a:p>
          <a:p>
            <a:r>
              <a:rPr lang="en-IN" b="1" dirty="0"/>
              <a:t>    profile: {</a:t>
            </a:r>
          </a:p>
          <a:p>
            <a:r>
              <a:rPr lang="en-IN" b="1" dirty="0"/>
              <a:t>      name: “Mini"</a:t>
            </a:r>
          </a:p>
          <a:p>
            <a:r>
              <a:rPr lang="en-IN" b="1" dirty="0"/>
              <a:t>    }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  <a:p>
            <a:endParaRPr lang="en-IN" b="1" dirty="0"/>
          </a:p>
          <a:p>
            <a:r>
              <a:rPr lang="en-IN" b="1" dirty="0"/>
              <a:t>console.log(apiResponse?.user?.profile?.name);</a:t>
            </a:r>
          </a:p>
          <a:p>
            <a:r>
              <a:rPr lang="en-IN" b="1" dirty="0"/>
              <a:t>// Mini</a:t>
            </a:r>
          </a:p>
        </p:txBody>
      </p:sp>
    </p:spTree>
    <p:extLst>
      <p:ext uri="{BB962C8B-B14F-4D97-AF65-F5344CB8AC3E}">
        <p14:creationId xmlns:p14="http://schemas.microsoft.com/office/powerpoint/2010/main" val="175359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Default Parameters in JavaScript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7756E-C74D-AB31-B66E-3DF8919B1993}"/>
              </a:ext>
            </a:extLst>
          </p:cNvPr>
          <p:cNvSpPr txBox="1"/>
          <p:nvPr/>
        </p:nvSpPr>
        <p:spPr>
          <a:xfrm>
            <a:off x="206188" y="1479176"/>
            <a:ext cx="1102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Default parameters allow you to </a:t>
            </a:r>
            <a:r>
              <a:rPr lang="en-US" b="1" dirty="0"/>
              <a:t>give a default value</a:t>
            </a:r>
            <a:r>
              <a:rPr lang="en-US" dirty="0"/>
              <a:t> to a function parameter </a:t>
            </a:r>
            <a:r>
              <a:rPr lang="en-US" b="1" dirty="0"/>
              <a:t>when the user does not provide it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22E11-625D-1D11-7E1D-07D32498132A}"/>
              </a:ext>
            </a:extLst>
          </p:cNvPr>
          <p:cNvSpPr txBox="1"/>
          <p:nvPr/>
        </p:nvSpPr>
        <p:spPr>
          <a:xfrm>
            <a:off x="528918" y="2232212"/>
            <a:ext cx="33796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Without Default:</a:t>
            </a:r>
          </a:p>
          <a:p>
            <a:endParaRPr lang="en-IN" dirty="0"/>
          </a:p>
          <a:p>
            <a:r>
              <a:rPr lang="en-IN" dirty="0"/>
              <a:t>function greet(name)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console.log("Hello " + name);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greet();  </a:t>
            </a:r>
          </a:p>
          <a:p>
            <a:r>
              <a:rPr lang="en-IN" dirty="0"/>
              <a:t>// Output: Hello undefined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72897-5472-6017-7E69-1FDC328461F7}"/>
              </a:ext>
            </a:extLst>
          </p:cNvPr>
          <p:cNvSpPr txBox="1"/>
          <p:nvPr/>
        </p:nvSpPr>
        <p:spPr>
          <a:xfrm>
            <a:off x="5898777" y="2232212"/>
            <a:ext cx="33796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 Default:</a:t>
            </a:r>
          </a:p>
          <a:p>
            <a:endParaRPr lang="en-IN" dirty="0"/>
          </a:p>
          <a:p>
            <a:r>
              <a:rPr lang="en-IN" dirty="0"/>
              <a:t>function greet(name=“ani”)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console.log("Hello " + name);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greet();  </a:t>
            </a:r>
          </a:p>
          <a:p>
            <a:r>
              <a:rPr lang="en-IN" dirty="0"/>
              <a:t>// Output: Hello 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EE9436-57B9-E287-6FCC-E536B59F9DB9}"/>
              </a:ext>
            </a:extLst>
          </p:cNvPr>
          <p:cNvSpPr txBox="1"/>
          <p:nvPr/>
        </p:nvSpPr>
        <p:spPr>
          <a:xfrm>
            <a:off x="6019800" y="5593087"/>
            <a:ext cx="4603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user gives a value → use it</a:t>
            </a:r>
          </a:p>
          <a:p>
            <a:endParaRPr lang="en-US" dirty="0"/>
          </a:p>
          <a:p>
            <a:r>
              <a:rPr lang="en-US" dirty="0"/>
              <a:t>If not → use "Guest"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54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Undefined vs </a:t>
            </a:r>
            <a:r>
              <a:rPr lang="en-IN" sz="3200" b="1" dirty="0" err="1">
                <a:solidFill>
                  <a:schemeClr val="bg1"/>
                </a:solidFill>
              </a:rPr>
              <a:t>Falsy</a:t>
            </a:r>
            <a:r>
              <a:rPr lang="en-IN" sz="3200" b="1" dirty="0">
                <a:solidFill>
                  <a:schemeClr val="bg1"/>
                </a:solidFill>
              </a:rPr>
              <a:t> Values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8FE14-2142-55AE-61C2-286C1D3FF374}"/>
              </a:ext>
            </a:extLst>
          </p:cNvPr>
          <p:cNvSpPr txBox="1"/>
          <p:nvPr/>
        </p:nvSpPr>
        <p:spPr>
          <a:xfrm>
            <a:off x="484094" y="1577788"/>
            <a:ext cx="8628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default parameter is only used when the argument is </a:t>
            </a:r>
            <a:r>
              <a:rPr lang="en-US" b="1" dirty="0"/>
              <a:t>undefined</a:t>
            </a:r>
            <a:r>
              <a:rPr lang="en-US" dirty="0"/>
              <a:t>, not when it is “</a:t>
            </a:r>
            <a:r>
              <a:rPr lang="en-US" dirty="0" err="1"/>
              <a:t>falsy</a:t>
            </a:r>
            <a:r>
              <a:rPr lang="en-US" dirty="0"/>
              <a:t>”.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0EE409-0367-13C5-652D-04CDEC565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2651844"/>
            <a:ext cx="871369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values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false-like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NOT undefined: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(empty string)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false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null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NaN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are real values → so JavaScript will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the default.</a:t>
            </a:r>
          </a:p>
        </p:txBody>
      </p:sp>
    </p:spTree>
    <p:extLst>
      <p:ext uri="{BB962C8B-B14F-4D97-AF65-F5344CB8AC3E}">
        <p14:creationId xmlns:p14="http://schemas.microsoft.com/office/powerpoint/2010/main" val="265638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2090</TotalTime>
  <Words>2742</Words>
  <Application>Microsoft Office PowerPoint</Application>
  <PresentationFormat>Widescreen</PresentationFormat>
  <Paragraphs>537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 Unicode MS</vt:lpstr>
      <vt:lpstr>Arial</vt:lpstr>
      <vt:lpstr>Calibri</vt:lpstr>
      <vt:lpstr>Calibri Light</vt:lpstr>
      <vt:lpstr>Quicksand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72</cp:revision>
  <dcterms:created xsi:type="dcterms:W3CDTF">2022-08-19T11:01:50Z</dcterms:created>
  <dcterms:modified xsi:type="dcterms:W3CDTF">2025-11-17T15:32:00Z</dcterms:modified>
</cp:coreProperties>
</file>