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8"/>
  </p:notesMasterIdLst>
  <p:sldIdLst>
    <p:sldId id="320" r:id="rId2"/>
    <p:sldId id="321" r:id="rId3"/>
    <p:sldId id="322" r:id="rId4"/>
    <p:sldId id="346" r:id="rId5"/>
    <p:sldId id="338" r:id="rId6"/>
    <p:sldId id="339" r:id="rId7"/>
    <p:sldId id="341" r:id="rId8"/>
    <p:sldId id="342" r:id="rId9"/>
    <p:sldId id="323" r:id="rId10"/>
    <p:sldId id="324" r:id="rId11"/>
    <p:sldId id="325" r:id="rId12"/>
    <p:sldId id="344" r:id="rId13"/>
    <p:sldId id="326" r:id="rId14"/>
    <p:sldId id="345" r:id="rId15"/>
    <p:sldId id="327" r:id="rId16"/>
    <p:sldId id="328" r:id="rId17"/>
    <p:sldId id="329" r:id="rId18"/>
    <p:sldId id="330" r:id="rId19"/>
    <p:sldId id="331" r:id="rId20"/>
    <p:sldId id="332" r:id="rId21"/>
    <p:sldId id="333" r:id="rId22"/>
    <p:sldId id="334" r:id="rId23"/>
    <p:sldId id="335" r:id="rId24"/>
    <p:sldId id="336" r:id="rId25"/>
    <p:sldId id="337" r:id="rId26"/>
    <p:sldId id="343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330" y="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35E31-6AC3-494C-A739-1889808CBF74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F43EA-CD70-4084-ADBF-7EF6357D3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6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E6C7D7D4-7F7C-45DB-922F-60FB6593B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B58F606B-74CE-7AA4-1323-BF43914B9A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68EC76B3-4E31-CA4A-DCBD-4BB72DC6D6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14396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A1748BF-811D-9329-C09B-4F750AA9A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08AE0E0F-A73A-592C-D3B9-97353748C2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51FBAA58-938E-5D5D-18FB-9B50D6D557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730430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30F9BD8-B80B-87B3-464F-8AC6FE694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DBC18B1-79CD-1EED-2026-8C80A62633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557A0C8-CC30-30DB-1EB1-8B447D8993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2568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30F9BD8-B80B-87B3-464F-8AC6FE694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DBC18B1-79CD-1EED-2026-8C80A62633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557A0C8-CC30-30DB-1EB1-8B447D8993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55187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30F9BD8-B80B-87B3-464F-8AC6FE694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DBC18B1-79CD-1EED-2026-8C80A62633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557A0C8-CC30-30DB-1EB1-8B447D8993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67610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30F9BD8-B80B-87B3-464F-8AC6FE694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DBC18B1-79CD-1EED-2026-8C80A62633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557A0C8-CC30-30DB-1EB1-8B447D8993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1136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30F9BD8-B80B-87B3-464F-8AC6FE694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DBC18B1-79CD-1EED-2026-8C80A62633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557A0C8-CC30-30DB-1EB1-8B447D8993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63928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30F9BD8-B80B-87B3-464F-8AC6FE694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DBC18B1-79CD-1EED-2026-8C80A62633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557A0C8-CC30-30DB-1EB1-8B447D8993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57577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EE6EC8DD-8779-902D-C746-ADACC36A4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44993EC3-2CF6-9DCE-094A-50CB02F45D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1C6A6B07-9482-A5B3-D5B3-DC8350018B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5038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138D684-3E78-197E-2C37-002CDB044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04F30E31-B8C8-3AED-FD9C-C4DDA3CF9D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7FE07B8C-2110-FC1A-B5E1-E786A6087F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3635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ED146C0A-4DF1-FFF2-82DD-829534F29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555F467F-BB98-3A8C-3BDC-7AE13D00F6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BC09778B-5B3A-027D-FBBD-B37DAA4C90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851998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673D7C6-D802-08E2-6446-3C1E9390A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1F1D5E93-6399-D037-1029-B15E5E8E25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9B77486-6999-131B-3BA1-0B08A3A5D2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865981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673D7C6-D802-08E2-6446-3C1E9390A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1F1D5E93-6399-D037-1029-B15E5E8E25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9B77486-6999-131B-3BA1-0B08A3A5D2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524265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673D7C6-D802-08E2-6446-3C1E9390A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1F1D5E93-6399-D037-1029-B15E5E8E25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9B77486-6999-131B-3BA1-0B08A3A5D2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53259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AF941E2-CBC8-16CB-2B45-A7835718D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F84FA14D-4B70-6997-4D17-2220097EE4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4F494310-675F-90D1-7B43-1F350D86AE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079165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D617EBF-BD9D-4F1F-BBA5-B57470C46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8925E87-D9EE-EE11-D818-BE54B23330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40A9939-B3D6-D3F0-D80E-74C9D313A1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339524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0A8396A-85A2-4642-A00F-A256F7EB8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276A664E-2F2D-93DF-2ADA-A4A5B10C43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A542495D-EA44-9D8D-46E4-8BD176FA13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2406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D1D5716-E258-A3E3-F67E-1E6E51350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B02A086A-772E-1984-6E95-81DC3D26A9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62FFD635-3128-9096-7B2A-A2802B19BD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120132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744C4871-76F2-41EC-09D4-BCB94DEBB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18DB5E5B-4661-384A-08EC-02695A8FC7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65BEBB0F-15E9-3830-F855-F9F3ED32A8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231399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7D968AA9-BB6C-8293-D004-4E5218BF5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E6A3BAF1-B9E6-AD87-1DBB-20B6367866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CCE27BBB-9565-7EE3-746C-C687BAB050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247210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4139126-B622-83BF-320B-F2E7B5DD2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9C68CB6-C6EA-10BC-15F9-7710FC5B8F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377D4E41-399C-F3ED-2F11-54E6B90601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61624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5322696-3D71-530F-FF6A-BE5C36AE0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7935EAE5-EA8C-55A6-A917-687A710D77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1CBE746A-A6C7-7DBD-D321-9A5BCCB18F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100213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98726C54-F66F-0DE8-26BC-F335D71C5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0A1F45FA-4A84-AA1A-B0A9-91564E918E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09D34AB4-AE7F-072D-C959-E27FAC1565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292496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C956401-186E-CF35-8117-0DD257A13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45710086-C69B-4059-4CF2-2D7BC4301A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A270F5B6-FC67-CB1C-61CA-DAC984A02C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676089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9625D929-078A-6B4E-AFFD-04C2E1CCB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AFCCE2D-C694-D818-5EC7-45B40193F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764DFBCB-165A-3458-8F66-DBD02E9360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281007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9625D929-078A-6B4E-AFFD-04C2E1CCB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AFCCE2D-C694-D818-5EC7-45B40193F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764DFBCB-165A-3458-8F66-DBD02E9360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3540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46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659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714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616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839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4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004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56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742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405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3115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9863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0636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4128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080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5681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82C0F-A81B-4B2B-9B0C-842E6D2AD82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558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8A82C0F-A81B-4B2B-9B0C-842E6D2AD82E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D1F17D1C-1EBE-4D88-AB6C-154BC28403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1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miniproject1.docx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03DDA45D-FE9A-B7C1-6CEF-7CA25BECB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36E6F2-CFA7-CA18-AD00-DCE7C28E5104}"/>
              </a:ext>
            </a:extLst>
          </p:cNvPr>
          <p:cNvSpPr/>
          <p:nvPr/>
        </p:nvSpPr>
        <p:spPr>
          <a:xfrm>
            <a:off x="1444564" y="1841900"/>
            <a:ext cx="8876548" cy="34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34" dirty="0">
              <a:latin typeface="Articulate" panose="02000503040000020004" pitchFamily="2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8C9BE69-A908-8BC2-F3BC-8007C970B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41" y="975012"/>
            <a:ext cx="8489577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Formatting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Headings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&lt;h1&gt;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&lt;h6&gt;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paragraphs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&lt;p&gt;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and line breaks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Bold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&lt;b&gt;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italic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and underline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&lt;u&gt;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Ordered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ol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and unordered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lists.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Adding list items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&lt;li&gt;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Links and Anchors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Creating links using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href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="URL"&gt;Text&lt;/a&gt;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 images with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img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src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="URL" alt="description"&gt;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60BF2E-C28E-F2A7-A4DE-64E4320A0755}"/>
              </a:ext>
            </a:extLst>
          </p:cNvPr>
          <p:cNvSpPr txBox="1"/>
          <p:nvPr/>
        </p:nvSpPr>
        <p:spPr>
          <a:xfrm>
            <a:off x="268941" y="60568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highlight>
                  <a:srgbClr val="0000FF"/>
                </a:highlight>
              </a:rPr>
              <a:t>Core HTML Tags</a:t>
            </a:r>
          </a:p>
        </p:txBody>
      </p:sp>
    </p:spTree>
    <p:extLst>
      <p:ext uri="{BB962C8B-B14F-4D97-AF65-F5344CB8AC3E}">
        <p14:creationId xmlns:p14="http://schemas.microsoft.com/office/powerpoint/2010/main" val="1874871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06F7AC7-0B36-9C4E-7B48-BDDEFB054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C60074-026A-6324-EB02-07CB475785A4}"/>
              </a:ext>
            </a:extLst>
          </p:cNvPr>
          <p:cNvSpPr/>
          <p:nvPr/>
        </p:nvSpPr>
        <p:spPr>
          <a:xfrm>
            <a:off x="1444564" y="1841900"/>
            <a:ext cx="8876548" cy="34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34" dirty="0">
              <a:latin typeface="Articulate" panose="0200050304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206971-B50E-45F7-FD6D-F4291FE88B9C}"/>
              </a:ext>
            </a:extLst>
          </p:cNvPr>
          <p:cNvSpPr txBox="1"/>
          <p:nvPr/>
        </p:nvSpPr>
        <p:spPr>
          <a:xfrm>
            <a:off x="268941" y="60568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highlight>
                  <a:srgbClr val="0000FF"/>
                </a:highlight>
              </a:rPr>
              <a:t>Core HTML Tags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58761F-96E0-FBE2-2701-A2C7233145EA}"/>
              </a:ext>
            </a:extLst>
          </p:cNvPr>
          <p:cNvSpPr txBox="1"/>
          <p:nvPr/>
        </p:nvSpPr>
        <p:spPr>
          <a:xfrm>
            <a:off x="457199" y="1708447"/>
            <a:ext cx="935915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  <a:latin typeface="Verdana" panose="020B0604030504040204" pitchFamily="34" charset="0"/>
              </a:rPr>
              <a:t>By default, links will appear as follows in all browsers:</a:t>
            </a:r>
          </a:p>
          <a:p>
            <a:pPr algn="l"/>
            <a:endParaRPr lang="en-US" b="0" i="0" dirty="0"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Verdana" panose="020B0604030504040204" pitchFamily="34" charset="0"/>
              </a:rPr>
              <a:t>An unvisited link is underlined and blue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Verdana" panose="020B0604030504040204" pitchFamily="34" charset="0"/>
              </a:rPr>
              <a:t>A visited link is underlined and purple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Verdana" panose="020B0604030504040204" pitchFamily="34" charset="0"/>
              </a:rPr>
              <a:t>An active link is underlined and red</a:t>
            </a:r>
          </a:p>
        </p:txBody>
      </p:sp>
    </p:spTree>
    <p:extLst>
      <p:ext uri="{BB962C8B-B14F-4D97-AF65-F5344CB8AC3E}">
        <p14:creationId xmlns:p14="http://schemas.microsoft.com/office/powerpoint/2010/main" val="3262878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250185F-457C-E391-4C34-ADE2EDB6D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DABFB3-47B7-618F-E85D-52F424C4B5C3}"/>
              </a:ext>
            </a:extLst>
          </p:cNvPr>
          <p:cNvSpPr/>
          <p:nvPr/>
        </p:nvSpPr>
        <p:spPr>
          <a:xfrm>
            <a:off x="1444564" y="1841900"/>
            <a:ext cx="8876548" cy="34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34" dirty="0">
              <a:latin typeface="Articulate" panose="0200050304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B9BF53-6E79-B67A-9228-E1D30C3F0337}"/>
              </a:ext>
            </a:extLst>
          </p:cNvPr>
          <p:cNvSpPr txBox="1"/>
          <p:nvPr/>
        </p:nvSpPr>
        <p:spPr>
          <a:xfrm>
            <a:off x="268941" y="60568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highlight>
                  <a:srgbClr val="0000FF"/>
                </a:highlight>
              </a:rPr>
              <a:t>Core HTML Tags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0E9EFB-534D-3C8A-7AD5-2E5A3E337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917" y="1234313"/>
            <a:ext cx="4213411" cy="341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&lt;b&gt;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Bold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&lt;strong&gt;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Important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Italic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Emphasized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&lt;mark&gt;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Marked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&lt;small&gt;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Smaller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&lt;del&gt;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Deleted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&lt;ins&gt;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Inserted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&lt;sub&gt;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Subscript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&lt;sup&gt;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- Superscript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ED7DBD-7783-2085-F909-0B20E3D5D2D3}"/>
              </a:ext>
            </a:extLst>
          </p:cNvPr>
          <p:cNvSpPr txBox="1"/>
          <p:nvPr/>
        </p:nvSpPr>
        <p:spPr>
          <a:xfrm>
            <a:off x="686663" y="536576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&lt;!-- This is a comment --&gt;</a:t>
            </a:r>
          </a:p>
          <a:p>
            <a:endParaRPr lang="en-US" dirty="0"/>
          </a:p>
          <a:p>
            <a:r>
              <a:rPr lang="en-US" dirty="0"/>
              <a:t>&lt;p&gt;This is a paragraph.&lt;/p&gt;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097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250185F-457C-E391-4C34-ADE2EDB6D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DABFB3-47B7-618F-E85D-52F424C4B5C3}"/>
              </a:ext>
            </a:extLst>
          </p:cNvPr>
          <p:cNvSpPr/>
          <p:nvPr/>
        </p:nvSpPr>
        <p:spPr>
          <a:xfrm>
            <a:off x="1444564" y="1841900"/>
            <a:ext cx="8876548" cy="34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34" dirty="0">
              <a:latin typeface="Articulate" panose="0200050304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B9BF53-6E79-B67A-9228-E1D30C3F0337}"/>
              </a:ext>
            </a:extLst>
          </p:cNvPr>
          <p:cNvSpPr txBox="1"/>
          <p:nvPr/>
        </p:nvSpPr>
        <p:spPr>
          <a:xfrm>
            <a:off x="268940" y="605679"/>
            <a:ext cx="10478495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800" b="1" dirty="0">
                <a:highlight>
                  <a:srgbClr val="0000FF"/>
                </a:highlight>
              </a:rPr>
              <a:t>Core </a:t>
            </a:r>
            <a:r>
              <a:rPr lang="en-US" sz="8800" b="1" dirty="0">
                <a:highlight>
                  <a:srgbClr val="0000FF"/>
                </a:highlight>
              </a:rPr>
              <a:t>HTML Deep Dive: Forms, Tables, and Semantic Elements</a:t>
            </a:r>
            <a:r>
              <a:rPr lang="en-IN" sz="8800" b="1" dirty="0">
                <a:highlight>
                  <a:srgbClr val="0000FF"/>
                </a:highlight>
              </a:rPr>
              <a:t> Tags</a:t>
            </a:r>
          </a:p>
        </p:txBody>
      </p:sp>
    </p:spTree>
    <p:extLst>
      <p:ext uri="{BB962C8B-B14F-4D97-AF65-F5344CB8AC3E}">
        <p14:creationId xmlns:p14="http://schemas.microsoft.com/office/powerpoint/2010/main" val="4085452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250185F-457C-E391-4C34-ADE2EDB6D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DABFB3-47B7-618F-E85D-52F424C4B5C3}"/>
              </a:ext>
            </a:extLst>
          </p:cNvPr>
          <p:cNvSpPr/>
          <p:nvPr/>
        </p:nvSpPr>
        <p:spPr>
          <a:xfrm>
            <a:off x="1444564" y="1841900"/>
            <a:ext cx="8876548" cy="34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34" dirty="0">
              <a:latin typeface="Articulate" panose="02000503040000020004" pitchFamily="2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0EC0296-5551-2228-EEA7-06D980D4C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54" y="642082"/>
            <a:ext cx="9090212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Tables — displaying structured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to use: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Tabular data (schedules, price lists, exam marks). Not for layout.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table tags: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&lt;table&gt;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container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thead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tbody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tfoot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optional sections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&lt;tr&gt;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table row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header cell (usually bold &amp; centered)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&lt;td&gt;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data cell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scope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attribute on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accessibility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scope="col"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scope="row"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19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250185F-457C-E391-4C34-ADE2EDB6D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DABFB3-47B7-618F-E85D-52F424C4B5C3}"/>
              </a:ext>
            </a:extLst>
          </p:cNvPr>
          <p:cNvSpPr/>
          <p:nvPr/>
        </p:nvSpPr>
        <p:spPr>
          <a:xfrm>
            <a:off x="1444564" y="1841900"/>
            <a:ext cx="8876548" cy="34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34" dirty="0">
              <a:latin typeface="Articulate" panose="0200050304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0C6FB6-C516-2D7A-0714-162268EA2030}"/>
              </a:ext>
            </a:extLst>
          </p:cNvPr>
          <p:cNvSpPr txBox="1"/>
          <p:nvPr/>
        </p:nvSpPr>
        <p:spPr>
          <a:xfrm>
            <a:off x="528918" y="-79653"/>
            <a:ext cx="8615082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&lt;table&gt;</a:t>
            </a:r>
          </a:p>
          <a:p>
            <a:r>
              <a:rPr lang="en-IN" dirty="0"/>
              <a:t>  &lt;caption&gt;Semester 1 — Marks&lt;/caption&gt;</a:t>
            </a:r>
          </a:p>
          <a:p>
            <a:r>
              <a:rPr lang="en-IN" dirty="0"/>
              <a:t>  &lt;</a:t>
            </a:r>
            <a:r>
              <a:rPr lang="en-IN" dirty="0" err="1"/>
              <a:t>thead</a:t>
            </a:r>
            <a:r>
              <a:rPr lang="en-IN" dirty="0"/>
              <a:t>&gt;</a:t>
            </a:r>
          </a:p>
          <a:p>
            <a:r>
              <a:rPr lang="en-IN" dirty="0"/>
              <a:t>    &lt;tr&gt;</a:t>
            </a:r>
          </a:p>
          <a:p>
            <a:r>
              <a:rPr lang="en-IN" dirty="0"/>
              <a:t>      &lt;</a:t>
            </a:r>
            <a:r>
              <a:rPr lang="en-IN" dirty="0" err="1"/>
              <a:t>th</a:t>
            </a:r>
            <a:r>
              <a:rPr lang="en-IN" dirty="0"/>
              <a:t> scope="col"&gt;Roll No&lt;/</a:t>
            </a:r>
            <a:r>
              <a:rPr lang="en-IN" dirty="0" err="1"/>
              <a:t>th</a:t>
            </a:r>
            <a:r>
              <a:rPr lang="en-IN" dirty="0"/>
              <a:t>&gt;</a:t>
            </a:r>
          </a:p>
          <a:p>
            <a:r>
              <a:rPr lang="en-IN" dirty="0"/>
              <a:t>      &lt;</a:t>
            </a:r>
            <a:r>
              <a:rPr lang="en-IN" dirty="0" err="1"/>
              <a:t>th</a:t>
            </a:r>
            <a:r>
              <a:rPr lang="en-IN" dirty="0"/>
              <a:t> scope="col"&gt;Name&lt;/</a:t>
            </a:r>
            <a:r>
              <a:rPr lang="en-IN" dirty="0" err="1"/>
              <a:t>th</a:t>
            </a:r>
            <a:r>
              <a:rPr lang="en-IN" dirty="0"/>
              <a:t>&gt;</a:t>
            </a:r>
          </a:p>
          <a:p>
            <a:r>
              <a:rPr lang="en-IN" dirty="0"/>
              <a:t>      &lt;</a:t>
            </a:r>
            <a:r>
              <a:rPr lang="en-IN" dirty="0" err="1"/>
              <a:t>th</a:t>
            </a:r>
            <a:r>
              <a:rPr lang="en-IN" dirty="0"/>
              <a:t> scope="col"&gt;Math&lt;/</a:t>
            </a:r>
            <a:r>
              <a:rPr lang="en-IN" dirty="0" err="1"/>
              <a:t>th</a:t>
            </a:r>
            <a:r>
              <a:rPr lang="en-IN" dirty="0"/>
              <a:t>&gt;</a:t>
            </a:r>
          </a:p>
          <a:p>
            <a:r>
              <a:rPr lang="en-IN" dirty="0"/>
              <a:t>      &lt;</a:t>
            </a:r>
            <a:r>
              <a:rPr lang="en-IN" dirty="0" err="1"/>
              <a:t>th</a:t>
            </a:r>
            <a:r>
              <a:rPr lang="en-IN" dirty="0"/>
              <a:t> scope="col"&gt;Physics&lt;/</a:t>
            </a:r>
            <a:r>
              <a:rPr lang="en-IN" dirty="0" err="1"/>
              <a:t>th</a:t>
            </a:r>
            <a:r>
              <a:rPr lang="en-IN" dirty="0"/>
              <a:t>&gt;</a:t>
            </a:r>
          </a:p>
          <a:p>
            <a:r>
              <a:rPr lang="en-IN" dirty="0"/>
              <a:t>    &lt;/tr&gt;</a:t>
            </a:r>
          </a:p>
          <a:p>
            <a:r>
              <a:rPr lang="en-IN" dirty="0"/>
              <a:t>  &lt;/</a:t>
            </a:r>
            <a:r>
              <a:rPr lang="en-IN" dirty="0" err="1"/>
              <a:t>thead</a:t>
            </a:r>
            <a:r>
              <a:rPr lang="en-IN" dirty="0"/>
              <a:t>&gt;</a:t>
            </a:r>
          </a:p>
          <a:p>
            <a:r>
              <a:rPr lang="en-IN" dirty="0"/>
              <a:t>  &lt;</a:t>
            </a:r>
            <a:r>
              <a:rPr lang="en-IN" dirty="0" err="1"/>
              <a:t>tbody</a:t>
            </a:r>
            <a:r>
              <a:rPr lang="en-IN" dirty="0"/>
              <a:t>&gt;</a:t>
            </a:r>
          </a:p>
          <a:p>
            <a:r>
              <a:rPr lang="en-IN" dirty="0"/>
              <a:t>    &lt;tr&gt;</a:t>
            </a:r>
          </a:p>
          <a:p>
            <a:r>
              <a:rPr lang="en-IN" dirty="0"/>
              <a:t>      &lt;td&gt;101&lt;/td&gt;</a:t>
            </a:r>
          </a:p>
          <a:p>
            <a:r>
              <a:rPr lang="en-IN" dirty="0"/>
              <a:t>      &lt;td&gt;Asha&lt;/td&gt;</a:t>
            </a:r>
          </a:p>
          <a:p>
            <a:r>
              <a:rPr lang="en-IN" dirty="0"/>
              <a:t>      &lt;td&gt;85&lt;/td&gt;</a:t>
            </a:r>
          </a:p>
          <a:p>
            <a:r>
              <a:rPr lang="en-IN" dirty="0"/>
              <a:t>      &lt;td&gt;78&lt;/td&gt;</a:t>
            </a:r>
          </a:p>
          <a:p>
            <a:r>
              <a:rPr lang="en-IN" dirty="0"/>
              <a:t>    &lt;/tr&gt;</a:t>
            </a:r>
          </a:p>
          <a:p>
            <a:r>
              <a:rPr lang="en-IN" dirty="0"/>
              <a:t>    &lt;tr&gt;</a:t>
            </a:r>
          </a:p>
          <a:p>
            <a:r>
              <a:rPr lang="en-IN" dirty="0"/>
              <a:t>      &lt;td&gt;102&lt;/td&gt;</a:t>
            </a:r>
          </a:p>
          <a:p>
            <a:r>
              <a:rPr lang="en-IN" dirty="0"/>
              <a:t>      &lt;td&gt;Rahul&lt;/td&gt;</a:t>
            </a:r>
          </a:p>
          <a:p>
            <a:r>
              <a:rPr lang="en-IN" dirty="0"/>
              <a:t>      &lt;td&gt;90&lt;/td&gt;</a:t>
            </a:r>
          </a:p>
          <a:p>
            <a:r>
              <a:rPr lang="en-IN" dirty="0"/>
              <a:t>      &lt;td&gt;82&lt;/td&gt;</a:t>
            </a:r>
          </a:p>
          <a:p>
            <a:r>
              <a:rPr lang="en-IN" dirty="0"/>
              <a:t>    &lt;/tr&gt;</a:t>
            </a:r>
          </a:p>
          <a:p>
            <a:r>
              <a:rPr lang="en-IN" dirty="0"/>
              <a:t>  &lt;/</a:t>
            </a:r>
            <a:r>
              <a:rPr lang="en-IN" dirty="0" err="1"/>
              <a:t>tbody</a:t>
            </a:r>
            <a:r>
              <a:rPr lang="en-IN" dirty="0"/>
              <a:t>&gt;</a:t>
            </a:r>
          </a:p>
          <a:p>
            <a:r>
              <a:rPr lang="en-IN" dirty="0"/>
              <a:t>&lt;/table&gt;</a:t>
            </a:r>
          </a:p>
        </p:txBody>
      </p:sp>
    </p:spTree>
    <p:extLst>
      <p:ext uri="{BB962C8B-B14F-4D97-AF65-F5344CB8AC3E}">
        <p14:creationId xmlns:p14="http://schemas.microsoft.com/office/powerpoint/2010/main" val="44112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250185F-457C-E391-4C34-ADE2EDB6D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DABFB3-47B7-618F-E85D-52F424C4B5C3}"/>
              </a:ext>
            </a:extLst>
          </p:cNvPr>
          <p:cNvSpPr/>
          <p:nvPr/>
        </p:nvSpPr>
        <p:spPr>
          <a:xfrm>
            <a:off x="1444564" y="1841900"/>
            <a:ext cx="8876548" cy="34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34" dirty="0">
              <a:latin typeface="Articulate" panose="0200050304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6653AB-C185-69EE-A586-BE0AA9E9D9F2}"/>
              </a:ext>
            </a:extLst>
          </p:cNvPr>
          <p:cNvSpPr txBox="1"/>
          <p:nvPr/>
        </p:nvSpPr>
        <p:spPr>
          <a:xfrm>
            <a:off x="80681" y="-79653"/>
            <a:ext cx="9332259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US" sz="2000" b="1" dirty="0">
                <a:highlight>
                  <a:srgbClr val="FF0000"/>
                </a:highlight>
              </a:rPr>
              <a:t>Exercise: Build a timetable table for a 5-day week with 5 periods each day.</a:t>
            </a:r>
          </a:p>
          <a:p>
            <a:endParaRPr lang="en-IN" dirty="0">
              <a:highlight>
                <a:srgbClr val="FF0000"/>
              </a:highlight>
            </a:endParaRPr>
          </a:p>
          <a:p>
            <a:r>
              <a:rPr lang="en-IN" dirty="0"/>
              <a:t>&lt;!DOCTYPE html&gt;</a:t>
            </a:r>
          </a:p>
          <a:p>
            <a:r>
              <a:rPr lang="en-IN" dirty="0"/>
              <a:t>&lt;html lang="</a:t>
            </a:r>
            <a:r>
              <a:rPr lang="en-IN" dirty="0" err="1"/>
              <a:t>en</a:t>
            </a:r>
            <a:r>
              <a:rPr lang="en-IN" dirty="0"/>
              <a:t>"&gt;</a:t>
            </a:r>
          </a:p>
          <a:p>
            <a:r>
              <a:rPr lang="en-IN" dirty="0"/>
              <a:t>&lt;head&gt;</a:t>
            </a:r>
          </a:p>
          <a:p>
            <a:r>
              <a:rPr lang="en-IN" dirty="0"/>
              <a:t>  &lt;meta charset="UTF-8"&gt;</a:t>
            </a:r>
          </a:p>
          <a:p>
            <a:r>
              <a:rPr lang="en-IN" dirty="0"/>
              <a:t>  &lt;meta name="viewport" content="width=device-width, initial-scale=1.0"&gt;</a:t>
            </a:r>
          </a:p>
          <a:p>
            <a:r>
              <a:rPr lang="en-IN" dirty="0"/>
              <a:t>  &lt;title&gt;Weekly Timetable&lt;/title&gt;</a:t>
            </a:r>
          </a:p>
          <a:p>
            <a:r>
              <a:rPr lang="en-IN" dirty="0"/>
              <a:t>&lt;/head&gt;</a:t>
            </a:r>
          </a:p>
          <a:p>
            <a:r>
              <a:rPr lang="en-IN" dirty="0"/>
              <a:t>&lt;body&gt;</a:t>
            </a:r>
          </a:p>
          <a:p>
            <a:r>
              <a:rPr lang="en-IN" dirty="0"/>
              <a:t>  &lt;h1&gt;Weekly Timetable&lt;/h1&gt;</a:t>
            </a:r>
          </a:p>
          <a:p>
            <a:endParaRPr lang="en-IN" dirty="0"/>
          </a:p>
          <a:p>
            <a:r>
              <a:rPr lang="en-IN" dirty="0"/>
              <a:t>  &lt;table border="1" </a:t>
            </a:r>
            <a:r>
              <a:rPr lang="en-IN" dirty="0" err="1"/>
              <a:t>cellspacing</a:t>
            </a:r>
            <a:r>
              <a:rPr lang="en-IN" dirty="0"/>
              <a:t>="0" cellpadding="8"&gt;</a:t>
            </a:r>
          </a:p>
          <a:p>
            <a:r>
              <a:rPr lang="en-IN" dirty="0"/>
              <a:t>    &lt;caption&gt;&lt;b&gt;Class Timetable — Monday to Friday&lt;/b&gt;&lt;/caption&gt;</a:t>
            </a:r>
          </a:p>
          <a:p>
            <a:r>
              <a:rPr lang="en-IN" dirty="0"/>
              <a:t>    &lt;</a:t>
            </a:r>
            <a:r>
              <a:rPr lang="en-IN" dirty="0" err="1"/>
              <a:t>thead</a:t>
            </a:r>
            <a:r>
              <a:rPr lang="en-IN" dirty="0"/>
              <a:t>&gt;</a:t>
            </a:r>
          </a:p>
          <a:p>
            <a:r>
              <a:rPr lang="en-IN" dirty="0"/>
              <a:t>      &lt;tr&gt;</a:t>
            </a:r>
          </a:p>
          <a:p>
            <a:r>
              <a:rPr lang="en-IN" dirty="0"/>
              <a:t>        &lt;</a:t>
            </a:r>
            <a:r>
              <a:rPr lang="en-IN" dirty="0" err="1"/>
              <a:t>th</a:t>
            </a:r>
            <a:r>
              <a:rPr lang="en-IN" dirty="0"/>
              <a:t>&gt;Day&lt;/</a:t>
            </a:r>
            <a:r>
              <a:rPr lang="en-IN" dirty="0" err="1"/>
              <a:t>th</a:t>
            </a:r>
            <a:r>
              <a:rPr lang="en-IN" dirty="0"/>
              <a:t>&gt;</a:t>
            </a:r>
          </a:p>
          <a:p>
            <a:r>
              <a:rPr lang="en-IN" dirty="0"/>
              <a:t>        &lt;</a:t>
            </a:r>
            <a:r>
              <a:rPr lang="en-IN" dirty="0" err="1"/>
              <a:t>th</a:t>
            </a:r>
            <a:r>
              <a:rPr lang="en-IN" dirty="0"/>
              <a:t>&gt;Period 1&lt;</a:t>
            </a:r>
            <a:r>
              <a:rPr lang="en-IN" dirty="0" err="1"/>
              <a:t>br</a:t>
            </a:r>
            <a:r>
              <a:rPr lang="en-IN" dirty="0"/>
              <a:t>&gt;9:00–9:50&lt;/</a:t>
            </a:r>
            <a:r>
              <a:rPr lang="en-IN" dirty="0" err="1"/>
              <a:t>th</a:t>
            </a:r>
            <a:r>
              <a:rPr lang="en-IN" dirty="0"/>
              <a:t>&gt;</a:t>
            </a:r>
          </a:p>
          <a:p>
            <a:r>
              <a:rPr lang="en-IN" dirty="0"/>
              <a:t>        &lt;</a:t>
            </a:r>
            <a:r>
              <a:rPr lang="en-IN" dirty="0" err="1"/>
              <a:t>th</a:t>
            </a:r>
            <a:r>
              <a:rPr lang="en-IN" dirty="0"/>
              <a:t>&gt;Period 2&lt;</a:t>
            </a:r>
            <a:r>
              <a:rPr lang="en-IN" dirty="0" err="1"/>
              <a:t>br</a:t>
            </a:r>
            <a:r>
              <a:rPr lang="en-IN" dirty="0"/>
              <a:t>&gt;10:00–10:50&lt;/</a:t>
            </a:r>
            <a:r>
              <a:rPr lang="en-IN" dirty="0" err="1"/>
              <a:t>th</a:t>
            </a:r>
            <a:r>
              <a:rPr lang="en-IN" dirty="0"/>
              <a:t>&gt;</a:t>
            </a:r>
          </a:p>
          <a:p>
            <a:r>
              <a:rPr lang="en-IN" dirty="0"/>
              <a:t>        &lt;</a:t>
            </a:r>
            <a:r>
              <a:rPr lang="en-IN" dirty="0" err="1"/>
              <a:t>th</a:t>
            </a:r>
            <a:r>
              <a:rPr lang="en-IN" dirty="0"/>
              <a:t>&gt;Period 3&lt;</a:t>
            </a:r>
            <a:r>
              <a:rPr lang="en-IN" dirty="0" err="1"/>
              <a:t>br</a:t>
            </a:r>
            <a:r>
              <a:rPr lang="en-IN" dirty="0"/>
              <a:t>&gt;11:00–11:50&lt;/</a:t>
            </a:r>
            <a:r>
              <a:rPr lang="en-IN" dirty="0" err="1"/>
              <a:t>th</a:t>
            </a:r>
            <a:r>
              <a:rPr lang="en-IN" dirty="0"/>
              <a:t>&gt;</a:t>
            </a:r>
          </a:p>
          <a:p>
            <a:r>
              <a:rPr lang="en-IN" dirty="0"/>
              <a:t>        &lt;</a:t>
            </a:r>
            <a:r>
              <a:rPr lang="en-IN" dirty="0" err="1"/>
              <a:t>th</a:t>
            </a:r>
            <a:r>
              <a:rPr lang="en-IN" dirty="0"/>
              <a:t>&gt;Period 4&lt;</a:t>
            </a:r>
            <a:r>
              <a:rPr lang="en-IN" dirty="0" err="1"/>
              <a:t>br</a:t>
            </a:r>
            <a:r>
              <a:rPr lang="en-IN" dirty="0"/>
              <a:t>&gt;12:00–12:50&lt;/</a:t>
            </a:r>
            <a:r>
              <a:rPr lang="en-IN" dirty="0" err="1"/>
              <a:t>th</a:t>
            </a:r>
            <a:r>
              <a:rPr lang="en-IN" dirty="0"/>
              <a:t>&gt;</a:t>
            </a:r>
          </a:p>
          <a:p>
            <a:r>
              <a:rPr lang="en-IN" dirty="0"/>
              <a:t>        &lt;</a:t>
            </a:r>
            <a:r>
              <a:rPr lang="en-IN" dirty="0" err="1"/>
              <a:t>th</a:t>
            </a:r>
            <a:r>
              <a:rPr lang="en-IN" dirty="0"/>
              <a:t>&gt;Period 5&lt;</a:t>
            </a:r>
            <a:r>
              <a:rPr lang="en-IN" dirty="0" err="1"/>
              <a:t>br</a:t>
            </a:r>
            <a:r>
              <a:rPr lang="en-IN" dirty="0"/>
              <a:t>&gt;2:00–2:50&lt;/</a:t>
            </a:r>
            <a:r>
              <a:rPr lang="en-IN" dirty="0" err="1"/>
              <a:t>th</a:t>
            </a:r>
            <a:r>
              <a:rPr lang="en-IN" dirty="0"/>
              <a:t>&gt;</a:t>
            </a:r>
          </a:p>
          <a:p>
            <a:r>
              <a:rPr lang="en-IN" dirty="0"/>
              <a:t>      &lt;/tr&gt;</a:t>
            </a:r>
          </a:p>
          <a:p>
            <a:r>
              <a:rPr lang="en-IN" dirty="0"/>
              <a:t>    &lt;/</a:t>
            </a:r>
            <a:r>
              <a:rPr lang="en-IN" dirty="0" err="1"/>
              <a:t>thead</a:t>
            </a:r>
            <a:r>
              <a:rPr lang="en-IN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2604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9" dur="2000"/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6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250185F-457C-E391-4C34-ADE2EDB6D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DABFB3-47B7-618F-E85D-52F424C4B5C3}"/>
              </a:ext>
            </a:extLst>
          </p:cNvPr>
          <p:cNvSpPr/>
          <p:nvPr/>
        </p:nvSpPr>
        <p:spPr>
          <a:xfrm>
            <a:off x="1444564" y="1841900"/>
            <a:ext cx="8876548" cy="34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34" dirty="0">
              <a:latin typeface="Articulate" panose="0200050304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B8211A-AED0-B568-F4E9-0C5BD2B1852D}"/>
              </a:ext>
            </a:extLst>
          </p:cNvPr>
          <p:cNvSpPr txBox="1"/>
          <p:nvPr/>
        </p:nvSpPr>
        <p:spPr>
          <a:xfrm>
            <a:off x="0" y="113648"/>
            <a:ext cx="3567953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&lt;</a:t>
            </a:r>
            <a:r>
              <a:rPr lang="en-IN" sz="1600" dirty="0" err="1"/>
              <a:t>tbody</a:t>
            </a:r>
            <a:r>
              <a:rPr lang="en-IN" sz="1600" dirty="0"/>
              <a:t>&gt;</a:t>
            </a:r>
          </a:p>
          <a:p>
            <a:r>
              <a:rPr lang="en-IN" sz="1600" dirty="0"/>
              <a:t>      &lt;tr&gt;</a:t>
            </a:r>
          </a:p>
          <a:p>
            <a:r>
              <a:rPr lang="en-IN" sz="1600" dirty="0"/>
              <a:t>        &lt;</a:t>
            </a:r>
            <a:r>
              <a:rPr lang="en-IN" sz="1600" dirty="0" err="1"/>
              <a:t>th</a:t>
            </a:r>
            <a:r>
              <a:rPr lang="en-IN" sz="1600" dirty="0"/>
              <a:t>&gt;Monday&lt;/</a:t>
            </a:r>
            <a:r>
              <a:rPr lang="en-IN" sz="1600" dirty="0" err="1"/>
              <a:t>th</a:t>
            </a:r>
            <a:r>
              <a:rPr lang="en-IN" sz="1600" dirty="0"/>
              <a:t>&gt;</a:t>
            </a:r>
          </a:p>
          <a:p>
            <a:r>
              <a:rPr lang="en-IN" sz="1600" dirty="0"/>
              <a:t>        &lt;td&gt;HTML&lt;/td&gt;</a:t>
            </a:r>
          </a:p>
          <a:p>
            <a:r>
              <a:rPr lang="en-IN" sz="1600" dirty="0"/>
              <a:t>        &lt;td&gt;Math&lt;/td&gt;</a:t>
            </a:r>
          </a:p>
          <a:p>
            <a:r>
              <a:rPr lang="en-IN" sz="1600" dirty="0"/>
              <a:t>        &lt;td&gt;Break&lt;/td&gt;</a:t>
            </a:r>
          </a:p>
          <a:p>
            <a:r>
              <a:rPr lang="en-IN" sz="1600" dirty="0"/>
              <a:t>        &lt;td&gt;CSS&lt;/td&gt;</a:t>
            </a:r>
          </a:p>
          <a:p>
            <a:r>
              <a:rPr lang="en-IN" sz="1600" dirty="0"/>
              <a:t>        &lt;td&gt;Lab&lt;/td&gt;</a:t>
            </a:r>
          </a:p>
          <a:p>
            <a:r>
              <a:rPr lang="en-IN" sz="1600" dirty="0"/>
              <a:t>      &lt;/tr&gt;</a:t>
            </a:r>
          </a:p>
          <a:p>
            <a:r>
              <a:rPr lang="en-IN" sz="1600" dirty="0"/>
              <a:t>      &lt;tr&gt;</a:t>
            </a:r>
          </a:p>
          <a:p>
            <a:r>
              <a:rPr lang="en-IN" sz="1600" dirty="0"/>
              <a:t>        &lt;</a:t>
            </a:r>
            <a:r>
              <a:rPr lang="en-IN" sz="1600" dirty="0" err="1"/>
              <a:t>th</a:t>
            </a:r>
            <a:r>
              <a:rPr lang="en-IN" sz="1600" dirty="0"/>
              <a:t>&gt;Tuesday&lt;/</a:t>
            </a:r>
            <a:r>
              <a:rPr lang="en-IN" sz="1600" dirty="0" err="1"/>
              <a:t>th</a:t>
            </a:r>
            <a:r>
              <a:rPr lang="en-IN" sz="1600" dirty="0"/>
              <a:t>&gt;</a:t>
            </a:r>
          </a:p>
          <a:p>
            <a:r>
              <a:rPr lang="en-IN" sz="1600" dirty="0"/>
              <a:t>        &lt;td&gt;Python&lt;/td&gt;</a:t>
            </a:r>
          </a:p>
          <a:p>
            <a:r>
              <a:rPr lang="en-IN" sz="1600" dirty="0"/>
              <a:t>        &lt;td&gt;DBMS&lt;/td&gt;</a:t>
            </a:r>
          </a:p>
          <a:p>
            <a:r>
              <a:rPr lang="en-IN" sz="1600" dirty="0"/>
              <a:t>        &lt;td&gt;Break&lt;/td&gt;</a:t>
            </a:r>
          </a:p>
          <a:p>
            <a:r>
              <a:rPr lang="en-IN" sz="1600" dirty="0"/>
              <a:t>        &lt;td&gt;Project&lt;/td&gt;</a:t>
            </a:r>
          </a:p>
          <a:p>
            <a:r>
              <a:rPr lang="en-IN" sz="1600" dirty="0"/>
              <a:t>        &lt;td&gt;English&lt;/td&gt;</a:t>
            </a:r>
          </a:p>
          <a:p>
            <a:r>
              <a:rPr lang="en-IN" sz="1600" dirty="0"/>
              <a:t>      &lt;/tr&gt;</a:t>
            </a:r>
          </a:p>
          <a:p>
            <a:r>
              <a:rPr lang="en-IN" sz="1600" dirty="0"/>
              <a:t>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0E30E-2BFE-E012-4BFC-87E40269B6D1}"/>
              </a:ext>
            </a:extLst>
          </p:cNvPr>
          <p:cNvSpPr txBox="1"/>
          <p:nvPr/>
        </p:nvSpPr>
        <p:spPr>
          <a:xfrm>
            <a:off x="5428129" y="-104732"/>
            <a:ext cx="6122894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&lt;tr&gt;</a:t>
            </a:r>
          </a:p>
          <a:p>
            <a:r>
              <a:rPr lang="en-IN" sz="1400" dirty="0"/>
              <a:t>        &lt;</a:t>
            </a:r>
            <a:r>
              <a:rPr lang="en-IN" sz="1400" dirty="0" err="1"/>
              <a:t>th</a:t>
            </a:r>
            <a:r>
              <a:rPr lang="en-IN" sz="1400" dirty="0"/>
              <a:t>&gt;Wednesday&lt;/</a:t>
            </a:r>
            <a:r>
              <a:rPr lang="en-IN" sz="1400" dirty="0" err="1"/>
              <a:t>th</a:t>
            </a:r>
            <a:r>
              <a:rPr lang="en-IN" sz="1400" dirty="0"/>
              <a:t>&gt;</a:t>
            </a:r>
          </a:p>
          <a:p>
            <a:r>
              <a:rPr lang="en-IN" sz="1400" dirty="0"/>
              <a:t>        &lt;td&gt;CSS&lt;/td&gt;</a:t>
            </a:r>
          </a:p>
          <a:p>
            <a:r>
              <a:rPr lang="en-IN" sz="1400" dirty="0"/>
              <a:t>        &lt;td&gt;Math&lt;/td&gt;</a:t>
            </a:r>
          </a:p>
          <a:p>
            <a:r>
              <a:rPr lang="en-IN" sz="1400" dirty="0"/>
              <a:t>        &lt;td&gt;Break&lt;/td&gt;</a:t>
            </a:r>
          </a:p>
          <a:p>
            <a:r>
              <a:rPr lang="en-IN" sz="1400" dirty="0"/>
              <a:t>        &lt;td&gt;Python&lt;/td&gt;</a:t>
            </a:r>
          </a:p>
          <a:p>
            <a:r>
              <a:rPr lang="en-IN" sz="1400" dirty="0"/>
              <a:t>        &lt;td&gt;Workshop&lt;/td&gt;</a:t>
            </a:r>
          </a:p>
          <a:p>
            <a:r>
              <a:rPr lang="en-IN" sz="1400" dirty="0"/>
              <a:t>      &lt;/tr&gt;</a:t>
            </a:r>
          </a:p>
          <a:p>
            <a:r>
              <a:rPr lang="en-IN" sz="1400" dirty="0"/>
              <a:t>      &lt;tr&gt;</a:t>
            </a:r>
          </a:p>
          <a:p>
            <a:r>
              <a:rPr lang="en-IN" sz="1400" dirty="0"/>
              <a:t>        &lt;</a:t>
            </a:r>
            <a:r>
              <a:rPr lang="en-IN" sz="1400" dirty="0" err="1"/>
              <a:t>th</a:t>
            </a:r>
            <a:r>
              <a:rPr lang="en-IN" sz="1400" dirty="0"/>
              <a:t>&gt;Thursday&lt;/</a:t>
            </a:r>
            <a:r>
              <a:rPr lang="en-IN" sz="1400" dirty="0" err="1"/>
              <a:t>th</a:t>
            </a:r>
            <a:r>
              <a:rPr lang="en-IN" sz="1400" dirty="0"/>
              <a:t>&gt;</a:t>
            </a:r>
          </a:p>
          <a:p>
            <a:r>
              <a:rPr lang="en-IN" sz="1400" dirty="0"/>
              <a:t>        &lt;td&gt;DBMS&lt;/td&gt;</a:t>
            </a:r>
          </a:p>
          <a:p>
            <a:r>
              <a:rPr lang="en-IN" sz="1400" dirty="0"/>
              <a:t>        &lt;td&gt;HTML&lt;/td&gt;</a:t>
            </a:r>
          </a:p>
          <a:p>
            <a:r>
              <a:rPr lang="en-IN" sz="1400" dirty="0"/>
              <a:t>        &lt;td&gt;Break&lt;/td&gt;</a:t>
            </a:r>
          </a:p>
          <a:p>
            <a:r>
              <a:rPr lang="en-IN" sz="1400" dirty="0"/>
              <a:t>        &lt;td&gt;Project&lt;/td&gt;</a:t>
            </a:r>
          </a:p>
          <a:p>
            <a:r>
              <a:rPr lang="en-IN" sz="1400" dirty="0"/>
              <a:t>        &lt;td&gt;Lab&lt;/td&gt;</a:t>
            </a:r>
          </a:p>
          <a:p>
            <a:r>
              <a:rPr lang="en-IN" sz="1400" dirty="0"/>
              <a:t>      &lt;/tr&gt;</a:t>
            </a:r>
          </a:p>
          <a:p>
            <a:r>
              <a:rPr lang="en-IN" sz="1400" dirty="0"/>
              <a:t>      &lt;tr&gt;</a:t>
            </a:r>
          </a:p>
          <a:p>
            <a:r>
              <a:rPr lang="en-IN" sz="1400" dirty="0"/>
              <a:t>        &lt;</a:t>
            </a:r>
            <a:r>
              <a:rPr lang="en-IN" sz="1400" dirty="0" err="1"/>
              <a:t>th</a:t>
            </a:r>
            <a:r>
              <a:rPr lang="en-IN" sz="1400" dirty="0"/>
              <a:t>&gt;Friday&lt;/</a:t>
            </a:r>
            <a:r>
              <a:rPr lang="en-IN" sz="1400" dirty="0" err="1"/>
              <a:t>th</a:t>
            </a:r>
            <a:r>
              <a:rPr lang="en-IN" sz="1400" dirty="0"/>
              <a:t>&gt;</a:t>
            </a:r>
          </a:p>
          <a:p>
            <a:r>
              <a:rPr lang="en-IN" sz="1400" dirty="0"/>
              <a:t>        &lt;td&gt;English&lt;/td&gt;</a:t>
            </a:r>
          </a:p>
          <a:p>
            <a:r>
              <a:rPr lang="en-IN" sz="1400" dirty="0"/>
              <a:t>        &lt;td&gt;Python&lt;/td&gt;</a:t>
            </a:r>
          </a:p>
          <a:p>
            <a:r>
              <a:rPr lang="en-IN" sz="1400" dirty="0"/>
              <a:t>        &lt;td&gt;Break&lt;/td&gt;</a:t>
            </a:r>
          </a:p>
          <a:p>
            <a:r>
              <a:rPr lang="en-IN" sz="1400" dirty="0"/>
              <a:t>        &lt;td&gt;CSS&lt;/td&gt;</a:t>
            </a:r>
          </a:p>
          <a:p>
            <a:r>
              <a:rPr lang="en-IN" sz="1400" dirty="0"/>
              <a:t>        &lt;td&gt;Games&lt;/td&gt;</a:t>
            </a:r>
          </a:p>
          <a:p>
            <a:r>
              <a:rPr lang="en-IN" sz="1400" dirty="0"/>
              <a:t>      &lt;/tr&gt;</a:t>
            </a:r>
          </a:p>
          <a:p>
            <a:r>
              <a:rPr lang="en-IN" sz="1400" dirty="0"/>
              <a:t>    &lt;/</a:t>
            </a:r>
            <a:r>
              <a:rPr lang="en-IN" sz="1400" dirty="0" err="1"/>
              <a:t>tbody</a:t>
            </a:r>
            <a:r>
              <a:rPr lang="en-IN" sz="1400" dirty="0"/>
              <a:t>&gt;</a:t>
            </a:r>
          </a:p>
          <a:p>
            <a:r>
              <a:rPr lang="en-IN" sz="1400" dirty="0"/>
              <a:t>  &lt;/table&gt;</a:t>
            </a:r>
          </a:p>
          <a:p>
            <a:endParaRPr lang="en-IN" sz="1400" dirty="0"/>
          </a:p>
          <a:p>
            <a:r>
              <a:rPr lang="en-IN" sz="1400" dirty="0"/>
              <a:t>&lt;/body&gt;</a:t>
            </a:r>
          </a:p>
          <a:p>
            <a:r>
              <a:rPr lang="en-IN" sz="14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137022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9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1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4" dur="2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2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0" dur="2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3" dur="2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6" dur="2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9" dur="20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2" dur="20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5" dur="20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8" dur="20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1" dur="20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4" dur="20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7" dur="20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0" dur="20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3" dur="200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6" dur="2000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9" dur="2000"/>
                                        <p:tgtEl>
                                          <p:spTgt spid="6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2" dur="2000"/>
                                        <p:tgtEl>
                                          <p:spTgt spid="6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5" dur="2000"/>
                                        <p:tgtEl>
                                          <p:spTgt spid="6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8" dur="2000"/>
                                        <p:tgtEl>
                                          <p:spTgt spid="6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1" dur="2000"/>
                                        <p:tgtEl>
                                          <p:spTgt spid="6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4" dur="2000"/>
                                        <p:tgtEl>
                                          <p:spTgt spid="6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F9AC2B35-3C9D-0F63-58F7-EE5559E1C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1F6C53-22AA-6B67-EF99-D526CD5372EC}"/>
              </a:ext>
            </a:extLst>
          </p:cNvPr>
          <p:cNvSpPr/>
          <p:nvPr/>
        </p:nvSpPr>
        <p:spPr>
          <a:xfrm>
            <a:off x="1444564" y="1841900"/>
            <a:ext cx="8876548" cy="34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34" dirty="0">
              <a:latin typeface="Articulate" panose="0200050304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DA59A-40DD-8F37-8B61-3FF09E98181F}"/>
              </a:ext>
            </a:extLst>
          </p:cNvPr>
          <p:cNvSpPr txBox="1"/>
          <p:nvPr/>
        </p:nvSpPr>
        <p:spPr>
          <a:xfrm>
            <a:off x="67143" y="106710"/>
            <a:ext cx="111162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What Are Semantic Tags?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FF14A7-A2CF-2423-5741-A4D2AD847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43" y="859513"/>
            <a:ext cx="1219218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 tags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special HTML elements that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tell both the browser and humans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what kind of content is inside them.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simple words: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 tag gives meaning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the content inside it.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A03A17-81DA-6350-0160-93EB30B6703B}"/>
              </a:ext>
            </a:extLst>
          </p:cNvPr>
          <p:cNvSpPr txBox="1"/>
          <p:nvPr/>
        </p:nvSpPr>
        <p:spPr>
          <a:xfrm>
            <a:off x="625289" y="2854842"/>
            <a:ext cx="61632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Example:</a:t>
            </a:r>
          </a:p>
          <a:p>
            <a:endParaRPr lang="en-IN" dirty="0"/>
          </a:p>
          <a:p>
            <a:r>
              <a:rPr lang="en-IN" dirty="0"/>
              <a:t>&lt;header&gt;Welcome to My Website&lt;/header&gt;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D8D1A32-5249-8752-1EB1-A20A5E379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43" y="3934500"/>
            <a:ext cx="912168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Why Were Semantic Tags Introduced?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 semantic tags, developers used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&lt;div&gt;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&lt;span&gt;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 almost everything.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That made HTML code look messy and hard to understand — something like this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&lt;div id="top"&gt;&lt;/div&gt;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&lt;div id="main"&gt;&lt;/div&gt;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&lt;div id="bottom"&gt;&lt;/div&gt;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702C60-6BD6-CB53-7891-6420F742575F}"/>
              </a:ext>
            </a:extLst>
          </p:cNvPr>
          <p:cNvSpPr txBox="1"/>
          <p:nvPr/>
        </p:nvSpPr>
        <p:spPr>
          <a:xfrm>
            <a:off x="3771900" y="5827960"/>
            <a:ext cx="84200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You can’t easily guess what’s inside each section.</a:t>
            </a:r>
          </a:p>
          <a:p>
            <a:br>
              <a:rPr lang="en-US" b="1" dirty="0">
                <a:solidFill>
                  <a:srgbClr val="FFFF00"/>
                </a:solidFill>
              </a:rPr>
            </a:br>
            <a:r>
              <a:rPr lang="en-US" b="1" dirty="0">
                <a:solidFill>
                  <a:srgbClr val="FFFF00"/>
                </a:solidFill>
              </a:rPr>
              <a:t>So HTML5 introduced semantic tags to make code more meaningful and organized.</a:t>
            </a:r>
          </a:p>
        </p:txBody>
      </p:sp>
    </p:spTree>
    <p:extLst>
      <p:ext uri="{BB962C8B-B14F-4D97-AF65-F5344CB8AC3E}">
        <p14:creationId xmlns:p14="http://schemas.microsoft.com/office/powerpoint/2010/main" val="87288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50DE782F-2531-E46C-1241-9D051D37F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85FE45D-0067-4FB3-A3F9-7080E66B497B}"/>
              </a:ext>
            </a:extLst>
          </p:cNvPr>
          <p:cNvSpPr txBox="1"/>
          <p:nvPr/>
        </p:nvSpPr>
        <p:spPr>
          <a:xfrm>
            <a:off x="161365" y="681318"/>
            <a:ext cx="1103555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000080"/>
                </a:highlight>
              </a:rPr>
              <a:t>Why Use Semantic Tags?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highlight>
                  <a:srgbClr val="FF0000"/>
                </a:highlight>
              </a:rPr>
              <a:t>Clarity</a:t>
            </a:r>
            <a:r>
              <a:rPr lang="en-IN" dirty="0"/>
              <a:t>: Makes the HTML code easier to read and understand.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highlight>
                  <a:srgbClr val="FF0000"/>
                </a:highlight>
              </a:rPr>
              <a:t>SEO</a:t>
            </a:r>
            <a:r>
              <a:rPr lang="en-IN" dirty="0"/>
              <a:t> </a:t>
            </a:r>
            <a:r>
              <a:rPr lang="en-IN" dirty="0">
                <a:highlight>
                  <a:srgbClr val="FF0000"/>
                </a:highlight>
              </a:rPr>
              <a:t>Benefits</a:t>
            </a:r>
            <a:r>
              <a:rPr lang="en-IN" dirty="0"/>
              <a:t>: Helps search engines understand webpage structure.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highlight>
                  <a:srgbClr val="FF0000"/>
                </a:highlight>
              </a:rPr>
              <a:t>Accessibility</a:t>
            </a:r>
            <a:r>
              <a:rPr lang="en-IN" dirty="0"/>
              <a:t>: Improves compatibility with screen readers for visually impaired users.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highlight>
                  <a:srgbClr val="FF0000"/>
                </a:highlight>
              </a:rPr>
              <a:t>Future-Proofing</a:t>
            </a:r>
            <a:r>
              <a:rPr lang="en-IN" dirty="0"/>
              <a:t>: Aligns with modern web development standards.</a:t>
            </a:r>
          </a:p>
        </p:txBody>
      </p:sp>
    </p:spTree>
    <p:extLst>
      <p:ext uri="{BB962C8B-B14F-4D97-AF65-F5344CB8AC3E}">
        <p14:creationId xmlns:p14="http://schemas.microsoft.com/office/powerpoint/2010/main" val="2317080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FF26A7B-A0E9-26FF-BC7D-229F9E0CB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609D469E-DFEF-3D6A-53F2-A9E43AC51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909" y="934651"/>
            <a:ext cx="45144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 of Common Semantic Tags</a:t>
            </a:r>
            <a:endParaRPr kumimoji="0" lang="en-US" altLang="en-US" sz="4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63221DC-0F0E-30B7-E179-6FB12B3B8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27537"/>
              </p:ext>
            </p:extLst>
          </p:nvPr>
        </p:nvGraphicFramePr>
        <p:xfrm>
          <a:off x="600363" y="1625600"/>
          <a:ext cx="11055927" cy="4729014"/>
        </p:xfrm>
        <a:graphic>
          <a:graphicData uri="http://schemas.openxmlformats.org/drawingml/2006/table">
            <a:tbl>
              <a:tblPr/>
              <a:tblGrid>
                <a:gridCol w="3685309">
                  <a:extLst>
                    <a:ext uri="{9D8B030D-6E8A-4147-A177-3AD203B41FA5}">
                      <a16:colId xmlns:a16="http://schemas.microsoft.com/office/drawing/2014/main" val="3948376331"/>
                    </a:ext>
                  </a:extLst>
                </a:gridCol>
                <a:gridCol w="3685309">
                  <a:extLst>
                    <a:ext uri="{9D8B030D-6E8A-4147-A177-3AD203B41FA5}">
                      <a16:colId xmlns:a16="http://schemas.microsoft.com/office/drawing/2014/main" val="2698089257"/>
                    </a:ext>
                  </a:extLst>
                </a:gridCol>
                <a:gridCol w="3685309">
                  <a:extLst>
                    <a:ext uri="{9D8B030D-6E8A-4147-A177-3AD203B41FA5}">
                      <a16:colId xmlns:a16="http://schemas.microsoft.com/office/drawing/2014/main" val="3080126175"/>
                    </a:ext>
                  </a:extLst>
                </a:gridCol>
              </a:tblGrid>
              <a:tr h="525446">
                <a:tc>
                  <a:txBody>
                    <a:bodyPr/>
                    <a:lstStyle/>
                    <a:p>
                      <a:r>
                        <a:rPr lang="en-IN"/>
                        <a:t>Semantic Tag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Meaning /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725038"/>
                  </a:ext>
                </a:extLst>
              </a:tr>
              <a:tr h="525446">
                <a:tc>
                  <a:txBody>
                    <a:bodyPr/>
                    <a:lstStyle/>
                    <a:p>
                      <a:r>
                        <a:rPr lang="en-IN"/>
                        <a:t>&lt;header&gt;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Top section of a page or article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Logo, title, navigation links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808014"/>
                  </a:ext>
                </a:extLst>
              </a:tr>
              <a:tr h="525446">
                <a:tc>
                  <a:txBody>
                    <a:bodyPr/>
                    <a:lstStyle/>
                    <a:p>
                      <a:r>
                        <a:rPr lang="en-IN" dirty="0"/>
                        <a:t>&lt;nav&gt;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Navigation 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Menus or links to other pages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706064"/>
                  </a:ext>
                </a:extLst>
              </a:tr>
              <a:tr h="525446">
                <a:tc>
                  <a:txBody>
                    <a:bodyPr/>
                    <a:lstStyle/>
                    <a:p>
                      <a:r>
                        <a:rPr lang="en-IN"/>
                        <a:t>&lt;main&gt;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Main content 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Central part of your webpage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436883"/>
                  </a:ext>
                </a:extLst>
              </a:tr>
              <a:tr h="525446">
                <a:tc>
                  <a:txBody>
                    <a:bodyPr/>
                    <a:lstStyle/>
                    <a:p>
                      <a:r>
                        <a:rPr lang="en-IN"/>
                        <a:t>&lt;section&gt;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logical section of 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“About Us”, “Courses”, etc.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449516"/>
                  </a:ext>
                </a:extLst>
              </a:tr>
              <a:tr h="525446">
                <a:tc>
                  <a:txBody>
                    <a:bodyPr/>
                    <a:lstStyle/>
                    <a:p>
                      <a:r>
                        <a:rPr lang="en-IN"/>
                        <a:t>&lt;article&gt;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Independent piece of 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Blog post, news article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024044"/>
                  </a:ext>
                </a:extLst>
              </a:tr>
              <a:tr h="525446">
                <a:tc>
                  <a:txBody>
                    <a:bodyPr/>
                    <a:lstStyle/>
                    <a:p>
                      <a:r>
                        <a:rPr lang="en-IN"/>
                        <a:t>&lt;aside&gt;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Side 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Sidebar, ads, tips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159112"/>
                  </a:ext>
                </a:extLst>
              </a:tr>
              <a:tr h="525446">
                <a:tc>
                  <a:txBody>
                    <a:bodyPr/>
                    <a:lstStyle/>
                    <a:p>
                      <a:r>
                        <a:rPr lang="en-IN"/>
                        <a:t>&lt;footer&gt;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Bottom section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Copyright, contact info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481059"/>
                  </a:ext>
                </a:extLst>
              </a:tr>
              <a:tr h="525446">
                <a:tc>
                  <a:txBody>
                    <a:bodyPr/>
                    <a:lstStyle/>
                    <a:p>
                      <a:r>
                        <a:rPr lang="en-IN"/>
                        <a:t>&lt;figure&gt; and &lt;figcaption&gt;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Image with caption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Picture with a short 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731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1486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BAFFA8F-3C19-9A15-5554-8E0E5D652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A6EF03-435B-C79C-514F-173AD6135950}"/>
              </a:ext>
            </a:extLst>
          </p:cNvPr>
          <p:cNvSpPr txBox="1"/>
          <p:nvPr/>
        </p:nvSpPr>
        <p:spPr>
          <a:xfrm>
            <a:off x="206187" y="242047"/>
            <a:ext cx="11770659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Why Are Semantic Tags Important?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 Makes code easier to read and maintain</a:t>
            </a:r>
            <a:br>
              <a:rPr lang="en-US" dirty="0"/>
            </a:br>
            <a:r>
              <a:rPr lang="en-US" dirty="0"/>
              <a:t>		</a:t>
            </a:r>
          </a:p>
          <a:p>
            <a:pPr lvl="1"/>
            <a:r>
              <a:rPr lang="en-US" dirty="0"/>
              <a:t>Anyone (even beginners) can look at the HTML and understand the structure quickly.</a:t>
            </a:r>
          </a:p>
          <a:p>
            <a:endParaRPr lang="en-US" b="1" dirty="0"/>
          </a:p>
          <a:p>
            <a:r>
              <a:rPr lang="en-US" b="1" dirty="0"/>
              <a:t>Improves SEO (Search Engine Optimization)</a:t>
            </a:r>
            <a:br>
              <a:rPr lang="en-US" dirty="0"/>
            </a:br>
            <a:r>
              <a:rPr lang="en-US" dirty="0"/>
              <a:t>		</a:t>
            </a:r>
          </a:p>
          <a:p>
            <a:r>
              <a:rPr lang="en-US" dirty="0"/>
              <a:t>	Search engines (like Google) can understand your content better, which helps your site appear higher in search results.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Better structure and browser performance</a:t>
            </a:r>
            <a:br>
              <a:rPr lang="en-US" dirty="0"/>
            </a:br>
            <a:endParaRPr lang="en-US" dirty="0"/>
          </a:p>
          <a:p>
            <a:r>
              <a:rPr lang="en-US" dirty="0"/>
              <a:t>		Browsers can render (display) your page more efficiently when structure is clear.</a:t>
            </a:r>
          </a:p>
        </p:txBody>
      </p:sp>
    </p:spTree>
    <p:extLst>
      <p:ext uri="{BB962C8B-B14F-4D97-AF65-F5344CB8AC3E}">
        <p14:creationId xmlns:p14="http://schemas.microsoft.com/office/powerpoint/2010/main" val="1957310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BAFFA8F-3C19-9A15-5554-8E0E5D652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ECD9884B-C6CB-5E93-A3AB-764D8A34A9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23C1D5-B958-4A57-4C56-B5CE222DB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118" y="300942"/>
            <a:ext cx="7430606" cy="603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718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BAFFA8F-3C19-9A15-5554-8E0E5D652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5D18B6-0919-9724-279F-2861E7793262}"/>
              </a:ext>
            </a:extLst>
          </p:cNvPr>
          <p:cNvSpPr txBox="1"/>
          <p:nvPr/>
        </p:nvSpPr>
        <p:spPr>
          <a:xfrm>
            <a:off x="197223" y="5549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Detailed Explanation with Examples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1340D3-A09E-C492-0BD8-1418D29CFE55}"/>
              </a:ext>
            </a:extLst>
          </p:cNvPr>
          <p:cNvSpPr txBox="1"/>
          <p:nvPr/>
        </p:nvSpPr>
        <p:spPr>
          <a:xfrm>
            <a:off x="197223" y="9941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1. &lt;header&gt;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5E4D8F-7C70-8EF4-58B9-C276F1B8DBA5}"/>
              </a:ext>
            </a:extLst>
          </p:cNvPr>
          <p:cNvSpPr txBox="1"/>
          <p:nvPr/>
        </p:nvSpPr>
        <p:spPr>
          <a:xfrm>
            <a:off x="582706" y="143346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Purpose: Represents the header of a page or </a:t>
            </a:r>
            <a:r>
              <a:rPr lang="en-US" dirty="0" err="1"/>
              <a:t>section.Typical</a:t>
            </a:r>
            <a:r>
              <a:rPr lang="en-US" dirty="0"/>
              <a:t> Use: Contains a logo, title, or navigation menu.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B2FE5E-4F51-8524-2795-E221B645C9D5}"/>
              </a:ext>
            </a:extLst>
          </p:cNvPr>
          <p:cNvSpPr txBox="1"/>
          <p:nvPr/>
        </p:nvSpPr>
        <p:spPr>
          <a:xfrm>
            <a:off x="448235" y="2274838"/>
            <a:ext cx="779929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&lt;header&gt;</a:t>
            </a:r>
          </a:p>
          <a:p>
            <a:r>
              <a:rPr lang="en-US" dirty="0"/>
              <a:t>    &lt;h1&gt;Welcome to My Website&lt;/h1&gt;</a:t>
            </a:r>
          </a:p>
          <a:p>
            <a:r>
              <a:rPr lang="en-US" dirty="0"/>
              <a:t>    &lt;nav&gt;</a:t>
            </a:r>
          </a:p>
          <a:p>
            <a:r>
              <a:rPr lang="en-US" dirty="0"/>
              <a:t>        &lt;a </a:t>
            </a:r>
            <a:r>
              <a:rPr lang="en-US" dirty="0" err="1"/>
              <a:t>href</a:t>
            </a:r>
            <a:r>
              <a:rPr lang="en-US" dirty="0"/>
              <a:t>="#home"&gt;Home&lt;/a&gt;</a:t>
            </a:r>
          </a:p>
          <a:p>
            <a:r>
              <a:rPr lang="en-US" dirty="0"/>
              <a:t>        &lt;a </a:t>
            </a:r>
            <a:r>
              <a:rPr lang="en-US" dirty="0" err="1"/>
              <a:t>href</a:t>
            </a:r>
            <a:r>
              <a:rPr lang="en-US" dirty="0"/>
              <a:t>="#about"&gt;About&lt;/a&gt;</a:t>
            </a:r>
          </a:p>
          <a:p>
            <a:r>
              <a:rPr lang="en-US" dirty="0"/>
              <a:t>        &lt;a </a:t>
            </a:r>
            <a:r>
              <a:rPr lang="en-US" dirty="0" err="1"/>
              <a:t>href</a:t>
            </a:r>
            <a:r>
              <a:rPr lang="en-US" dirty="0"/>
              <a:t>="#contact"&gt;Contact&lt;/a&gt;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&lt;/nav&gt;</a:t>
            </a:r>
          </a:p>
          <a:p>
            <a:r>
              <a:rPr lang="en-US" dirty="0"/>
              <a:t>&lt;/header&gt;</a:t>
            </a:r>
          </a:p>
        </p:txBody>
      </p:sp>
    </p:spTree>
    <p:extLst>
      <p:ext uri="{BB962C8B-B14F-4D97-AF65-F5344CB8AC3E}">
        <p14:creationId xmlns:p14="http://schemas.microsoft.com/office/powerpoint/2010/main" val="1139303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E9405E1-BF00-8CD5-16AB-BFC0E439C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367707A-71BA-FFA0-6E1B-E026A9A74A4C}"/>
              </a:ext>
            </a:extLst>
          </p:cNvPr>
          <p:cNvSpPr txBox="1"/>
          <p:nvPr/>
        </p:nvSpPr>
        <p:spPr>
          <a:xfrm>
            <a:off x="161364" y="631576"/>
            <a:ext cx="100763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&lt;nav&gt;</a:t>
            </a:r>
          </a:p>
          <a:p>
            <a:endParaRPr lang="en-US" dirty="0"/>
          </a:p>
          <a:p>
            <a:r>
              <a:rPr lang="en-US" dirty="0"/>
              <a:t>Purpose: Holds navigation </a:t>
            </a:r>
            <a:r>
              <a:rPr lang="en-US" dirty="0" err="1"/>
              <a:t>links.Typical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Use: Menus or site navigation.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181D45-D824-ABEC-3B33-6460D399C0AE}"/>
              </a:ext>
            </a:extLst>
          </p:cNvPr>
          <p:cNvSpPr txBox="1"/>
          <p:nvPr/>
        </p:nvSpPr>
        <p:spPr>
          <a:xfrm>
            <a:off x="295834" y="2413337"/>
            <a:ext cx="785308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&lt;nav&gt;</a:t>
            </a:r>
          </a:p>
          <a:p>
            <a:r>
              <a:rPr lang="en-IN" dirty="0"/>
              <a:t>    &lt;</a:t>
            </a:r>
            <a:r>
              <a:rPr lang="en-IN" dirty="0" err="1"/>
              <a:t>ul</a:t>
            </a:r>
            <a:r>
              <a:rPr lang="en-IN" dirty="0"/>
              <a:t>&gt;</a:t>
            </a:r>
          </a:p>
          <a:p>
            <a:r>
              <a:rPr lang="en-IN" dirty="0"/>
              <a:t>        &lt;li&gt;&lt;a </a:t>
            </a:r>
            <a:r>
              <a:rPr lang="en-IN" dirty="0" err="1"/>
              <a:t>href</a:t>
            </a:r>
            <a:r>
              <a:rPr lang="en-IN" dirty="0"/>
              <a:t>="index.html"&gt;Home&lt;/a&gt;&lt;/li&gt;</a:t>
            </a:r>
          </a:p>
          <a:p>
            <a:r>
              <a:rPr lang="en-IN" dirty="0"/>
              <a:t>        &lt;li&gt;&lt;a </a:t>
            </a:r>
            <a:r>
              <a:rPr lang="en-IN" dirty="0" err="1"/>
              <a:t>href</a:t>
            </a:r>
            <a:r>
              <a:rPr lang="en-IN" dirty="0"/>
              <a:t>="about.html"&gt;About&lt;/a&gt;&lt;/li&gt;</a:t>
            </a:r>
          </a:p>
          <a:p>
            <a:r>
              <a:rPr lang="en-IN" dirty="0"/>
              <a:t>        &lt;li&gt;&lt;a </a:t>
            </a:r>
            <a:r>
              <a:rPr lang="en-IN" dirty="0" err="1"/>
              <a:t>href</a:t>
            </a:r>
            <a:r>
              <a:rPr lang="en-IN" dirty="0"/>
              <a:t>="services.html"&gt;Services&lt;/a&gt;&lt;/li&gt;</a:t>
            </a:r>
          </a:p>
          <a:p>
            <a:r>
              <a:rPr lang="en-IN" dirty="0"/>
              <a:t>    &lt;/</a:t>
            </a:r>
            <a:r>
              <a:rPr lang="en-IN" dirty="0" err="1"/>
              <a:t>ul</a:t>
            </a:r>
            <a:r>
              <a:rPr lang="en-IN" dirty="0"/>
              <a:t>&gt;</a:t>
            </a:r>
          </a:p>
          <a:p>
            <a:r>
              <a:rPr lang="en-IN" dirty="0"/>
              <a:t>&lt;/nav&gt;</a:t>
            </a:r>
          </a:p>
        </p:txBody>
      </p:sp>
    </p:spTree>
    <p:extLst>
      <p:ext uri="{BB962C8B-B14F-4D97-AF65-F5344CB8AC3E}">
        <p14:creationId xmlns:p14="http://schemas.microsoft.com/office/powerpoint/2010/main" val="563016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D3EC1BC9-89B7-7BBD-DBEA-E4A7478E1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D57D0F-C6B9-EA74-1BA3-BB4A17817EC2}"/>
              </a:ext>
            </a:extLst>
          </p:cNvPr>
          <p:cNvSpPr txBox="1"/>
          <p:nvPr/>
        </p:nvSpPr>
        <p:spPr>
          <a:xfrm>
            <a:off x="0" y="528934"/>
            <a:ext cx="9144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&lt;main&gt;</a:t>
            </a:r>
          </a:p>
          <a:p>
            <a:endParaRPr lang="en-US" dirty="0"/>
          </a:p>
          <a:p>
            <a:r>
              <a:rPr lang="en-US" dirty="0"/>
              <a:t>Purpose: Contains the main content of the webpage.</a:t>
            </a:r>
          </a:p>
          <a:p>
            <a:endParaRPr lang="en-US" dirty="0"/>
          </a:p>
          <a:p>
            <a:r>
              <a:rPr lang="en-US" dirty="0"/>
              <a:t>Typical Use: Focuses on the unique content of the </a:t>
            </a:r>
            <a:r>
              <a:rPr lang="en-US" dirty="0" err="1"/>
              <a:t>page.E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CE6B12-98D7-C9AD-9D81-B4365DF874ED}"/>
              </a:ext>
            </a:extLst>
          </p:cNvPr>
          <p:cNvSpPr txBox="1"/>
          <p:nvPr/>
        </p:nvSpPr>
        <p:spPr>
          <a:xfrm>
            <a:off x="85164" y="2582759"/>
            <a:ext cx="61228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&lt;main&gt;</a:t>
            </a:r>
          </a:p>
          <a:p>
            <a:r>
              <a:rPr lang="en-US" dirty="0"/>
              <a:t>    &lt;h2&gt;About Us&lt;/h2&gt;</a:t>
            </a:r>
          </a:p>
          <a:p>
            <a:r>
              <a:rPr lang="en-US" dirty="0"/>
              <a:t>    &lt;p&gt;Our mission is to make learning simple and accessible.&lt;/p&gt;</a:t>
            </a:r>
          </a:p>
          <a:p>
            <a:r>
              <a:rPr lang="en-US" dirty="0"/>
              <a:t>&lt;/main&gt;</a:t>
            </a:r>
          </a:p>
        </p:txBody>
      </p:sp>
    </p:spTree>
    <p:extLst>
      <p:ext uri="{BB962C8B-B14F-4D97-AF65-F5344CB8AC3E}">
        <p14:creationId xmlns:p14="http://schemas.microsoft.com/office/powerpoint/2010/main" val="2176756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DCF4982-4FC4-8B29-F78E-D8E3BD61A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F043003-A8A8-4268-CED5-E2712060DBF8}"/>
              </a:ext>
            </a:extLst>
          </p:cNvPr>
          <p:cNvSpPr txBox="1"/>
          <p:nvPr/>
        </p:nvSpPr>
        <p:spPr>
          <a:xfrm>
            <a:off x="0" y="55089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4. &lt;section&gt;</a:t>
            </a:r>
          </a:p>
          <a:p>
            <a:endParaRPr lang="en-US" dirty="0"/>
          </a:p>
          <a:p>
            <a:r>
              <a:rPr lang="en-US" dirty="0"/>
              <a:t>Purpose: Groups related content.</a:t>
            </a:r>
          </a:p>
          <a:p>
            <a:endParaRPr lang="en-US" dirty="0"/>
          </a:p>
          <a:p>
            <a:r>
              <a:rPr lang="en-US" dirty="0"/>
              <a:t>Typical Use: Dividing content into logical chunks.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181532-258B-5454-965B-F58ED35CB6FA}"/>
              </a:ext>
            </a:extLst>
          </p:cNvPr>
          <p:cNvSpPr txBox="1"/>
          <p:nvPr/>
        </p:nvSpPr>
        <p:spPr>
          <a:xfrm>
            <a:off x="3500718" y="2199946"/>
            <a:ext cx="61228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&lt;section&gt;</a:t>
            </a:r>
          </a:p>
          <a:p>
            <a:r>
              <a:rPr lang="en-US" dirty="0"/>
              <a:t>    &lt;h2&gt;Our Services&lt;/h2&gt;</a:t>
            </a:r>
          </a:p>
          <a:p>
            <a:r>
              <a:rPr lang="en-US" dirty="0"/>
              <a:t>    &lt;p&gt;We offer web development, training, and more.&lt;/p&gt;</a:t>
            </a:r>
          </a:p>
          <a:p>
            <a:r>
              <a:rPr lang="en-US" dirty="0"/>
              <a:t>&lt;/section&gt;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0F8C92-8228-0D45-5047-88A5AA48B9E9}"/>
              </a:ext>
            </a:extLst>
          </p:cNvPr>
          <p:cNvSpPr txBox="1"/>
          <p:nvPr/>
        </p:nvSpPr>
        <p:spPr>
          <a:xfrm>
            <a:off x="0" y="3796117"/>
            <a:ext cx="61228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5. &lt;article&gt;</a:t>
            </a:r>
          </a:p>
          <a:p>
            <a:endParaRPr lang="en-IN" dirty="0"/>
          </a:p>
          <a:p>
            <a:r>
              <a:rPr lang="en-IN" dirty="0"/>
              <a:t>Purpose: Contains self-contained, reusable content.</a:t>
            </a:r>
          </a:p>
          <a:p>
            <a:endParaRPr lang="en-IN" dirty="0"/>
          </a:p>
          <a:p>
            <a:r>
              <a:rPr lang="en-IN" dirty="0"/>
              <a:t>Typical Use: Blog posts or articles.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3F7D5D-CDBE-0EBA-CBC6-87D69CEA76A8}"/>
              </a:ext>
            </a:extLst>
          </p:cNvPr>
          <p:cNvSpPr txBox="1"/>
          <p:nvPr/>
        </p:nvSpPr>
        <p:spPr>
          <a:xfrm>
            <a:off x="3496236" y="5330826"/>
            <a:ext cx="61273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&lt;article&gt;</a:t>
            </a:r>
          </a:p>
          <a:p>
            <a:r>
              <a:rPr lang="en-US" dirty="0"/>
              <a:t>    &lt;h2&gt;Top 10 Programming Languages&lt;/h2&gt;</a:t>
            </a:r>
          </a:p>
          <a:p>
            <a:r>
              <a:rPr lang="en-US" dirty="0"/>
              <a:t>    &lt;p&gt;Discover the best programming languages in 2025.&lt;/p&gt;</a:t>
            </a:r>
          </a:p>
          <a:p>
            <a:r>
              <a:rPr lang="en-US" dirty="0"/>
              <a:t>&lt;/article&gt;</a:t>
            </a:r>
          </a:p>
        </p:txBody>
      </p:sp>
    </p:spTree>
    <p:extLst>
      <p:ext uri="{BB962C8B-B14F-4D97-AF65-F5344CB8AC3E}">
        <p14:creationId xmlns:p14="http://schemas.microsoft.com/office/powerpoint/2010/main" val="1385896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1BF9B548-EF96-167B-9558-5B5531D49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74CEB5-5BE4-4D06-5208-B58C7776DEE1}"/>
              </a:ext>
            </a:extLst>
          </p:cNvPr>
          <p:cNvSpPr txBox="1"/>
          <p:nvPr/>
        </p:nvSpPr>
        <p:spPr>
          <a:xfrm>
            <a:off x="116541" y="622611"/>
            <a:ext cx="109190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6. &lt;aside&gt;</a:t>
            </a:r>
          </a:p>
          <a:p>
            <a:endParaRPr lang="en-US" dirty="0"/>
          </a:p>
          <a:p>
            <a:r>
              <a:rPr lang="en-US" dirty="0"/>
              <a:t>Purpose: Holds content indirectly related to the main content.</a:t>
            </a:r>
          </a:p>
          <a:p>
            <a:endParaRPr lang="en-US" dirty="0"/>
          </a:p>
          <a:p>
            <a:r>
              <a:rPr lang="en-US" dirty="0"/>
              <a:t>Typical Use: Sidebars, ads, or additional info.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F19378-AECA-9E29-CC9E-F16634C16736}"/>
              </a:ext>
            </a:extLst>
          </p:cNvPr>
          <p:cNvSpPr txBox="1"/>
          <p:nvPr/>
        </p:nvSpPr>
        <p:spPr>
          <a:xfrm>
            <a:off x="430306" y="238060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&lt;aside&gt;</a:t>
            </a:r>
          </a:p>
          <a:p>
            <a:r>
              <a:rPr lang="en-US" dirty="0"/>
              <a:t>    &lt;h3&gt;Did You Know?&lt;/h3&gt;</a:t>
            </a:r>
          </a:p>
          <a:p>
            <a:r>
              <a:rPr lang="en-US" dirty="0"/>
              <a:t>    &lt;p&gt;HTML was created in 1993!&lt;/p&gt;</a:t>
            </a:r>
          </a:p>
          <a:p>
            <a:r>
              <a:rPr lang="en-US" dirty="0"/>
              <a:t>&lt;/aside&gt;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A7704B-BB83-364A-DFF0-99FE26ACC534}"/>
              </a:ext>
            </a:extLst>
          </p:cNvPr>
          <p:cNvSpPr txBox="1"/>
          <p:nvPr/>
        </p:nvSpPr>
        <p:spPr>
          <a:xfrm>
            <a:off x="116541" y="3780907"/>
            <a:ext cx="92067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7. &lt;footer&gt;</a:t>
            </a:r>
          </a:p>
          <a:p>
            <a:endParaRPr lang="en-US" dirty="0"/>
          </a:p>
          <a:p>
            <a:r>
              <a:rPr lang="en-US" dirty="0"/>
              <a:t>Purpose: Represents the footer of a page or section.</a:t>
            </a:r>
          </a:p>
          <a:p>
            <a:endParaRPr lang="en-US" dirty="0"/>
          </a:p>
          <a:p>
            <a:r>
              <a:rPr lang="en-US" dirty="0"/>
              <a:t>Typical Use: Contains copyright, privacy policy, or contact details.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D9C45F-DB1E-FA33-DD4B-34EE731905F4}"/>
              </a:ext>
            </a:extLst>
          </p:cNvPr>
          <p:cNvSpPr txBox="1"/>
          <p:nvPr/>
        </p:nvSpPr>
        <p:spPr>
          <a:xfrm>
            <a:off x="286871" y="577372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&lt;footer&gt;</a:t>
            </a:r>
          </a:p>
          <a:p>
            <a:r>
              <a:rPr lang="en-US" dirty="0"/>
              <a:t>    &lt;p&gt;&amp;copy; 2025 My Website. All rights reserved.&lt;/p&gt;</a:t>
            </a:r>
          </a:p>
          <a:p>
            <a:r>
              <a:rPr lang="en-US" dirty="0"/>
              <a:t>&lt;/footer&gt;</a:t>
            </a:r>
          </a:p>
        </p:txBody>
      </p:sp>
    </p:spTree>
    <p:extLst>
      <p:ext uri="{BB962C8B-B14F-4D97-AF65-F5344CB8AC3E}">
        <p14:creationId xmlns:p14="http://schemas.microsoft.com/office/powerpoint/2010/main" val="2023687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6C3FB872-1482-1EBC-2CEC-97A970456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C6D3CE-C043-0018-0270-862DEF21912F}"/>
              </a:ext>
            </a:extLst>
          </p:cNvPr>
          <p:cNvSpPr txBox="1"/>
          <p:nvPr/>
        </p:nvSpPr>
        <p:spPr>
          <a:xfrm>
            <a:off x="206188" y="5997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8. &lt;figure&gt; and &lt;</a:t>
            </a:r>
            <a:r>
              <a:rPr lang="en-IN" dirty="0" err="1"/>
              <a:t>figcaption</a:t>
            </a:r>
            <a:r>
              <a:rPr lang="en-IN" dirty="0"/>
              <a:t>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1CC9E-BD6E-8022-C8AD-25FCFB3F1928}"/>
              </a:ext>
            </a:extLst>
          </p:cNvPr>
          <p:cNvSpPr txBox="1"/>
          <p:nvPr/>
        </p:nvSpPr>
        <p:spPr>
          <a:xfrm>
            <a:off x="591670" y="1111622"/>
            <a:ext cx="116989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Purpose: Displays media content with captions.</a:t>
            </a:r>
          </a:p>
          <a:p>
            <a:endParaRPr lang="en-US" dirty="0"/>
          </a:p>
          <a:p>
            <a:r>
              <a:rPr lang="en-US" dirty="0"/>
              <a:t>Typical Use: Adding images or diagrams with descriptions.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9D5ABA-A00D-F5C7-77A5-F1A441EE9C65}"/>
              </a:ext>
            </a:extLst>
          </p:cNvPr>
          <p:cNvSpPr txBox="1"/>
          <p:nvPr/>
        </p:nvSpPr>
        <p:spPr>
          <a:xfrm>
            <a:off x="1073523" y="2394500"/>
            <a:ext cx="78553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&lt;figure&gt;</a:t>
            </a:r>
          </a:p>
          <a:p>
            <a:r>
              <a:rPr lang="en-US" dirty="0"/>
              <a:t>    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="landscape.jpg" alt="Beautiful Landscape"&gt;</a:t>
            </a:r>
          </a:p>
          <a:p>
            <a:r>
              <a:rPr lang="en-US" dirty="0"/>
              <a:t>    &lt;</a:t>
            </a:r>
            <a:r>
              <a:rPr lang="en-US" dirty="0" err="1"/>
              <a:t>figcaption</a:t>
            </a:r>
            <a:r>
              <a:rPr lang="en-US" dirty="0"/>
              <a:t>&gt;A breathtaking view of the mountains.&lt;/</a:t>
            </a:r>
            <a:r>
              <a:rPr lang="en-US" dirty="0" err="1"/>
              <a:t>figcaption</a:t>
            </a:r>
            <a:r>
              <a:rPr lang="en-US" dirty="0"/>
              <a:t>&gt;</a:t>
            </a:r>
          </a:p>
          <a:p>
            <a:r>
              <a:rPr lang="en-US" dirty="0"/>
              <a:t>&lt;/figure&gt;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21A506-9C1C-9CD0-C15B-A76A9AE6D07D}"/>
              </a:ext>
            </a:extLst>
          </p:cNvPr>
          <p:cNvSpPr txBox="1"/>
          <p:nvPr/>
        </p:nvSpPr>
        <p:spPr>
          <a:xfrm>
            <a:off x="156882" y="3954377"/>
            <a:ext cx="61453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9. &lt;mark&gt;</a:t>
            </a:r>
          </a:p>
          <a:p>
            <a:endParaRPr lang="en-US" dirty="0"/>
          </a:p>
          <a:p>
            <a:r>
              <a:rPr lang="en-US" dirty="0"/>
              <a:t>Purpose: Highlights important text.</a:t>
            </a:r>
          </a:p>
          <a:p>
            <a:endParaRPr lang="en-US" dirty="0"/>
          </a:p>
          <a:p>
            <a:r>
              <a:rPr lang="en-US" dirty="0"/>
              <a:t>Typical Use: Emphasizing keywords or terms.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B7F8F6-5C43-3379-F5B9-B6C5045457EF}"/>
              </a:ext>
            </a:extLst>
          </p:cNvPr>
          <p:cNvSpPr txBox="1"/>
          <p:nvPr/>
        </p:nvSpPr>
        <p:spPr>
          <a:xfrm>
            <a:off x="206188" y="5888923"/>
            <a:ext cx="8525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&lt;p&gt;The &lt;mark&gt;deadline&lt;/mark&gt; for the project is next Friday.&lt;/p&gt;</a:t>
            </a:r>
          </a:p>
        </p:txBody>
      </p:sp>
    </p:spTree>
    <p:extLst>
      <p:ext uri="{BB962C8B-B14F-4D97-AF65-F5344CB8AC3E}">
        <p14:creationId xmlns:p14="http://schemas.microsoft.com/office/powerpoint/2010/main" val="113125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9381673D-D364-C74A-82E3-A90D471F2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734E67-A117-4E85-D1E3-FF41FA050891}"/>
              </a:ext>
            </a:extLst>
          </p:cNvPr>
          <p:cNvSpPr txBox="1"/>
          <p:nvPr/>
        </p:nvSpPr>
        <p:spPr>
          <a:xfrm>
            <a:off x="457200" y="782372"/>
            <a:ext cx="6096000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b="1" dirty="0"/>
              <a:t>&lt;!DOCTYPE html&gt;</a:t>
            </a:r>
          </a:p>
          <a:p>
            <a:r>
              <a:rPr lang="en-IN" sz="1100" b="1" dirty="0"/>
              <a:t>&lt;html lang="en"&gt;</a:t>
            </a:r>
          </a:p>
          <a:p>
            <a:r>
              <a:rPr lang="en-IN" sz="1100" b="1" dirty="0"/>
              <a:t>&lt;head&gt;</a:t>
            </a:r>
          </a:p>
          <a:p>
            <a:r>
              <a:rPr lang="en-IN" sz="1100" b="1" dirty="0"/>
              <a:t>    &lt;meta charset="UTF-8"&gt;</a:t>
            </a:r>
          </a:p>
          <a:p>
            <a:r>
              <a:rPr lang="en-IN" sz="1100" b="1" dirty="0"/>
              <a:t>    &lt;meta name="viewport" content="width=device-width, initial-scale=1.0"&gt;</a:t>
            </a:r>
          </a:p>
          <a:p>
            <a:r>
              <a:rPr lang="en-IN" sz="1100" b="1" dirty="0"/>
              <a:t>    &lt;title&gt;Semantic Tags Example&lt;/title&gt;</a:t>
            </a:r>
          </a:p>
          <a:p>
            <a:r>
              <a:rPr lang="en-IN" sz="1100" b="1" dirty="0"/>
              <a:t>&lt;/head&gt;</a:t>
            </a:r>
          </a:p>
          <a:p>
            <a:r>
              <a:rPr lang="en-IN" sz="1100" b="1" dirty="0"/>
              <a:t>&lt;body&gt;</a:t>
            </a:r>
          </a:p>
          <a:p>
            <a:r>
              <a:rPr lang="en-IN" sz="1100" b="1" dirty="0"/>
              <a:t>    &lt;header&gt;</a:t>
            </a:r>
          </a:p>
          <a:p>
            <a:r>
              <a:rPr lang="en-IN" sz="1100" b="1" dirty="0"/>
              <a:t>        &lt;h1&gt;Welcome to My Website&lt;/h1&gt;</a:t>
            </a:r>
          </a:p>
          <a:p>
            <a:r>
              <a:rPr lang="en-IN" sz="1100" b="1" dirty="0"/>
              <a:t>        &lt;nav&gt;</a:t>
            </a:r>
          </a:p>
          <a:p>
            <a:r>
              <a:rPr lang="en-IN" sz="1100" b="1" dirty="0"/>
              <a:t>            &lt;a </a:t>
            </a:r>
            <a:r>
              <a:rPr lang="en-IN" sz="1100" b="1" dirty="0" err="1"/>
              <a:t>href</a:t>
            </a:r>
            <a:r>
              <a:rPr lang="en-IN" sz="1100" b="1" dirty="0"/>
              <a:t>="#home"&gt;Home&lt;/a&gt;</a:t>
            </a:r>
          </a:p>
          <a:p>
            <a:r>
              <a:rPr lang="en-IN" sz="1100" b="1" dirty="0"/>
              <a:t>            &lt;a </a:t>
            </a:r>
            <a:r>
              <a:rPr lang="en-IN" sz="1100" b="1" dirty="0" err="1"/>
              <a:t>href</a:t>
            </a:r>
            <a:r>
              <a:rPr lang="en-IN" sz="1100" b="1" dirty="0"/>
              <a:t>="#about"&gt;About&lt;/a&gt;</a:t>
            </a:r>
          </a:p>
          <a:p>
            <a:r>
              <a:rPr lang="en-IN" sz="1100" b="1" dirty="0"/>
              <a:t>            &lt;a </a:t>
            </a:r>
            <a:r>
              <a:rPr lang="en-IN" sz="1100" b="1" dirty="0" err="1"/>
              <a:t>href</a:t>
            </a:r>
            <a:r>
              <a:rPr lang="en-IN" sz="1100" b="1" dirty="0"/>
              <a:t>="#contact"&gt;Contact&lt;/a&gt;</a:t>
            </a:r>
          </a:p>
          <a:p>
            <a:r>
              <a:rPr lang="en-IN" sz="1100" b="1" dirty="0"/>
              <a:t>        &lt;/nav&gt;</a:t>
            </a:r>
          </a:p>
          <a:p>
            <a:r>
              <a:rPr lang="en-IN" sz="1100" b="1" dirty="0"/>
              <a:t>    &lt;/header&gt;</a:t>
            </a:r>
          </a:p>
          <a:p>
            <a:r>
              <a:rPr lang="en-IN" sz="1100" b="1" dirty="0"/>
              <a:t>    &lt;main&gt;</a:t>
            </a:r>
          </a:p>
          <a:p>
            <a:r>
              <a:rPr lang="en-IN" sz="1100" b="1" dirty="0"/>
              <a:t>        &lt;section&gt;</a:t>
            </a:r>
          </a:p>
          <a:p>
            <a:r>
              <a:rPr lang="en-IN" sz="1100" b="1" dirty="0"/>
              <a:t>            &lt;h2&gt;About Us&lt;/h2&gt;</a:t>
            </a:r>
          </a:p>
          <a:p>
            <a:r>
              <a:rPr lang="en-IN" sz="1100" b="1" dirty="0"/>
              <a:t>            &lt;p&gt;We are dedicated to making learning simple and fun.&lt;/p&gt;</a:t>
            </a:r>
          </a:p>
          <a:p>
            <a:r>
              <a:rPr lang="en-IN" sz="1100" b="1" dirty="0"/>
              <a:t>        &lt;/section&gt;</a:t>
            </a:r>
          </a:p>
          <a:p>
            <a:r>
              <a:rPr lang="en-IN" sz="1100" b="1" dirty="0"/>
              <a:t>        &lt;article&gt;</a:t>
            </a:r>
          </a:p>
          <a:p>
            <a:r>
              <a:rPr lang="en-IN" sz="1100" b="1" dirty="0"/>
              <a:t>            &lt;h2&gt;Blog Post&lt;/h2&gt;</a:t>
            </a:r>
          </a:p>
          <a:p>
            <a:r>
              <a:rPr lang="en-IN" sz="1100" b="1" dirty="0"/>
              <a:t>            &lt;p&gt;This is an example of a blog post using semantic tags.&lt;/p&gt;</a:t>
            </a:r>
          </a:p>
          <a:p>
            <a:r>
              <a:rPr lang="en-IN" sz="1100" b="1" dirty="0"/>
              <a:t>        &lt;/article&gt;</a:t>
            </a:r>
          </a:p>
          <a:p>
            <a:r>
              <a:rPr lang="en-IN" sz="1100" b="1" dirty="0"/>
              <a:t>    &lt;/main&gt;</a:t>
            </a:r>
          </a:p>
          <a:p>
            <a:r>
              <a:rPr lang="en-IN" sz="1100" b="1" dirty="0"/>
              <a:t>    &lt;aside&gt;</a:t>
            </a:r>
          </a:p>
          <a:p>
            <a:r>
              <a:rPr lang="en-IN" sz="1100" b="1" dirty="0"/>
              <a:t>        &lt;h3&gt;Sidebar&lt;/h3&gt;</a:t>
            </a:r>
          </a:p>
          <a:p>
            <a:r>
              <a:rPr lang="en-IN" sz="1100" b="1" dirty="0"/>
              <a:t>        &lt;p&gt;Additional information goes here.&lt;/p&gt;</a:t>
            </a:r>
          </a:p>
          <a:p>
            <a:r>
              <a:rPr lang="en-IN" sz="1100" b="1" dirty="0"/>
              <a:t>    &lt;/aside&gt;</a:t>
            </a:r>
          </a:p>
          <a:p>
            <a:r>
              <a:rPr lang="en-IN" sz="1100" b="1" dirty="0"/>
              <a:t>    &lt;footer&gt;</a:t>
            </a:r>
          </a:p>
          <a:p>
            <a:r>
              <a:rPr lang="en-IN" sz="1100" b="1" dirty="0"/>
              <a:t>        &lt;p&gt;&amp;copy; 2025 My Website. All rights reserved.&lt;/p&gt;</a:t>
            </a:r>
          </a:p>
          <a:p>
            <a:r>
              <a:rPr lang="en-IN" sz="1100" b="1" dirty="0"/>
              <a:t>    &lt;/footer&gt;</a:t>
            </a:r>
          </a:p>
          <a:p>
            <a:r>
              <a:rPr lang="en-IN" sz="1100" b="1" dirty="0"/>
              <a:t>&lt;/body&gt;</a:t>
            </a:r>
          </a:p>
          <a:p>
            <a:r>
              <a:rPr lang="en-IN" sz="1100" b="1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979390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04096A6E-8973-309B-EF6E-D1DC1BA32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FBA5F4-F55A-382F-3D8A-660F5E256F59}"/>
              </a:ext>
            </a:extLst>
          </p:cNvPr>
          <p:cNvSpPr txBox="1"/>
          <p:nvPr/>
        </p:nvSpPr>
        <p:spPr>
          <a:xfrm>
            <a:off x="125506" y="688085"/>
            <a:ext cx="1134931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Benefits of Semantic Tags</a:t>
            </a:r>
          </a:p>
          <a:p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Easier to Understand</a:t>
            </a:r>
            <a:r>
              <a:rPr lang="en-US" dirty="0"/>
              <a:t>: Semantic tags make it clear what each section of the webpage does.</a:t>
            </a:r>
          </a:p>
          <a:p>
            <a:pPr>
              <a:buFont typeface="+mj-lt"/>
              <a:buAutoNum type="arabicPeriod"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Better Accessibility</a:t>
            </a:r>
            <a:r>
              <a:rPr lang="en-US" dirty="0"/>
              <a:t>: Helps screen readers navigate the page effectively.</a:t>
            </a:r>
          </a:p>
          <a:p>
            <a:pPr>
              <a:buFont typeface="+mj-lt"/>
              <a:buAutoNum type="arabicPeriod"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Improved SEO</a:t>
            </a:r>
            <a:r>
              <a:rPr lang="en-US" dirty="0"/>
              <a:t>: Search engines can easily identify key parts of your content.</a:t>
            </a:r>
          </a:p>
          <a:p>
            <a:pPr>
              <a:buFont typeface="+mj-lt"/>
              <a:buAutoNum type="arabicPeriod"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Standardized Structure</a:t>
            </a:r>
            <a:r>
              <a:rPr lang="en-US" dirty="0"/>
              <a:t>: Aligns with HTML5 best practices.</a:t>
            </a:r>
          </a:p>
        </p:txBody>
      </p:sp>
    </p:spTree>
    <p:extLst>
      <p:ext uri="{BB962C8B-B14F-4D97-AF65-F5344CB8AC3E}">
        <p14:creationId xmlns:p14="http://schemas.microsoft.com/office/powerpoint/2010/main" val="12287677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E2C9D56E-A7CF-0A69-2BFF-D94C164B7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E1DBDF3E-531E-36F0-0F50-B499D1990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188" y="643774"/>
            <a:ext cx="11349318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Forms and Inputs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Creating a Simple Form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 structure: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&lt;form&gt;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&lt;input&gt;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&lt;button&gt;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Types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Text, email, password, date, and more.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Labels and Placeholders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Adding labels with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&lt;label&gt;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placeholders with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placeholder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attribute.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 Validation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HTML5 validation attributes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required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maxlength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pattern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159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1F7CD637-040B-539A-C09F-23EDE0A38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7BE138E-5738-12D5-3C8D-C96499D51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435" y="773711"/>
            <a:ext cx="1109508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Basic Form 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&lt;form&gt;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This tag wraps all the elements of the form and specifies where the data is sent (via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attribute).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&lt;input&gt;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Used to collect various types of user input (text, email, passwords, etc.).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&lt;button&gt;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Used to submit the form or trigger any custom action.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808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912941B8-869A-76E4-2D16-1DC790793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87C140-ADD2-79F9-AB7A-F77E079C258E}"/>
              </a:ext>
            </a:extLst>
          </p:cNvPr>
          <p:cNvSpPr txBox="1"/>
          <p:nvPr/>
        </p:nvSpPr>
        <p:spPr>
          <a:xfrm>
            <a:off x="3281083" y="0"/>
            <a:ext cx="6096000" cy="720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&lt;!DOCTYPE html&gt;</a:t>
            </a:r>
          </a:p>
          <a:p>
            <a:r>
              <a:rPr lang="en-IN" sz="1400" dirty="0"/>
              <a:t>&lt;html lang="en"&gt;</a:t>
            </a:r>
          </a:p>
          <a:p>
            <a:r>
              <a:rPr lang="en-IN" sz="1400" dirty="0"/>
              <a:t>&lt;head&gt;</a:t>
            </a:r>
          </a:p>
          <a:p>
            <a:r>
              <a:rPr lang="en-IN" sz="1400" dirty="0"/>
              <a:t>    &lt;meta charset="UTF-8"&gt;</a:t>
            </a:r>
          </a:p>
          <a:p>
            <a:r>
              <a:rPr lang="en-IN" sz="1400" dirty="0"/>
              <a:t>    &lt;meta name="viewport" content="width=device-width, initial-scale=1.0"&gt;</a:t>
            </a:r>
          </a:p>
          <a:p>
            <a:r>
              <a:rPr lang="en-IN" sz="1400" dirty="0"/>
              <a:t>    &lt;title&gt;Simple Form&lt;/title&gt;</a:t>
            </a:r>
          </a:p>
          <a:p>
            <a:r>
              <a:rPr lang="en-IN" sz="1400" dirty="0"/>
              <a:t>&lt;/head&gt;</a:t>
            </a:r>
          </a:p>
          <a:p>
            <a:r>
              <a:rPr lang="en-IN" sz="1400" dirty="0"/>
              <a:t>&lt;body&gt;</a:t>
            </a:r>
          </a:p>
          <a:p>
            <a:r>
              <a:rPr lang="en-IN" sz="1400" dirty="0"/>
              <a:t>    &lt;h1&gt;User Registration Form&lt;/h1&gt;</a:t>
            </a:r>
          </a:p>
          <a:p>
            <a:r>
              <a:rPr lang="en-IN" sz="1400" dirty="0"/>
              <a:t>    &lt;form action="/submit" method="post"&gt;</a:t>
            </a:r>
          </a:p>
          <a:p>
            <a:r>
              <a:rPr lang="en-IN" sz="1400" dirty="0"/>
              <a:t>        &lt;!-- Text Input --&gt;</a:t>
            </a:r>
          </a:p>
          <a:p>
            <a:r>
              <a:rPr lang="en-IN" sz="1400" dirty="0"/>
              <a:t>        &lt;label for="name"&gt;Name:&lt;/label&gt;</a:t>
            </a:r>
          </a:p>
          <a:p>
            <a:r>
              <a:rPr lang="en-IN" sz="1400" dirty="0"/>
              <a:t>        &lt;input type="text" id="name" name="name" placeholder="Enter your name" required&gt;</a:t>
            </a:r>
          </a:p>
          <a:p>
            <a:r>
              <a:rPr lang="en-IN" sz="1400" dirty="0"/>
              <a:t>        &lt;</a:t>
            </a:r>
            <a:r>
              <a:rPr lang="en-IN" sz="1400" dirty="0" err="1"/>
              <a:t>br</a:t>
            </a:r>
            <a:r>
              <a:rPr lang="en-IN" sz="1400" dirty="0"/>
              <a:t>&gt;&lt;</a:t>
            </a:r>
            <a:r>
              <a:rPr lang="en-IN" sz="1400" dirty="0" err="1"/>
              <a:t>br</a:t>
            </a:r>
            <a:r>
              <a:rPr lang="en-IN" sz="1400" dirty="0"/>
              <a:t>&gt;</a:t>
            </a:r>
          </a:p>
          <a:p>
            <a:r>
              <a:rPr lang="en-IN" sz="1400" dirty="0"/>
              <a:t>        </a:t>
            </a:r>
          </a:p>
          <a:p>
            <a:r>
              <a:rPr lang="en-IN" sz="1400" dirty="0"/>
              <a:t>        &lt;!-- Email Input --&gt;</a:t>
            </a:r>
          </a:p>
          <a:p>
            <a:r>
              <a:rPr lang="en-IN" sz="1400" dirty="0"/>
              <a:t>        &lt;label for="email"&gt;Email:&lt;/label&gt;</a:t>
            </a:r>
          </a:p>
          <a:p>
            <a:r>
              <a:rPr lang="en-IN" sz="1400" dirty="0"/>
              <a:t>        &lt;input type="email" id="email" name="email" placeholder="Enter your email" required&gt;</a:t>
            </a:r>
          </a:p>
          <a:p>
            <a:r>
              <a:rPr lang="en-IN" sz="1400" dirty="0"/>
              <a:t>        &lt;</a:t>
            </a:r>
            <a:r>
              <a:rPr lang="en-IN" sz="1400" dirty="0" err="1"/>
              <a:t>br</a:t>
            </a:r>
            <a:r>
              <a:rPr lang="en-IN" sz="1400" dirty="0"/>
              <a:t>&gt;&lt;</a:t>
            </a:r>
            <a:r>
              <a:rPr lang="en-IN" sz="1400" dirty="0" err="1"/>
              <a:t>br</a:t>
            </a:r>
            <a:r>
              <a:rPr lang="en-IN" sz="1400" dirty="0"/>
              <a:t>&gt;</a:t>
            </a:r>
          </a:p>
          <a:p>
            <a:r>
              <a:rPr lang="en-IN" sz="1400" dirty="0"/>
              <a:t>                &lt;!-- Password Input --&gt;</a:t>
            </a:r>
          </a:p>
          <a:p>
            <a:r>
              <a:rPr lang="en-IN" sz="1400" dirty="0"/>
              <a:t>        &lt;label for="password"&gt;Password:&lt;/label&gt;</a:t>
            </a:r>
          </a:p>
          <a:p>
            <a:r>
              <a:rPr lang="en-IN" sz="1400" dirty="0"/>
              <a:t>        &lt;input type="password" id="password" name="password" placeholder="Enter your password" required&gt;</a:t>
            </a:r>
          </a:p>
          <a:p>
            <a:r>
              <a:rPr lang="en-IN" sz="1400" dirty="0"/>
              <a:t>        &lt;</a:t>
            </a:r>
            <a:r>
              <a:rPr lang="en-IN" sz="1400" dirty="0" err="1"/>
              <a:t>br</a:t>
            </a:r>
            <a:r>
              <a:rPr lang="en-IN" sz="1400" dirty="0"/>
              <a:t>&gt;&lt;</a:t>
            </a:r>
            <a:r>
              <a:rPr lang="en-IN" sz="1400" dirty="0" err="1"/>
              <a:t>br</a:t>
            </a:r>
            <a:r>
              <a:rPr lang="en-IN" sz="1400" dirty="0"/>
              <a:t>&gt;</a:t>
            </a:r>
          </a:p>
          <a:p>
            <a:r>
              <a:rPr lang="en-IN" sz="1400" dirty="0"/>
              <a:t>        </a:t>
            </a:r>
          </a:p>
          <a:p>
            <a:r>
              <a:rPr lang="en-IN" sz="1400" dirty="0"/>
              <a:t>        &lt;!-- Submit Button --&gt;</a:t>
            </a:r>
          </a:p>
          <a:p>
            <a:r>
              <a:rPr lang="en-IN" sz="1400" dirty="0"/>
              <a:t>        &lt;button type="submit"&gt;Register&lt;/button&gt;</a:t>
            </a:r>
          </a:p>
          <a:p>
            <a:r>
              <a:rPr lang="en-IN" sz="1400" dirty="0"/>
              <a:t>    &lt;/form&gt;</a:t>
            </a:r>
          </a:p>
          <a:p>
            <a:r>
              <a:rPr lang="en-IN" sz="1400" dirty="0"/>
              <a:t>&lt;/body&gt;</a:t>
            </a:r>
          </a:p>
          <a:p>
            <a:r>
              <a:rPr lang="en-IN" sz="14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1518104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8E6DE648-FBA5-751C-6A5E-C3B3B1AB9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E413BBB-EC62-AF2E-C668-40D79E1A4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914400"/>
            <a:ext cx="7575176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Arial" panose="020B0604020202020204" pitchFamily="34" charset="0"/>
              </a:rPr>
              <a:t>Breaking Down the 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&lt;form action="/submit" method="post"&gt;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Specifies where the form data will be sent.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method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Defines how the data is sent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POST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&lt;input type="text"&gt;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plain text input, like names or addresses.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placeholder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Provides a hint about what to input.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&lt;input type="email"&gt;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the user enters a valid email address.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&lt;input type="password"&gt;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Masks the characters entered for security.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&lt;button type="submit"&gt;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Triggers the form submission.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500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8E6DE648-FBA5-751C-6A5E-C3B3B1AB9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44399A-114C-67F3-E3A0-D1FFA6ADFA34}"/>
              </a:ext>
            </a:extLst>
          </p:cNvPr>
          <p:cNvSpPr txBox="1"/>
          <p:nvPr/>
        </p:nvSpPr>
        <p:spPr>
          <a:xfrm>
            <a:off x="0" y="394692"/>
            <a:ext cx="9144000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highlight>
                  <a:srgbClr val="FF0000"/>
                </a:highlight>
              </a:rPr>
              <a:t>MINI PROJECT</a:t>
            </a:r>
          </a:p>
          <a:p>
            <a:endParaRPr lang="en-IN" dirty="0"/>
          </a:p>
          <a:p>
            <a:r>
              <a:rPr lang="en-IN" dirty="0"/>
              <a:t>Create a “</a:t>
            </a:r>
            <a:r>
              <a:rPr lang="en-IN" dirty="0">
                <a:hlinkClick r:id="rId3" action="ppaction://hlinkfile"/>
              </a:rPr>
              <a:t>Workshop Signup</a:t>
            </a:r>
            <a:r>
              <a:rPr lang="en-IN" dirty="0"/>
              <a:t>” page that contains:</a:t>
            </a:r>
          </a:p>
          <a:p>
            <a:endParaRPr lang="en-IN" dirty="0"/>
          </a:p>
          <a:p>
            <a:r>
              <a:rPr lang="en-IN" dirty="0"/>
              <a:t>A semantic header with page title and nav.</a:t>
            </a:r>
          </a:p>
          <a:p>
            <a:endParaRPr lang="en-IN" dirty="0"/>
          </a:p>
          <a:p>
            <a:r>
              <a:rPr lang="en-IN" dirty="0"/>
              <a:t>A registration &lt;form&gt; with:</a:t>
            </a:r>
          </a:p>
          <a:p>
            <a:endParaRPr lang="en-IN" dirty="0"/>
          </a:p>
          <a:p>
            <a:r>
              <a:rPr lang="en-IN" dirty="0"/>
              <a:t>Full name (required)</a:t>
            </a:r>
          </a:p>
          <a:p>
            <a:endParaRPr lang="en-IN" dirty="0"/>
          </a:p>
          <a:p>
            <a:r>
              <a:rPr lang="en-IN" dirty="0"/>
              <a:t>Email (required)</a:t>
            </a:r>
          </a:p>
          <a:p>
            <a:endParaRPr lang="en-IN" dirty="0"/>
          </a:p>
          <a:p>
            <a:r>
              <a:rPr lang="en-IN" dirty="0"/>
              <a:t>Course preference (radio buttons)</a:t>
            </a:r>
          </a:p>
          <a:p>
            <a:endParaRPr lang="en-IN" dirty="0"/>
          </a:p>
          <a:p>
            <a:r>
              <a:rPr lang="en-IN" dirty="0"/>
              <a:t>Skills (checkboxes)</a:t>
            </a:r>
          </a:p>
          <a:p>
            <a:endParaRPr lang="en-IN" dirty="0"/>
          </a:p>
          <a:p>
            <a:r>
              <a:rPr lang="en-IN" dirty="0"/>
              <a:t>Short bio (</a:t>
            </a:r>
            <a:r>
              <a:rPr lang="en-IN" dirty="0" err="1"/>
              <a:t>textarea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Submit button</a:t>
            </a:r>
          </a:p>
          <a:p>
            <a:endParaRPr lang="en-IN" dirty="0"/>
          </a:p>
          <a:p>
            <a:r>
              <a:rPr lang="en-IN" dirty="0"/>
              <a:t>A sample &lt;table&gt; below showing “Last 3 participants” with Name, Course, Status.</a:t>
            </a:r>
          </a:p>
          <a:p>
            <a:endParaRPr lang="en-IN" dirty="0"/>
          </a:p>
          <a:p>
            <a:r>
              <a:rPr lang="en-IN" dirty="0"/>
              <a:t>Footer with contact email.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8739398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2983</TotalTime>
  <Words>2731</Words>
  <Application>Microsoft Office PowerPoint</Application>
  <PresentationFormat>Widescreen</PresentationFormat>
  <Paragraphs>457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 Unicode MS</vt:lpstr>
      <vt:lpstr>Arial</vt:lpstr>
      <vt:lpstr>Articulate</vt:lpstr>
      <vt:lpstr>Calibri</vt:lpstr>
      <vt:lpstr>Consolas</vt:lpstr>
      <vt:lpstr>Corbel</vt:lpstr>
      <vt:lpstr>Verdana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Pushplata Bagati</dc:creator>
  <cp:lastModifiedBy>DELL</cp:lastModifiedBy>
  <cp:revision>64</cp:revision>
  <dcterms:created xsi:type="dcterms:W3CDTF">2022-08-19T11:01:50Z</dcterms:created>
  <dcterms:modified xsi:type="dcterms:W3CDTF">2025-11-04T15:16:00Z</dcterms:modified>
</cp:coreProperties>
</file>