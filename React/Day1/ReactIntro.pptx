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27"/>
  </p:notesMasterIdLst>
  <p:sldIdLst>
    <p:sldId id="357" r:id="rId2"/>
    <p:sldId id="371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8406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076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0947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1472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4677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7577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2462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004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7929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0435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230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7100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22655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2044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0321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8704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7053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5932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5116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7852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2247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7142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9731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091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6816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24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03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31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20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1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89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342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58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13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6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847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9215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930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63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119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853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12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8A82C0F-A81B-4B2B-9B0C-842E6D2AD82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250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C748FD-6766-3BB6-AFE1-BCB3FF9B37DD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07EFB-292D-4E52-DE23-44CFFCDA68D6}"/>
              </a:ext>
            </a:extLst>
          </p:cNvPr>
          <p:cNvSpPr txBox="1"/>
          <p:nvPr/>
        </p:nvSpPr>
        <p:spPr>
          <a:xfrm>
            <a:off x="223934" y="5355971"/>
            <a:ext cx="82599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6600" b="1" i="0" dirty="0">
                <a:solidFill>
                  <a:srgbClr val="F0F6FC"/>
                </a:solidFill>
                <a:effectLst/>
                <a:latin typeface="-apple-system"/>
              </a:rPr>
              <a:t>React Fundamentals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16467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C748FD-6766-3BB6-AFE1-BCB3FF9B37DD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Example: Change a Name on Screen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39CCF-13AC-F100-A65E-ED10B47204F1}"/>
              </a:ext>
            </a:extLst>
          </p:cNvPr>
          <p:cNvSpPr txBox="1"/>
          <p:nvPr/>
        </p:nvSpPr>
        <p:spPr>
          <a:xfrm>
            <a:off x="93305" y="751673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JavaScript – We control everything manually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899B3-3369-87B0-D05C-8C7C577B4347}"/>
              </a:ext>
            </a:extLst>
          </p:cNvPr>
          <p:cNvSpPr txBox="1"/>
          <p:nvPr/>
        </p:nvSpPr>
        <p:spPr>
          <a:xfrm>
            <a:off x="606490" y="1614196"/>
            <a:ext cx="107208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&lt;h3 id="name"&gt;Hello, Asha&lt;/h3&gt;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&lt;button onclick="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changeName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()"&gt;Change Name&lt;/button&gt;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&lt;script&gt;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function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changeName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document.getElementById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("name").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innerText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"Hello, Riya";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&lt;/script&gt;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0857E-EDB7-7768-0FD4-FE94E7058462}"/>
              </a:ext>
            </a:extLst>
          </p:cNvPr>
          <p:cNvSpPr txBox="1"/>
          <p:nvPr/>
        </p:nvSpPr>
        <p:spPr>
          <a:xfrm>
            <a:off x="606490" y="5310683"/>
            <a:ext cx="10412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Here </a:t>
            </a:r>
            <a:r>
              <a:rPr lang="en-US" b="1" dirty="0">
                <a:solidFill>
                  <a:schemeClr val="bg1"/>
                </a:solidFill>
              </a:rPr>
              <a:t>you must tell JavaScript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en-US" b="1" dirty="0">
                <a:solidFill>
                  <a:schemeClr val="bg1"/>
                </a:solidFill>
              </a:rPr>
              <a:t> where and what to change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1039CC-9906-5041-1D1E-2B3CAF6ED9FF}"/>
              </a:ext>
            </a:extLst>
          </p:cNvPr>
          <p:cNvSpPr txBox="1"/>
          <p:nvPr/>
        </p:nvSpPr>
        <p:spPr>
          <a:xfrm>
            <a:off x="4618653" y="6106327"/>
            <a:ext cx="6708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React – Just change data, UI updates itself ✨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47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Frequent Reflow &amp; Repaint → App Becomes Slow 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BADB-9FFD-56AF-FFA0-63C78D103042}"/>
              </a:ext>
            </a:extLst>
          </p:cNvPr>
          <p:cNvSpPr txBox="1"/>
          <p:nvPr/>
        </p:nvSpPr>
        <p:spPr>
          <a:xfrm>
            <a:off x="489858" y="1021837"/>
            <a:ext cx="613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React – Just change data, UI updates itself ✨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2E319-F245-AA31-89FD-7A34CB5CE3C6}"/>
              </a:ext>
            </a:extLst>
          </p:cNvPr>
          <p:cNvSpPr txBox="1"/>
          <p:nvPr/>
        </p:nvSpPr>
        <p:spPr>
          <a:xfrm>
            <a:off x="253456" y="587829"/>
            <a:ext cx="99822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Imagine you are </a:t>
            </a:r>
            <a:r>
              <a:rPr lang="en-US" b="1" dirty="0">
                <a:solidFill>
                  <a:schemeClr val="bg1"/>
                </a:solidFill>
              </a:rPr>
              <a:t>decorating a room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move </a:t>
            </a:r>
            <a:r>
              <a:rPr lang="en-US" b="1" dirty="0">
                <a:solidFill>
                  <a:schemeClr val="bg1"/>
                </a:solidFill>
              </a:rPr>
              <a:t>one small pillow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But instead, you are forced to </a:t>
            </a:r>
            <a:r>
              <a:rPr lang="en-US" b="1" dirty="0">
                <a:solidFill>
                  <a:schemeClr val="bg1"/>
                </a:solidFill>
              </a:rPr>
              <a:t>rearrange the whole room</a:t>
            </a:r>
            <a:r>
              <a:rPr lang="en-US" dirty="0">
                <a:solidFill>
                  <a:schemeClr val="bg1"/>
                </a:solidFill>
              </a:rPr>
              <a:t> again and again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5A11DF-73FB-B7BB-C760-DB203606500F}"/>
              </a:ext>
            </a:extLst>
          </p:cNvPr>
          <p:cNvSpPr txBox="1"/>
          <p:nvPr/>
        </p:nvSpPr>
        <p:spPr>
          <a:xfrm>
            <a:off x="727787" y="2752531"/>
            <a:ext cx="102916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That’s what happens in traditional DOM: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Every small change makes the browser </a:t>
            </a:r>
            <a:r>
              <a:rPr lang="en-US" b="1" dirty="0">
                <a:solidFill>
                  <a:schemeClr val="bg1"/>
                </a:solidFill>
              </a:rPr>
              <a:t>recalculate and redraw everything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AFD804-AD67-88FD-A90D-090A4D15AAFA}"/>
              </a:ext>
            </a:extLst>
          </p:cNvPr>
          <p:cNvSpPr txBox="1"/>
          <p:nvPr/>
        </p:nvSpPr>
        <p:spPr>
          <a:xfrm>
            <a:off x="3886200" y="3961847"/>
            <a:ext cx="6130212" cy="212365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 id="text"&gt;Hello&lt;/p&gt;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&lt;button onclick="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changeText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()"&gt;Change&lt;/button&gt;</a:t>
            </a: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&lt;script&gt;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function 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changeText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document.getElementById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("text").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innerText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"Hi";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&lt;/script&gt;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8897A-DFE6-4522-8309-E6089964E9E1}"/>
              </a:ext>
            </a:extLst>
          </p:cNvPr>
          <p:cNvSpPr txBox="1"/>
          <p:nvPr/>
        </p:nvSpPr>
        <p:spPr>
          <a:xfrm>
            <a:off x="639615" y="6371491"/>
            <a:ext cx="10860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Even this tiny change makes the browser </a:t>
            </a:r>
            <a:r>
              <a:rPr lang="en-US" b="1" dirty="0">
                <a:solidFill>
                  <a:schemeClr val="bg1"/>
                </a:solidFill>
              </a:rPr>
              <a:t>repaint the screen again</a:t>
            </a:r>
            <a:r>
              <a:rPr lang="en-US" dirty="0">
                <a:solidFill>
                  <a:schemeClr val="bg1"/>
                </a:solidFill>
              </a:rPr>
              <a:t> → slow for big apps.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6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IN" sz="2000" b="1" dirty="0"/>
              <a:t>Imperative UI Updates → Code Becomes Confusing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4B92C2-4D70-DC1D-D00C-7ACDB7D6297C}"/>
              </a:ext>
            </a:extLst>
          </p:cNvPr>
          <p:cNvSpPr txBox="1"/>
          <p:nvPr/>
        </p:nvSpPr>
        <p:spPr>
          <a:xfrm>
            <a:off x="223935" y="587829"/>
            <a:ext cx="66947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It’s like giving a robot </a:t>
            </a:r>
            <a:r>
              <a:rPr lang="en-US" b="1" dirty="0">
                <a:solidFill>
                  <a:schemeClr val="bg1"/>
                </a:solidFill>
              </a:rPr>
              <a:t>step-by-step cooking instructions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❌ Open fridge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❌ Take onion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❌ Chop slowly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❌ Turn on gas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❌ Put oil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❌ Stir…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C2506-DDB6-D8F5-EA11-A9ECD219B623}"/>
              </a:ext>
            </a:extLst>
          </p:cNvPr>
          <p:cNvSpPr txBox="1"/>
          <p:nvPr/>
        </p:nvSpPr>
        <p:spPr>
          <a:xfrm>
            <a:off x="5795866" y="2437541"/>
            <a:ext cx="613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Too many commands = confusion!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3B9BC-A9FD-706E-1C8B-52A5EAE9440D}"/>
              </a:ext>
            </a:extLst>
          </p:cNvPr>
          <p:cNvSpPr txBox="1"/>
          <p:nvPr/>
        </p:nvSpPr>
        <p:spPr>
          <a:xfrm>
            <a:off x="0" y="3084685"/>
            <a:ext cx="5355771" cy="230832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&lt;p id="box"&gt;Welcome&lt;/p&gt;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&lt;script&gt;</a:t>
            </a:r>
          </a:p>
          <a:p>
            <a:r>
              <a:rPr lang="en-IN" dirty="0">
                <a:solidFill>
                  <a:schemeClr val="bg1"/>
                </a:solidFill>
              </a:rPr>
              <a:t>  let box = </a:t>
            </a:r>
            <a:r>
              <a:rPr lang="en-IN" dirty="0" err="1">
                <a:solidFill>
                  <a:schemeClr val="bg1"/>
                </a:solidFill>
              </a:rPr>
              <a:t>document.getElementById</a:t>
            </a:r>
            <a:r>
              <a:rPr lang="en-IN" dirty="0">
                <a:solidFill>
                  <a:schemeClr val="bg1"/>
                </a:solidFill>
              </a:rPr>
              <a:t>("box");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IN" dirty="0" err="1">
                <a:solidFill>
                  <a:schemeClr val="bg1"/>
                </a:solidFill>
              </a:rPr>
              <a:t>box.style.color</a:t>
            </a:r>
            <a:r>
              <a:rPr lang="en-IN" dirty="0">
                <a:solidFill>
                  <a:schemeClr val="bg1"/>
                </a:solidFill>
              </a:rPr>
              <a:t> = "red";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IN" dirty="0" err="1">
                <a:solidFill>
                  <a:schemeClr val="bg1"/>
                </a:solidFill>
              </a:rPr>
              <a:t>box.style.fontSize</a:t>
            </a:r>
            <a:r>
              <a:rPr lang="en-IN" dirty="0">
                <a:solidFill>
                  <a:schemeClr val="bg1"/>
                </a:solidFill>
              </a:rPr>
              <a:t> = "20px";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IN" dirty="0" err="1">
                <a:solidFill>
                  <a:schemeClr val="bg1"/>
                </a:solidFill>
              </a:rPr>
              <a:t>box.style.backgroundColor</a:t>
            </a:r>
            <a:r>
              <a:rPr lang="en-IN" dirty="0">
                <a:solidFill>
                  <a:schemeClr val="bg1"/>
                </a:solidFill>
              </a:rPr>
              <a:t> = "yellow";</a:t>
            </a:r>
          </a:p>
          <a:p>
            <a:r>
              <a:rPr lang="en-IN" dirty="0">
                <a:solidFill>
                  <a:schemeClr val="bg1"/>
                </a:solidFill>
              </a:rPr>
              <a:t>&lt;/script&gt;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785B3-0985-6DF7-8AE7-7F95CFC4C65C}"/>
              </a:ext>
            </a:extLst>
          </p:cNvPr>
          <p:cNvSpPr txBox="1"/>
          <p:nvPr/>
        </p:nvSpPr>
        <p:spPr>
          <a:xfrm>
            <a:off x="4209661" y="6085505"/>
            <a:ext cx="7982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have to </a:t>
            </a:r>
            <a:r>
              <a:rPr lang="en-US" b="1" dirty="0">
                <a:solidFill>
                  <a:schemeClr val="bg1"/>
                </a:solidFill>
              </a:rPr>
              <a:t>manually control everything</a:t>
            </a:r>
            <a:r>
              <a:rPr lang="en-US" dirty="0">
                <a:solidFill>
                  <a:schemeClr val="bg1"/>
                </a:solidFill>
              </a:rPr>
              <a:t> → code becomes messy.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47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UI Can Go Out of Sync with Data 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96D41-4BB0-C8FC-8505-066FDFF844C4}"/>
              </a:ext>
            </a:extLst>
          </p:cNvPr>
          <p:cNvSpPr txBox="1"/>
          <p:nvPr/>
        </p:nvSpPr>
        <p:spPr>
          <a:xfrm>
            <a:off x="340568" y="944053"/>
            <a:ext cx="61302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Think of a </a:t>
            </a:r>
            <a:r>
              <a:rPr lang="en-US" b="1" dirty="0">
                <a:solidFill>
                  <a:schemeClr val="bg1"/>
                </a:solidFill>
              </a:rPr>
              <a:t>school notice board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Teacher updates marks in her notebook ✅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But forgets to update the notice board ❌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Students see </a:t>
            </a:r>
            <a:r>
              <a:rPr lang="en-US" b="1" dirty="0">
                <a:solidFill>
                  <a:schemeClr val="bg1"/>
                </a:solidFill>
              </a:rPr>
              <a:t>wrong marks</a:t>
            </a:r>
            <a:r>
              <a:rPr lang="en-US" dirty="0">
                <a:solidFill>
                  <a:schemeClr val="bg1"/>
                </a:solidFill>
              </a:rPr>
              <a:t> 😞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5DCFF-B349-8078-6DD1-A29AA46F66FC}"/>
              </a:ext>
            </a:extLst>
          </p:cNvPr>
          <p:cNvSpPr txBox="1"/>
          <p:nvPr/>
        </p:nvSpPr>
        <p:spPr>
          <a:xfrm>
            <a:off x="4903236" y="2774626"/>
            <a:ext cx="65454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&lt;input id="name" placeholder="Enter name"&gt;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 id="show"&gt;Name will appear here&lt;/p&gt;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&lt;script&gt;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let data = "";</a:t>
            </a:r>
          </a:p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function save() {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data = </a:t>
            </a:r>
            <a:r>
              <a:rPr lang="en-I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document.getElementById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("name").value;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// UI is NOT updated here ❌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&lt;/script&gt;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479C0-C1E2-4BEB-6289-222A1A5C7650}"/>
              </a:ext>
            </a:extLst>
          </p:cNvPr>
          <p:cNvSpPr txBox="1"/>
          <p:nvPr/>
        </p:nvSpPr>
        <p:spPr>
          <a:xfrm>
            <a:off x="340568" y="5913947"/>
            <a:ext cx="10885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is changed</a:t>
            </a: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Screen is not updated → out of sync problem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15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Hard to Scale for Big Applications 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3B5F4-2980-2320-153F-16830880D14D}"/>
              </a:ext>
            </a:extLst>
          </p:cNvPr>
          <p:cNvSpPr txBox="1"/>
          <p:nvPr/>
        </p:nvSpPr>
        <p:spPr>
          <a:xfrm>
            <a:off x="597159" y="899996"/>
            <a:ext cx="74504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Imagine managing: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2 students ✅ easy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200 students ❌ very difficult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Manual work becomes impossible.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FDD6D-1893-51AD-E0EB-619C0D80B4B1}"/>
              </a:ext>
            </a:extLst>
          </p:cNvPr>
          <p:cNvSpPr txBox="1"/>
          <p:nvPr/>
        </p:nvSpPr>
        <p:spPr>
          <a:xfrm>
            <a:off x="1350607" y="3335360"/>
            <a:ext cx="61302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&lt;</a:t>
            </a:r>
            <a:r>
              <a:rPr lang="en-IN" b="1" dirty="0" err="1">
                <a:solidFill>
                  <a:schemeClr val="bg1"/>
                </a:solidFill>
              </a:rPr>
              <a:t>ul</a:t>
            </a:r>
            <a:r>
              <a:rPr lang="en-IN" b="1" dirty="0">
                <a:solidFill>
                  <a:schemeClr val="bg1"/>
                </a:solidFill>
              </a:rPr>
              <a:t> id="list"&gt;&lt;/</a:t>
            </a:r>
            <a:r>
              <a:rPr lang="en-IN" b="1" dirty="0" err="1">
                <a:solidFill>
                  <a:schemeClr val="bg1"/>
                </a:solidFill>
              </a:rPr>
              <a:t>ul</a:t>
            </a:r>
            <a:r>
              <a:rPr lang="en-IN" b="1" dirty="0">
                <a:solidFill>
                  <a:schemeClr val="bg1"/>
                </a:solidFill>
              </a:rPr>
              <a:t>&gt;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&lt;script&gt;</a:t>
            </a:r>
          </a:p>
          <a:p>
            <a:r>
              <a:rPr lang="en-IN" b="1" dirty="0">
                <a:solidFill>
                  <a:schemeClr val="bg1"/>
                </a:solidFill>
              </a:rPr>
              <a:t>  function </a:t>
            </a:r>
            <a:r>
              <a:rPr lang="en-IN" b="1" dirty="0" err="1">
                <a:solidFill>
                  <a:schemeClr val="bg1"/>
                </a:solidFill>
              </a:rPr>
              <a:t>addItem</a:t>
            </a:r>
            <a:r>
              <a:rPr lang="en-IN" b="1" dirty="0">
                <a:solidFill>
                  <a:schemeClr val="bg1"/>
                </a:solidFill>
              </a:rPr>
              <a:t>(text) {</a:t>
            </a:r>
          </a:p>
          <a:p>
            <a:r>
              <a:rPr lang="en-IN" b="1" dirty="0">
                <a:solidFill>
                  <a:schemeClr val="bg1"/>
                </a:solidFill>
              </a:rPr>
              <a:t>    let li = </a:t>
            </a:r>
            <a:r>
              <a:rPr lang="en-IN" b="1" dirty="0" err="1">
                <a:solidFill>
                  <a:schemeClr val="bg1"/>
                </a:solidFill>
              </a:rPr>
              <a:t>document.createElement</a:t>
            </a:r>
            <a:r>
              <a:rPr lang="en-IN" b="1" dirty="0">
                <a:solidFill>
                  <a:schemeClr val="bg1"/>
                </a:solidFill>
              </a:rPr>
              <a:t>("li");</a:t>
            </a:r>
          </a:p>
          <a:p>
            <a:r>
              <a:rPr lang="en-IN" b="1" dirty="0">
                <a:solidFill>
                  <a:schemeClr val="bg1"/>
                </a:solidFill>
              </a:rPr>
              <a:t>    </a:t>
            </a:r>
            <a:r>
              <a:rPr lang="en-IN" b="1" dirty="0" err="1">
                <a:solidFill>
                  <a:schemeClr val="bg1"/>
                </a:solidFill>
              </a:rPr>
              <a:t>li.innerText</a:t>
            </a:r>
            <a:r>
              <a:rPr lang="en-IN" b="1" dirty="0">
                <a:solidFill>
                  <a:schemeClr val="bg1"/>
                </a:solidFill>
              </a:rPr>
              <a:t> = text;</a:t>
            </a:r>
          </a:p>
          <a:p>
            <a:r>
              <a:rPr lang="en-IN" b="1" dirty="0">
                <a:solidFill>
                  <a:schemeClr val="bg1"/>
                </a:solidFill>
              </a:rPr>
              <a:t>    </a:t>
            </a:r>
            <a:r>
              <a:rPr lang="en-IN" b="1" dirty="0" err="1">
                <a:solidFill>
                  <a:schemeClr val="bg1"/>
                </a:solidFill>
              </a:rPr>
              <a:t>document.getElementById</a:t>
            </a:r>
            <a:r>
              <a:rPr lang="en-IN" b="1" dirty="0">
                <a:solidFill>
                  <a:schemeClr val="bg1"/>
                </a:solidFill>
              </a:rPr>
              <a:t>("list").</a:t>
            </a:r>
            <a:r>
              <a:rPr lang="en-IN" b="1" dirty="0" err="1">
                <a:solidFill>
                  <a:schemeClr val="bg1"/>
                </a:solidFill>
              </a:rPr>
              <a:t>appendChild</a:t>
            </a:r>
            <a:r>
              <a:rPr lang="en-IN" b="1" dirty="0">
                <a:solidFill>
                  <a:schemeClr val="bg1"/>
                </a:solidFill>
              </a:rPr>
              <a:t>(li);</a:t>
            </a:r>
          </a:p>
          <a:p>
            <a:r>
              <a:rPr lang="en-IN" b="1" dirty="0">
                <a:solidFill>
                  <a:schemeClr val="bg1"/>
                </a:solidFill>
              </a:rPr>
              <a:t>  }</a:t>
            </a:r>
          </a:p>
          <a:p>
            <a:r>
              <a:rPr lang="en-IN" b="1" dirty="0">
                <a:solidFill>
                  <a:schemeClr val="bg1"/>
                </a:solidFill>
              </a:rPr>
              <a:t>&lt;/script&gt;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B32E4-3DAE-9BBA-1107-BD7EB202112A}"/>
              </a:ext>
            </a:extLst>
          </p:cNvPr>
          <p:cNvSpPr txBox="1"/>
          <p:nvPr/>
        </p:nvSpPr>
        <p:spPr>
          <a:xfrm>
            <a:off x="5523722" y="5920683"/>
            <a:ext cx="6358813" cy="9233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Works for small list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Becomes difficult to manage for </a:t>
            </a:r>
            <a:r>
              <a:rPr lang="en-US" b="1" dirty="0">
                <a:solidFill>
                  <a:schemeClr val="bg1"/>
                </a:solidFill>
              </a:rPr>
              <a:t>big apps</a:t>
            </a:r>
            <a:r>
              <a:rPr lang="en-US" dirty="0">
                <a:solidFill>
                  <a:schemeClr val="bg1"/>
                </a:solidFill>
              </a:rPr>
              <a:t> ❌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06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Example: Change a Name on Screen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B3A4C-84E6-CA61-17B9-1A1B8631EDBC}"/>
              </a:ext>
            </a:extLst>
          </p:cNvPr>
          <p:cNvSpPr txBox="1"/>
          <p:nvPr/>
        </p:nvSpPr>
        <p:spPr>
          <a:xfrm>
            <a:off x="1007706" y="3087174"/>
            <a:ext cx="9573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Traditional JavaScript says: “Do everything by hand”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React says: “Just change data, I’ll handle the screen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0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Redraw + Rearrange + Recolor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9EC96-E258-22EF-248B-80527D59784E}"/>
              </a:ext>
            </a:extLst>
          </p:cNvPr>
          <p:cNvSpPr txBox="1"/>
          <p:nvPr/>
        </p:nvSpPr>
        <p:spPr>
          <a:xfrm>
            <a:off x="410547" y="718457"/>
            <a:ext cx="71845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 of a webpage like a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drawing notebook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you change something, the browser does these 3 things: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535E1A-7D41-D1E2-A085-16FC1EFEB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918" y="1833203"/>
            <a:ext cx="681468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Rendering (First Draw ✏️)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is when the browser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draws the webpage for the first 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Opening a new page = browser draws text, buttons, images.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75FD3F2-B13C-7F19-125A-D6555167E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918" y="3782632"/>
            <a:ext cx="75671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Reflow (Re-Arrange 📐)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When size or position changes, the browser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recalculates layout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You move a sofa in a room → you have to move the table and chair too.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36A44CB-E831-7CEB-5E53-F2289E1A3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476" y="349125"/>
            <a:ext cx="48205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Repaint (Re-Color 🎨)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When only colors or styles 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Like: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Painting the wall a new color but furniture stays same.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9DF2A-D2C2-29C1-2810-138B5043D0B0}"/>
              </a:ext>
            </a:extLst>
          </p:cNvPr>
          <p:cNvSpPr txBox="1"/>
          <p:nvPr/>
        </p:nvSpPr>
        <p:spPr>
          <a:xfrm>
            <a:off x="2127379" y="6398866"/>
            <a:ext cx="8878077" cy="369332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DOM = </a:t>
            </a:r>
            <a:r>
              <a:rPr lang="en-US" b="1" dirty="0">
                <a:solidFill>
                  <a:schemeClr val="bg1"/>
                </a:solidFill>
              </a:rPr>
              <a:t>Redraw + Rearrange + Recolor</a:t>
            </a:r>
            <a:r>
              <a:rPr lang="en-US" dirty="0">
                <a:solidFill>
                  <a:schemeClr val="bg1"/>
                </a:solidFill>
              </a:rPr>
              <a:t> the full screen again and again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4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Diffing Algorithm and Reconciliation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9227F-52A4-F16F-CED8-398ACDFC0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26" y="760192"/>
            <a:ext cx="78790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Diffing Algorithm (Find the Difference Game)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React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compares old screen with new screen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finds only the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Like: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Finding difference between two similar pictures 🖼️.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88E4E0-662C-DE3B-48AB-F1A0A9E6B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546" y="2661775"/>
            <a:ext cx="77508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Reconciliation 🎯 (Smart Update)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After finding differences, React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updates only that small part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the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Like: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Only cleaning the dirty spot, not the whole room.</a:t>
            </a:r>
          </a:p>
        </p:txBody>
      </p:sp>
    </p:spTree>
    <p:extLst>
      <p:ext uri="{BB962C8B-B14F-4D97-AF65-F5344CB8AC3E}">
        <p14:creationId xmlns:p14="http://schemas.microsoft.com/office/powerpoint/2010/main" val="175568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Summary</a:t>
            </a:r>
            <a:endParaRPr lang="en-IN" sz="2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CD1934-3779-40EF-A962-803AF9FD2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918511"/>
              </p:ext>
            </p:extLst>
          </p:nvPr>
        </p:nvGraphicFramePr>
        <p:xfrm>
          <a:off x="783771" y="1063690"/>
          <a:ext cx="10022472" cy="2453951"/>
        </p:xfrm>
        <a:graphic>
          <a:graphicData uri="http://schemas.openxmlformats.org/drawingml/2006/table">
            <a:tbl>
              <a:tblPr/>
              <a:tblGrid>
                <a:gridCol w="5011236">
                  <a:extLst>
                    <a:ext uri="{9D8B030D-6E8A-4147-A177-3AD203B41FA5}">
                      <a16:colId xmlns:a16="http://schemas.microsoft.com/office/drawing/2014/main" val="3208293459"/>
                    </a:ext>
                  </a:extLst>
                </a:gridCol>
                <a:gridCol w="5011236">
                  <a:extLst>
                    <a:ext uri="{9D8B030D-6E8A-4147-A177-3AD203B41FA5}">
                      <a16:colId xmlns:a16="http://schemas.microsoft.com/office/drawing/2014/main" val="2109871846"/>
                    </a:ext>
                  </a:extLst>
                </a:gridCol>
              </a:tblGrid>
              <a:tr h="654387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00819"/>
                  </a:ext>
                </a:extLst>
              </a:tr>
              <a:tr h="65438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Redraws &amp; rearranges a lot 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33511"/>
                  </a:ext>
                </a:extLst>
              </a:tr>
              <a:tr h="114517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Smartly updates only what changed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723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79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Example: Change a Name on Screen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FB63FD-951D-4B13-57BC-AF6A78DBD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726396"/>
              </p:ext>
            </p:extLst>
          </p:nvPr>
        </p:nvGraphicFramePr>
        <p:xfrm>
          <a:off x="1103313" y="1007706"/>
          <a:ext cx="8947150" cy="4057215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1300730425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4107039689"/>
                    </a:ext>
                  </a:extLst>
                </a:gridCol>
              </a:tblGrid>
              <a:tr h="811443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Simple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088967"/>
                  </a:ext>
                </a:extLst>
              </a:tr>
              <a:tr h="81144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Frequent reflow &amp; repaint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Screen redraws too much → slow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879239"/>
                  </a:ext>
                </a:extLst>
              </a:tr>
              <a:tr h="8114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Imperative UI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Too many manual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3633"/>
                  </a:ext>
                </a:extLst>
              </a:tr>
              <a:tr h="8114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Out of sync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Data and screen don’t 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532819"/>
                  </a:ext>
                </a:extLst>
              </a:tr>
              <a:tr h="8114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Hard to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Difficult for big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89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89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Virtual DOM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48A09-15C5-F318-133E-1217D5A7C8DD}"/>
              </a:ext>
            </a:extLst>
          </p:cNvPr>
          <p:cNvSpPr txBox="1"/>
          <p:nvPr/>
        </p:nvSpPr>
        <p:spPr>
          <a:xfrm>
            <a:off x="181946" y="516505"/>
            <a:ext cx="61302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Virtual DOM?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Think of </a:t>
            </a:r>
            <a:r>
              <a:rPr lang="en-US" b="1" dirty="0">
                <a:solidFill>
                  <a:schemeClr val="bg1"/>
                </a:solidFill>
              </a:rPr>
              <a:t>Virtual DOM (VDOM)</a:t>
            </a:r>
            <a:r>
              <a:rPr lang="en-US" dirty="0">
                <a:solidFill>
                  <a:schemeClr val="bg1"/>
                </a:solidFill>
              </a:rPr>
              <a:t> as a </a:t>
            </a:r>
            <a:r>
              <a:rPr lang="en-US" b="1" dirty="0">
                <a:solidFill>
                  <a:schemeClr val="bg1"/>
                </a:solidFill>
              </a:rPr>
              <a:t>fake/temporary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copy</a:t>
            </a:r>
            <a:r>
              <a:rPr lang="en-US" dirty="0">
                <a:solidFill>
                  <a:schemeClr val="bg1"/>
                </a:solidFill>
              </a:rPr>
              <a:t> of the real webpage kept in memory.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28B229-0E38-E36C-DC9F-778E04A2D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71" y="2215936"/>
            <a:ext cx="97504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Before painting your room, you first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draw a small sketch on paper.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That sketch =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Virtual DOM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403F4-0181-F239-EE87-F01C81DCC305}"/>
              </a:ext>
            </a:extLst>
          </p:cNvPr>
          <p:cNvSpPr txBox="1"/>
          <p:nvPr/>
        </p:nvSpPr>
        <p:spPr>
          <a:xfrm>
            <a:off x="181945" y="4355564"/>
            <a:ext cx="117519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Lightweight, In-Memory Copy of Real DOM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Instead of touching the real screen again and again, React works with a </a:t>
            </a:r>
            <a:r>
              <a:rPr lang="en-US" b="1" dirty="0">
                <a:solidFill>
                  <a:schemeClr val="bg1"/>
                </a:solidFill>
              </a:rPr>
              <a:t>copy in memory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Example: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practice notebook</a:t>
            </a:r>
            <a:r>
              <a:rPr lang="en-US" dirty="0">
                <a:solidFill>
                  <a:schemeClr val="bg1"/>
                </a:solidFill>
              </a:rPr>
              <a:t> before writing in the final book.</a:t>
            </a:r>
          </a:p>
          <a:p>
            <a:r>
              <a:rPr lang="en-US" dirty="0">
                <a:solidFill>
                  <a:schemeClr val="bg1"/>
                </a:solidFill>
              </a:rPr>
              <a:t>✅ Fast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✅ Safe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✅ Smart</a:t>
            </a:r>
          </a:p>
        </p:txBody>
      </p:sp>
    </p:spTree>
    <p:extLst>
      <p:ext uri="{BB962C8B-B14F-4D97-AF65-F5344CB8AC3E}">
        <p14:creationId xmlns:p14="http://schemas.microsoft.com/office/powerpoint/2010/main" val="171599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Example: Change a Name on Screen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62EF0-01DA-A522-482B-F972152AEE9F}"/>
              </a:ext>
            </a:extLst>
          </p:cNvPr>
          <p:cNvSpPr txBox="1"/>
          <p:nvPr/>
        </p:nvSpPr>
        <p:spPr>
          <a:xfrm>
            <a:off x="233265" y="606490"/>
            <a:ext cx="88967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React Creates a New Virtual DOM for Every Change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Whenever: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click a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Type in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changes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React makes a </a:t>
            </a:r>
            <a:r>
              <a:rPr lang="en-US" b="1" dirty="0">
                <a:solidFill>
                  <a:schemeClr val="bg1"/>
                </a:solidFill>
              </a:rPr>
              <a:t>new version of that memory copy</a:t>
            </a:r>
            <a:r>
              <a:rPr lang="en-US" dirty="0">
                <a:solidFill>
                  <a:schemeClr val="bg1"/>
                </a:solidFill>
              </a:rPr>
              <a:t> (VDOM).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Like: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Taking a </a:t>
            </a:r>
            <a:r>
              <a:rPr lang="en-US" b="1" dirty="0">
                <a:solidFill>
                  <a:schemeClr val="bg1"/>
                </a:solidFill>
              </a:rPr>
              <a:t>new photo</a:t>
            </a:r>
            <a:r>
              <a:rPr lang="en-US" dirty="0">
                <a:solidFill>
                  <a:schemeClr val="bg1"/>
                </a:solidFill>
              </a:rPr>
              <a:t> each time you change something 📸.</a:t>
            </a:r>
          </a:p>
        </p:txBody>
      </p:sp>
    </p:spTree>
    <p:extLst>
      <p:ext uri="{BB962C8B-B14F-4D97-AF65-F5344CB8AC3E}">
        <p14:creationId xmlns:p14="http://schemas.microsoft.com/office/powerpoint/2010/main" val="207125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Example: Change a Name on Screen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48E8E-3C41-5790-92D4-19DDDE26E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47" y="582509"/>
            <a:ext cx="88017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Diffing – Finding the Differences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React then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Old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VDOM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 New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VDOM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 checks: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What exactly changed?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Like: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Spot the difference game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between two pictures.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33D8D-6F82-B23D-50EB-D3CDA0F4D48F}"/>
              </a:ext>
            </a:extLst>
          </p:cNvPr>
          <p:cNvSpPr txBox="1"/>
          <p:nvPr/>
        </p:nvSpPr>
        <p:spPr>
          <a:xfrm>
            <a:off x="6480579" y="1180268"/>
            <a:ext cx="65640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Only Changed Parts Are Updated in Real DOM ✅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Instead of repainting the whole screen, React: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Updates only the button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Or only the text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Or only that small part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Like: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Cleaning only the dirty spot, not the whole room.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14F39-0783-7DBD-A291-FD02BD60E02F}"/>
              </a:ext>
            </a:extLst>
          </p:cNvPr>
          <p:cNvSpPr txBox="1"/>
          <p:nvPr/>
        </p:nvSpPr>
        <p:spPr>
          <a:xfrm>
            <a:off x="2708211" y="5259919"/>
            <a:ext cx="634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React first thinks, then updates the screen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81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React Element Vs DOM Element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77D67-1455-4D2F-4B38-1D883DE7830E}"/>
              </a:ext>
            </a:extLst>
          </p:cNvPr>
          <p:cNvSpPr txBox="1"/>
          <p:nvPr/>
        </p:nvSpPr>
        <p:spPr>
          <a:xfrm>
            <a:off x="279918" y="541177"/>
            <a:ext cx="88500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Think of this: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React Element = A drawing of a button on paper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DOM Element = The real button you click in the browser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7C314-8230-4316-E268-3130DEF540E3}"/>
              </a:ext>
            </a:extLst>
          </p:cNvPr>
          <p:cNvSpPr txBox="1"/>
          <p:nvPr/>
        </p:nvSpPr>
        <p:spPr>
          <a:xfrm>
            <a:off x="583164" y="2642224"/>
            <a:ext cx="104549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How the Browser Works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When you open a website, the browser makes something called the </a:t>
            </a:r>
            <a:r>
              <a:rPr lang="en-US" b="1" dirty="0">
                <a:solidFill>
                  <a:schemeClr val="bg1"/>
                </a:solidFill>
              </a:rPr>
              <a:t>DOM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DOM = A tree of real items like: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5C383-C090-8BCE-C336-156BC3F5D926}"/>
              </a:ext>
            </a:extLst>
          </p:cNvPr>
          <p:cNvSpPr txBox="1"/>
          <p:nvPr/>
        </p:nvSpPr>
        <p:spPr>
          <a:xfrm>
            <a:off x="2230017" y="443516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Real Browser Screen</a:t>
            </a:r>
          </a:p>
          <a:p>
            <a:r>
              <a:rPr lang="en-IN" dirty="0">
                <a:solidFill>
                  <a:schemeClr val="bg1"/>
                </a:solidFill>
              </a:rPr>
              <a:t>-------------------</a:t>
            </a:r>
          </a:p>
          <a:p>
            <a:r>
              <a:rPr lang="en-IN" dirty="0">
                <a:solidFill>
                  <a:schemeClr val="bg1"/>
                </a:solidFill>
              </a:rPr>
              <a:t>&lt;p&gt;Hello&lt;/p&gt;</a:t>
            </a:r>
          </a:p>
          <a:p>
            <a:r>
              <a:rPr lang="en-IN" dirty="0">
                <a:solidFill>
                  <a:schemeClr val="bg1"/>
                </a:solidFill>
              </a:rPr>
              <a:t>&lt;button&gt;Click&lt;/button&gt;</a:t>
            </a:r>
          </a:p>
          <a:p>
            <a:r>
              <a:rPr lang="en-IN" dirty="0">
                <a:solidFill>
                  <a:schemeClr val="bg1"/>
                </a:solidFill>
              </a:rPr>
              <a:t>&lt;div&gt;Box&lt;/div&gt;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09CAA-43F5-973A-4D95-D74885D82E53}"/>
              </a:ext>
            </a:extLst>
          </p:cNvPr>
          <p:cNvSpPr txBox="1"/>
          <p:nvPr/>
        </p:nvSpPr>
        <p:spPr>
          <a:xfrm>
            <a:off x="4093028" y="6228098"/>
            <a:ext cx="613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These are </a:t>
            </a:r>
            <a:r>
              <a:rPr lang="en-US" b="1" dirty="0">
                <a:solidFill>
                  <a:schemeClr val="bg1"/>
                </a:solidFill>
              </a:rPr>
              <a:t>actual visible things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46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React Element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87EBC-92FA-B706-4CD5-32F14B048D89}"/>
              </a:ext>
            </a:extLst>
          </p:cNvPr>
          <p:cNvSpPr txBox="1"/>
          <p:nvPr/>
        </p:nvSpPr>
        <p:spPr>
          <a:xfrm>
            <a:off x="741783" y="850746"/>
            <a:ext cx="10063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Now Where Does React Come In?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React does </a:t>
            </a:r>
            <a:r>
              <a:rPr lang="en-US" b="1" dirty="0">
                <a:solidFill>
                  <a:schemeClr val="bg1"/>
                </a:solidFill>
              </a:rPr>
              <a:t>not directly change the real screen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First, React creates a </a:t>
            </a:r>
            <a:r>
              <a:rPr lang="en-US" b="1" dirty="0">
                <a:solidFill>
                  <a:schemeClr val="bg1"/>
                </a:solidFill>
              </a:rPr>
              <a:t>React Element</a:t>
            </a:r>
            <a:r>
              <a:rPr lang="en-US" dirty="0">
                <a:solidFill>
                  <a:schemeClr val="bg1"/>
                </a:solidFill>
              </a:rPr>
              <a:t> in memory (like a plan).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49D8F-8AC4-F7C5-2D75-F0F4E0272070}"/>
              </a:ext>
            </a:extLst>
          </p:cNvPr>
          <p:cNvSpPr txBox="1"/>
          <p:nvPr/>
        </p:nvSpPr>
        <p:spPr>
          <a:xfrm>
            <a:off x="2421293" y="2963844"/>
            <a:ext cx="7655767" cy="3477875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Your React Code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↓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React creates a PLAN (React Element)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      ↓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React compares old plan vs new plan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      ↓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Then browser updates REAL screen (DOM)</a:t>
            </a:r>
          </a:p>
        </p:txBody>
      </p:sp>
    </p:spTree>
    <p:extLst>
      <p:ext uri="{BB962C8B-B14F-4D97-AF65-F5344CB8AC3E}">
        <p14:creationId xmlns:p14="http://schemas.microsoft.com/office/powerpoint/2010/main" val="201748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6506-F415-F98E-0C97-EF4FAD2F037B}"/>
              </a:ext>
            </a:extLst>
          </p:cNvPr>
          <p:cNvSpPr txBox="1"/>
          <p:nvPr/>
        </p:nvSpPr>
        <p:spPr>
          <a:xfrm>
            <a:off x="863082" y="1098294"/>
            <a:ext cx="613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Step 1: You write React code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BB713-2D1E-1E9D-7C3B-6F0FE90535D1}"/>
              </a:ext>
            </a:extLst>
          </p:cNvPr>
          <p:cNvSpPr txBox="1"/>
          <p:nvPr/>
        </p:nvSpPr>
        <p:spPr>
          <a:xfrm>
            <a:off x="2878494" y="1796478"/>
            <a:ext cx="6130212" cy="92333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Jsx</a:t>
            </a:r>
            <a:r>
              <a:rPr lang="en-IN" dirty="0">
                <a:solidFill>
                  <a:schemeClr val="bg1"/>
                </a:solidFill>
              </a:rPr>
              <a:t> code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&lt;h1&gt;Hello&lt;/h1&gt;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1042310-02A5-123B-15FE-3A93942F5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082" y="3619974"/>
            <a:ext cx="85608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Step 2: React makes a React Element (in memory)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looks like a small note to itself: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thinking: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“Okay, show a H1 with text Hello”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not visible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yet.</a:t>
            </a:r>
          </a:p>
        </p:txBody>
      </p:sp>
    </p:spTree>
    <p:extLst>
      <p:ext uri="{BB962C8B-B14F-4D97-AF65-F5344CB8AC3E}">
        <p14:creationId xmlns:p14="http://schemas.microsoft.com/office/powerpoint/2010/main" val="290799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107094" y="2695289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8C504-2473-59F1-DCFE-1A421A0C0D84}"/>
              </a:ext>
            </a:extLst>
          </p:cNvPr>
          <p:cNvSpPr txBox="1"/>
          <p:nvPr/>
        </p:nvSpPr>
        <p:spPr>
          <a:xfrm>
            <a:off x="312575" y="997117"/>
            <a:ext cx="61302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Step 3: Browser creates the Real DOM Element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Now the browser actually shows: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			</a:t>
            </a:r>
            <a:r>
              <a:rPr lang="en-US" b="1" dirty="0">
                <a:solidFill>
                  <a:schemeClr val="bg1"/>
                </a:solidFill>
              </a:rPr>
              <a:t>hello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D2606-AD40-84D8-51F0-56646552DC44}"/>
              </a:ext>
            </a:extLst>
          </p:cNvPr>
          <p:cNvSpPr txBox="1"/>
          <p:nvPr/>
        </p:nvSpPr>
        <p:spPr>
          <a:xfrm>
            <a:off x="4147457" y="2474445"/>
            <a:ext cx="613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on the screen.</a:t>
            </a:r>
          </a:p>
        </p:txBody>
      </p:sp>
    </p:spTree>
    <p:extLst>
      <p:ext uri="{BB962C8B-B14F-4D97-AF65-F5344CB8AC3E}">
        <p14:creationId xmlns:p14="http://schemas.microsoft.com/office/powerpoint/2010/main" val="271240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Summary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AC46C-A492-4860-C7C5-711F7378344D}"/>
              </a:ext>
            </a:extLst>
          </p:cNvPr>
          <p:cNvSpPr txBox="1"/>
          <p:nvPr/>
        </p:nvSpPr>
        <p:spPr>
          <a:xfrm>
            <a:off x="3004457" y="3087174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</a:t>
            </a:r>
            <a:r>
              <a:rPr lang="en-US" b="1" dirty="0"/>
              <a:t>you must tell JavaScript exactly where and what to change</a:t>
            </a:r>
            <a:r>
              <a:rPr lang="en-US" dirty="0"/>
              <a:t>.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E30960-507D-0ECD-108B-FD1F63868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618319"/>
              </p:ext>
            </p:extLst>
          </p:nvPr>
        </p:nvGraphicFramePr>
        <p:xfrm>
          <a:off x="1103313" y="1362269"/>
          <a:ext cx="8947150" cy="3702650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1276581384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621853961"/>
                    </a:ext>
                  </a:extLst>
                </a:gridCol>
              </a:tblGrid>
              <a:tr h="740530">
                <a:tc>
                  <a:txBody>
                    <a:bodyPr/>
                    <a:lstStyle/>
                    <a:p>
                      <a:r>
                        <a:rPr lang="en-IN" sz="2000" b="1" u="sng" dirty="0">
                          <a:solidFill>
                            <a:schemeClr val="bg1"/>
                          </a:solidFill>
                        </a:rPr>
                        <a:t>React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u="sng" dirty="0">
                          <a:solidFill>
                            <a:schemeClr val="bg1"/>
                          </a:solidFill>
                        </a:rPr>
                        <a:t>DOM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701223"/>
                  </a:ext>
                </a:extLst>
              </a:tr>
              <a:tr h="74053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Invisible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Visible real 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58249"/>
                  </a:ext>
                </a:extLst>
              </a:tr>
              <a:tr h="74053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Stays inside React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Lives inside 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371495"/>
                  </a:ext>
                </a:extLst>
              </a:tr>
              <a:tr h="74053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Cannot 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Can 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555088"/>
                  </a:ext>
                </a:extLst>
              </a:tr>
              <a:tr h="74053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Just tells “what to show”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Actually shows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063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932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Summary</a:t>
            </a:r>
            <a:endParaRPr lang="en-IN" sz="2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40A9B1-BF00-54D5-A174-6D992DD15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027096"/>
              </p:ext>
            </p:extLst>
          </p:nvPr>
        </p:nvGraphicFramePr>
        <p:xfrm>
          <a:off x="1692882" y="1551246"/>
          <a:ext cx="8133772" cy="2319714"/>
        </p:xfrm>
        <a:graphic>
          <a:graphicData uri="http://schemas.openxmlformats.org/drawingml/2006/table">
            <a:tbl>
              <a:tblPr/>
              <a:tblGrid>
                <a:gridCol w="4066886">
                  <a:extLst>
                    <a:ext uri="{9D8B030D-6E8A-4147-A177-3AD203B41FA5}">
                      <a16:colId xmlns:a16="http://schemas.microsoft.com/office/drawing/2014/main" val="4204789766"/>
                    </a:ext>
                  </a:extLst>
                </a:gridCol>
                <a:gridCol w="4066886">
                  <a:extLst>
                    <a:ext uri="{9D8B030D-6E8A-4147-A177-3AD203B41FA5}">
                      <a16:colId xmlns:a16="http://schemas.microsoft.com/office/drawing/2014/main" val="4227989570"/>
                    </a:ext>
                  </a:extLst>
                </a:gridCol>
              </a:tblGrid>
              <a:tr h="773238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Thing</a:t>
                      </a:r>
                    </a:p>
                  </a:txBody>
                  <a:tcPr marL="83127" marR="83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marL="83127" marR="83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31787"/>
                  </a:ext>
                </a:extLst>
              </a:tr>
              <a:tr h="773238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Wedding card design</a:t>
                      </a:r>
                    </a:p>
                  </a:txBody>
                  <a:tcPr marL="83127" marR="83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React Element</a:t>
                      </a:r>
                    </a:p>
                  </a:txBody>
                  <a:tcPr marL="83127" marR="83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767323"/>
                  </a:ext>
                </a:extLst>
              </a:tr>
              <a:tr h="773238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Printed wedding card</a:t>
                      </a:r>
                    </a:p>
                  </a:txBody>
                  <a:tcPr marL="83127" marR="83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DOM Element</a:t>
                      </a:r>
                    </a:p>
                  </a:txBody>
                  <a:tcPr marL="83127" marR="83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16652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5611171-5BF0-CF79-E1F0-DEFED05CD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33" y="652513"/>
            <a:ext cx="27622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 Life Easy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35DC3E0-23B2-0BA5-18AA-C96001334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5840" y="4745336"/>
            <a:ext cx="5532284" cy="92333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React Element is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instructions for the browser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DOM Element is what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browser actually shows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308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Code to Understand</a:t>
            </a:r>
            <a:endParaRPr lang="en-IN" sz="2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FC835-DFDD-F21D-6A65-D7DE0C32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" y="854862"/>
            <a:ext cx="66446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React (Plan)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const element = &lt;button&gt;Click Me&lt;/button&gt;;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Browser (Real)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const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btn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document.createElement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("button");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btn.innerText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 = "Click Me";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document.body.appendChild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btn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);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419380-81BB-2286-898A-5309D8A6C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73B359-C1F4-186A-C346-3E3B98F65C72}"/>
              </a:ext>
            </a:extLst>
          </p:cNvPr>
          <p:cNvSpPr txBox="1"/>
          <p:nvPr/>
        </p:nvSpPr>
        <p:spPr>
          <a:xfrm>
            <a:off x="3652520" y="5079808"/>
            <a:ext cx="5115560" cy="9233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React Element = THINKING </a:t>
            </a: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DOM Element = SHOWING 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59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React</a:t>
            </a:r>
            <a:endParaRPr lang="en-IN" sz="2000" b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419380-81BB-2286-898A-5309D8A6C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0FDC7-1720-BBE8-3523-52BD58A1B1A3}"/>
              </a:ext>
            </a:extLst>
          </p:cNvPr>
          <p:cNvSpPr txBox="1"/>
          <p:nvPr/>
        </p:nvSpPr>
        <p:spPr>
          <a:xfrm>
            <a:off x="121920" y="473076"/>
            <a:ext cx="75665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Before jumping into coding, let’s understand what React is: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✅ React is a JavaScript library used for building user interfaces.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✅ It helps create interactive and dynamic web applications.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✅ Developed at Facebook in 2011</a:t>
            </a:r>
          </a:p>
          <a:p>
            <a:r>
              <a:rPr lang="en-US" b="1" dirty="0"/>
              <a:t>Facebook did NOT create React in 2011.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✅ Facebook created </a:t>
            </a:r>
            <a:r>
              <a:rPr lang="en-US" b="1" dirty="0">
                <a:solidFill>
                  <a:schemeClr val="bg1"/>
                </a:solidFill>
              </a:rPr>
              <a:t>React in 2013</a:t>
            </a:r>
            <a:r>
              <a:rPr lang="en-US" dirty="0">
                <a:solidFill>
                  <a:schemeClr val="bg1"/>
                </a:solidFill>
              </a:rPr>
              <a:t>, and it was </a:t>
            </a:r>
            <a:r>
              <a:rPr lang="en-US" b="1" dirty="0">
                <a:solidFill>
                  <a:schemeClr val="bg1"/>
                </a:solidFill>
              </a:rPr>
              <a:t>first used in Facebook’s News Feed in 2011 internally as an idea</a:t>
            </a:r>
            <a:r>
              <a:rPr lang="en-US" dirty="0">
                <a:solidFill>
                  <a:schemeClr val="bg1"/>
                </a:solidFill>
              </a:rPr>
              <a:t>, not as React.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✅ It follows a component-based architecture, where UI is broken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✅ It is used to create Single Page Application.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5FC4E9-9DDB-AA0C-3A19-150601442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578" y="2677886"/>
            <a:ext cx="4395422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8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React</a:t>
            </a:r>
            <a:endParaRPr lang="en-IN" sz="2000" b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419380-81BB-2286-898A-5309D8A6C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9846D-6220-420C-528A-C1E84525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32" y="400109"/>
            <a:ext cx="10287000" cy="634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85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React</a:t>
            </a:r>
            <a:endParaRPr lang="en-IN" sz="2000" b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419380-81BB-2286-898A-5309D8A6C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Dom Tree of An Example Web Page">
            <a:extLst>
              <a:ext uri="{FF2B5EF4-FFF2-40B4-BE49-F238E27FC236}">
                <a16:creationId xmlns:a16="http://schemas.microsoft.com/office/drawing/2014/main" id="{6674C689-6EDA-48DC-8595-D423E7BE3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08" y="473075"/>
            <a:ext cx="8434970" cy="533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207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" y="0"/>
            <a:ext cx="12140062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React</a:t>
            </a:r>
            <a:endParaRPr lang="en-IN" sz="2000" b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419380-81BB-2286-898A-5309D8A6C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56D6A-EBFB-A06C-1427-1E4AAFF7FB7E}"/>
              </a:ext>
            </a:extLst>
          </p:cNvPr>
          <p:cNvSpPr txBox="1"/>
          <p:nvPr/>
        </p:nvSpPr>
        <p:spPr>
          <a:xfrm>
            <a:off x="321907" y="607109"/>
            <a:ext cx="61302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React has a simple Mental model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JS is cumbersome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JS is Error-prone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JS is Hard to maintain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7A7BE-CB6F-84A5-7056-A239934B8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91" y="1373349"/>
            <a:ext cx="5463366" cy="534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8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3848</TotalTime>
  <Words>1690</Words>
  <Application>Microsoft Office PowerPoint</Application>
  <PresentationFormat>Widescreen</PresentationFormat>
  <Paragraphs>319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 Unicode MS</vt:lpstr>
      <vt:lpstr>-apple-system</vt:lpstr>
      <vt:lpstr>Arial</vt:lpstr>
      <vt:lpstr>Articulate</vt:lpstr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67</cp:revision>
  <dcterms:created xsi:type="dcterms:W3CDTF">2022-08-19T11:01:50Z</dcterms:created>
  <dcterms:modified xsi:type="dcterms:W3CDTF">2025-12-08T12:33:22Z</dcterms:modified>
</cp:coreProperties>
</file>