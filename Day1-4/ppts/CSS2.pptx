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3"/>
  </p:notesMasterIdLst>
  <p:sldIdLst>
    <p:sldId id="310" r:id="rId2"/>
    <p:sldId id="318" r:id="rId3"/>
    <p:sldId id="315" r:id="rId4"/>
    <p:sldId id="322" r:id="rId5"/>
    <p:sldId id="316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7" r:id="rId28"/>
    <p:sldId id="336" r:id="rId29"/>
    <p:sldId id="339" r:id="rId30"/>
    <p:sldId id="340" r:id="rId31"/>
    <p:sldId id="34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885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595AD7B-554F-9E81-81AD-D67232E1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E332F1E-BDB7-DB8C-6D65-104F6623E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859837EF-5758-7CE8-33CF-E4E71358EE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9076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0EC9AF6-26E7-ECEA-2579-D24AA6AB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C9A9C3C-6225-6C15-036E-1E86DF18D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C4A08F9D-0639-FC2A-0134-CFDB912D6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6699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07D31C9-BEB9-B8A9-74B1-B8A9B613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1596A7A-B145-8450-0D44-D84442E806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57AD965-04FF-72B4-C64F-E97A53D8C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1892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3159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342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0462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0431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8355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825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8641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7817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A6932F-8309-CDEC-9F3C-FA402CB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FCB5B90-3AAE-FA68-6FFF-F69C0F2E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93F8ACF-72A5-727F-105B-1620B9F6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1411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1329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9238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1407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344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252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1607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040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76203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9270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63138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58746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2822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73435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9642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8581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93784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93517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8695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43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32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48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7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3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81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33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9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39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098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A82C0F-A81B-4B2B-9B0C-842E6D2AD8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7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0" y="288711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More About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01DBBCC-C1F6-E73D-B50F-934565E9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C2D2F18-84B4-85A0-D8CA-65DCF217BD3C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Importance of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0C5FA-E76A-63E6-3BB5-50CF2E16556A}"/>
              </a:ext>
            </a:extLst>
          </p:cNvPr>
          <p:cNvSpPr txBox="1"/>
          <p:nvPr/>
        </p:nvSpPr>
        <p:spPr>
          <a:xfrm>
            <a:off x="0" y="1144431"/>
            <a:ext cx="1208442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(Cascading Style Sheets) is essential for web development because it controls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presentation, layout, and styling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web pages. Here’s why CSS is important: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Separation of Content and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separates structure (HTML) from styling, making code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manageable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for easier updates—changing one CSS file can update the design across multiple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Enhances User Experience (UX)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websites work on different screen sizes.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animations and transitions, making interactions more engaging.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Efficient and Scalable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Styles can be reused across multiple pages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stylesheets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duplication and improves maintainability.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5348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3"/>
    </mc:Choice>
    <mc:Fallback xmlns="">
      <p:transition spd="slow" advTm="109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E2D71A4-99E8-9F81-D063-2F0CB6A8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64E7AB71-5F18-009D-436F-4B457DBF584B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More about CSS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714F11-81EB-F6FC-57AC-BB6270FA8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18" y="1289953"/>
            <a:ext cx="118872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Responsive Web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 queries allow styles to adapt to different devices (mobile, tablet, desktop).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mobile-first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Improves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instead of inline styles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page size and improves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loading speed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optimize rendering by reducing unnecessary reflows and repaints.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Flexibility and Customization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powerful layout tools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Flexbox and Grid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complex UI designs.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variables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--main-color: blue;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allow dynamic styling.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Accessibility and SEO Benefits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use of CSS improves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assistive technologies.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Faster, well-structured pages improve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engine rankings (SEO)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09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564005C-5A81-BD37-F170-9A167727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D5AA0617-E8BF-DE71-DC8F-54E5D92A16F8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/>
              <a:t>HTML Tags Where CSS Can Be Applied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30A3CE-536F-5648-028E-AC8B4B90B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946"/>
            <a:ext cx="2223686" cy="6309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Text &amp; Formatting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&lt;h6&gt;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&lt;strong&gt;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&lt;mark&gt;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&lt;small&gt;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&lt;del&gt;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&lt;ins&gt;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&lt;sub&gt;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&lt;sup&gt;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Links &amp; Navigation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&lt;a&gt;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&lt;nav&gt;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Lists &amp; Table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&lt;li&gt;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&lt;table&gt;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&lt;tr&gt;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&lt;td&gt;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&lt;caption&gt;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7F2EA2-7757-303E-A62E-A4227FD2E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096" y="1164134"/>
            <a:ext cx="2553904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Forms &amp; Input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&lt;form&gt;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&lt;input&gt;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textarea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&lt;button&gt;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&lt;select&gt;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&lt;option&gt;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&lt;label&gt;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fieldset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&lt;legend&gt;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5️⃣ Layout &amp; Structure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&lt;section&gt;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&lt;article&gt;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&lt;header&gt;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&lt;footer&gt;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&lt;main&gt;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&lt;aside&gt;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&lt;figure&gt;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figcaption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6️⃣ Multimedia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&lt;video&gt;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&lt;audio&gt;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&lt;source&gt;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3392CC-049B-D994-2BA7-632B595D9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410" y="1164134"/>
            <a:ext cx="31213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7️⃣ Buttons &amp; Interactive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&lt;button&gt;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&lt;details&gt;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&lt;summary&gt;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&lt;dialog&gt;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66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F909F9-5CB7-2783-2997-3BCB6A277F55}"/>
              </a:ext>
            </a:extLst>
          </p:cNvPr>
          <p:cNvSpPr/>
          <p:nvPr/>
        </p:nvSpPr>
        <p:spPr>
          <a:xfrm>
            <a:off x="277905" y="1582340"/>
            <a:ext cx="10214595" cy="339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Text Styling </a:t>
            </a:r>
          </a:p>
          <a:p>
            <a:endParaRPr lang="en-US" dirty="0"/>
          </a:p>
          <a:p>
            <a:r>
              <a:rPr lang="en-US" dirty="0"/>
              <a:t>Text Spacing </a:t>
            </a:r>
          </a:p>
          <a:p>
            <a:endParaRPr lang="en-US" dirty="0"/>
          </a:p>
          <a:p>
            <a:r>
              <a:rPr lang="en-US" dirty="0"/>
              <a:t>Text Size </a:t>
            </a:r>
          </a:p>
          <a:p>
            <a:endParaRPr lang="en-US" dirty="0"/>
          </a:p>
          <a:p>
            <a:r>
              <a:rPr lang="en-US" dirty="0"/>
              <a:t>Font </a:t>
            </a:r>
          </a:p>
          <a:p>
            <a:endParaRPr lang="en-US" dirty="0"/>
          </a:p>
          <a:p>
            <a:r>
              <a:rPr lang="en-US" dirty="0"/>
              <a:t>Color</a:t>
            </a:r>
          </a:p>
          <a:p>
            <a:endParaRPr lang="en-US" dirty="0"/>
          </a:p>
          <a:p>
            <a:endParaRPr lang="en-IN" sz="1634" dirty="0"/>
          </a:p>
        </p:txBody>
      </p:sp>
    </p:spTree>
    <p:extLst>
      <p:ext uri="{BB962C8B-B14F-4D97-AF65-F5344CB8AC3E}">
        <p14:creationId xmlns:p14="http://schemas.microsoft.com/office/powerpoint/2010/main" val="339291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0224F8-0107-D2EE-F02D-B6A40C4D8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1" y="1120606"/>
            <a:ext cx="1049518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webpage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sections or blocks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—just like we divide a notebook into chapters.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0ADC6F-E1ED-3B3D-A78E-68F06B005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1" y="2614591"/>
            <a:ext cx="1158522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 we need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To Group Related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have a heading, paragraph, and image that belong to one topic, you keep them together inside one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DEA80-D771-D506-86EF-72FC71CE7298}"/>
              </a:ext>
            </a:extLst>
          </p:cNvPr>
          <p:cNvSpPr txBox="1"/>
          <p:nvPr/>
        </p:nvSpPr>
        <p:spPr>
          <a:xfrm>
            <a:off x="593912" y="4939572"/>
            <a:ext cx="6243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&lt;div&gt;</a:t>
            </a:r>
          </a:p>
          <a:p>
            <a:r>
              <a:rPr lang="en-IN" dirty="0"/>
              <a:t>  &lt;h2&gt;About Me&lt;/h2&gt;</a:t>
            </a:r>
          </a:p>
          <a:p>
            <a:r>
              <a:rPr lang="en-IN" dirty="0"/>
              <a:t>  &lt;p&gt;I am learning web development.&lt;/p&gt;</a:t>
            </a:r>
          </a:p>
          <a:p>
            <a:r>
              <a:rPr lang="en-IN" dirty="0"/>
              <a:t>&lt;/div&gt;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6FDFD-D5A1-65DD-CD5D-59A0CEC15462}"/>
              </a:ext>
            </a:extLst>
          </p:cNvPr>
          <p:cNvSpPr txBox="1"/>
          <p:nvPr/>
        </p:nvSpPr>
        <p:spPr>
          <a:xfrm>
            <a:off x="2548218" y="6488668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This keeps things </a:t>
            </a:r>
            <a:r>
              <a:rPr lang="en-IN" b="1" dirty="0">
                <a:highlight>
                  <a:srgbClr val="FFFF00"/>
                </a:highlight>
              </a:rPr>
              <a:t>organized</a:t>
            </a:r>
            <a:r>
              <a:rPr lang="en-IN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95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D1AC1-1052-1E53-21E1-3E2B00921E02}"/>
              </a:ext>
            </a:extLst>
          </p:cNvPr>
          <p:cNvSpPr txBox="1"/>
          <p:nvPr/>
        </p:nvSpPr>
        <p:spPr>
          <a:xfrm>
            <a:off x="73959" y="1204863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2) To Make Designing Easier (CSS Styling)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E8C0A0-20ED-C274-81ED-67644BFF0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59" y="1726486"/>
            <a:ext cx="11113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allows you to apply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color, background, border, spacing, etc.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whole section at once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AF882-A9C2-895C-B638-BD36FA0D9535}"/>
              </a:ext>
            </a:extLst>
          </p:cNvPr>
          <p:cNvSpPr txBox="1"/>
          <p:nvPr/>
        </p:nvSpPr>
        <p:spPr>
          <a:xfrm>
            <a:off x="423583" y="2248109"/>
            <a:ext cx="6243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style="background-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lightyellow</a:t>
            </a:r>
            <a:r>
              <a:rPr lang="en-IN" dirty="0"/>
              <a:t>; padding: 10px;"&gt;</a:t>
            </a:r>
          </a:p>
          <a:p>
            <a:r>
              <a:rPr lang="en-IN" dirty="0"/>
              <a:t>  &lt;h2&gt;My Skills&lt;/h2&gt;</a:t>
            </a:r>
          </a:p>
          <a:p>
            <a:r>
              <a:rPr lang="en-IN" dirty="0"/>
              <a:t>  &lt;p&gt;HTML, CSS, JavaScript&lt;/p&gt;</a:t>
            </a:r>
          </a:p>
          <a:p>
            <a:r>
              <a:rPr lang="en-IN" dirty="0"/>
              <a:t>&lt;/div&gt;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1EC2A-2CC3-B0DD-0E6D-C49D5C2FC8DC}"/>
              </a:ext>
            </a:extLst>
          </p:cNvPr>
          <p:cNvSpPr txBox="1"/>
          <p:nvPr/>
        </p:nvSpPr>
        <p:spPr>
          <a:xfrm>
            <a:off x="163606" y="3982614"/>
            <a:ext cx="34850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3) To Arrange Layout</a:t>
            </a:r>
          </a:p>
          <a:p>
            <a:endParaRPr lang="en-US" b="1" dirty="0"/>
          </a:p>
          <a:p>
            <a:r>
              <a:rPr lang="en-US" dirty="0"/>
              <a:t>Websites have parts like: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Sidebar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Footer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80CA9-160E-3802-1F72-96BD07A494B9}"/>
              </a:ext>
            </a:extLst>
          </p:cNvPr>
          <p:cNvSpPr txBox="1"/>
          <p:nvPr/>
        </p:nvSpPr>
        <p:spPr>
          <a:xfrm>
            <a:off x="4780430" y="3797948"/>
            <a:ext cx="4112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section is usually made using a </a:t>
            </a:r>
            <a:r>
              <a:rPr lang="en-US" b="1" dirty="0"/>
              <a:t>div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DFEE4D-833F-4EB3-6E9C-381442BBABCE}"/>
              </a:ext>
            </a:extLst>
          </p:cNvPr>
          <p:cNvSpPr txBox="1"/>
          <p:nvPr/>
        </p:nvSpPr>
        <p:spPr>
          <a:xfrm>
            <a:off x="4780430" y="4984848"/>
            <a:ext cx="25616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| Header (div)   |</a:t>
            </a:r>
          </a:p>
          <a:p>
            <a:r>
              <a:rPr lang="en-IN" dirty="0"/>
              <a:t>| Menu (div)     |</a:t>
            </a:r>
          </a:p>
          <a:p>
            <a:r>
              <a:rPr lang="en-IN" dirty="0"/>
              <a:t>| Content (div)  |</a:t>
            </a:r>
          </a:p>
          <a:p>
            <a:r>
              <a:rPr lang="en-IN" dirty="0"/>
              <a:t>| Footer (div)   |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6781A-1497-EDD7-E09A-29B657353CC6}"/>
              </a:ext>
            </a:extLst>
          </p:cNvPr>
          <p:cNvSpPr txBox="1"/>
          <p:nvPr/>
        </p:nvSpPr>
        <p:spPr>
          <a:xfrm>
            <a:off x="6936509" y="6114473"/>
            <a:ext cx="4475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makes the page </a:t>
            </a:r>
            <a:r>
              <a:rPr lang="en-US" b="1" dirty="0"/>
              <a:t>structured and clean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88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ED54DD-3B3D-B601-A446-26142A97B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18" y="1504783"/>
            <a:ext cx="85523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To Make Responsive Webpages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modern web design,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helps us: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Arrange elements in rows and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layouts for mobile and desktop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frameworks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96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83531-2577-FEE3-60D4-9256931E9877}"/>
              </a:ext>
            </a:extLst>
          </p:cNvPr>
          <p:cNvSpPr txBox="1"/>
          <p:nvPr/>
        </p:nvSpPr>
        <p:spPr>
          <a:xfrm>
            <a:off x="251012" y="1380566"/>
            <a:ext cx="88190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style="background-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lightblue</a:t>
            </a:r>
            <a:r>
              <a:rPr lang="en-IN" dirty="0"/>
              <a:t>; padding: 20px;"&gt;</a:t>
            </a:r>
          </a:p>
          <a:p>
            <a:r>
              <a:rPr lang="en-IN" dirty="0"/>
              <a:t>  &lt;h1&gt;Header Section&lt;/h1&gt;</a:t>
            </a:r>
          </a:p>
          <a:p>
            <a:r>
              <a:rPr lang="en-IN" dirty="0"/>
              <a:t>&lt;/div&gt;</a:t>
            </a:r>
          </a:p>
          <a:p>
            <a:endParaRPr lang="en-IN" dirty="0"/>
          </a:p>
          <a:p>
            <a:r>
              <a:rPr lang="en-IN" dirty="0"/>
              <a:t>&lt;div style="background-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lightgreen</a:t>
            </a:r>
            <a:r>
              <a:rPr lang="en-IN" dirty="0"/>
              <a:t>; padding: 20px;"&gt;</a:t>
            </a:r>
          </a:p>
          <a:p>
            <a:r>
              <a:rPr lang="en-IN" dirty="0"/>
              <a:t>  &lt;p&gt;Main Content Goes Here&lt;/p&gt;</a:t>
            </a:r>
          </a:p>
          <a:p>
            <a:r>
              <a:rPr lang="en-IN" dirty="0"/>
              <a:t>&lt;/div&gt;</a:t>
            </a:r>
          </a:p>
          <a:p>
            <a:endParaRPr lang="en-IN" dirty="0"/>
          </a:p>
          <a:p>
            <a:r>
              <a:rPr lang="en-IN" dirty="0"/>
              <a:t>&lt;div style="background-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lightgray</a:t>
            </a:r>
            <a:r>
              <a:rPr lang="en-IN" dirty="0"/>
              <a:t>; padding: 20px;"&gt;</a:t>
            </a:r>
          </a:p>
          <a:p>
            <a:r>
              <a:rPr lang="en-IN" dirty="0"/>
              <a:t>  &lt;p&gt;Footer Section&lt;/p&gt;</a:t>
            </a:r>
          </a:p>
          <a:p>
            <a:r>
              <a:rPr lang="en-IN" dirty="0"/>
              <a:t>&lt;/div&gt;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C29107F-E296-C2C5-A1E3-5B10BABC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12" y="4561619"/>
            <a:ext cx="574548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related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 the webpage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CSS styling to sections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modern layouts and responsive websites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07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D2B91E-512A-0E13-754A-105E6BCFC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53" y="1238055"/>
            <a:ext cx="117246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inline container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 or style a specific part of 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breaking the 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like a highlighter pen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highlight 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the whole page.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6E05A-B931-ABE4-3AB0-AD586EA6C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53" y="2803790"/>
            <a:ext cx="57759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Why Do We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Style Part of a Sentence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want to color or bold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one 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73781-47E4-8CBA-FC94-CF3E938191D1}"/>
              </a:ext>
            </a:extLst>
          </p:cNvPr>
          <p:cNvSpPr txBox="1"/>
          <p:nvPr/>
        </p:nvSpPr>
        <p:spPr>
          <a:xfrm>
            <a:off x="1140759" y="4463987"/>
            <a:ext cx="802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&lt;p&gt;My </a:t>
            </a:r>
            <a:r>
              <a:rPr lang="en-IN" dirty="0" err="1"/>
              <a:t>favorite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 is &lt;span style="</a:t>
            </a:r>
            <a:r>
              <a:rPr lang="en-IN" dirty="0" err="1"/>
              <a:t>color</a:t>
            </a:r>
            <a:r>
              <a:rPr lang="en-IN" dirty="0"/>
              <a:t>: blue;"&gt;blue&lt;/span&gt;.&lt;/p&gt;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89A31-F7B6-EFCD-AACF-646291BBEEDA}"/>
              </a:ext>
            </a:extLst>
          </p:cNvPr>
          <p:cNvSpPr txBox="1"/>
          <p:nvPr/>
        </p:nvSpPr>
        <p:spPr>
          <a:xfrm>
            <a:off x="6223747" y="5016188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Only the word </a:t>
            </a:r>
            <a:r>
              <a:rPr lang="en-US" b="1" dirty="0">
                <a:highlight>
                  <a:srgbClr val="FFFF00"/>
                </a:highlight>
              </a:rPr>
              <a:t>blue</a:t>
            </a:r>
            <a:r>
              <a:rPr lang="en-US" dirty="0">
                <a:highlight>
                  <a:srgbClr val="FFFF00"/>
                </a:highlight>
              </a:rPr>
              <a:t> will appear in blue color.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0030AD9-F3D1-4FA4-3D35-7A94EC0A4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66" y="5619945"/>
            <a:ext cx="516038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It Stays in the Same Line (Inline Element)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start a new 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1F590-7D85-D5C0-2D30-E43FEBB55976}"/>
              </a:ext>
            </a:extLst>
          </p:cNvPr>
          <p:cNvSpPr txBox="1"/>
          <p:nvPr/>
        </p:nvSpPr>
        <p:spPr>
          <a:xfrm>
            <a:off x="5393153" y="6479433"/>
            <a:ext cx="6382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&lt;span&gt;This&lt;/span&gt; &lt;span&gt;stays&lt;/span&gt; &lt;span&gt;inline&lt;/span&gt;</a:t>
            </a:r>
          </a:p>
        </p:txBody>
      </p:sp>
    </p:spTree>
    <p:extLst>
      <p:ext uri="{BB962C8B-B14F-4D97-AF65-F5344CB8AC3E}">
        <p14:creationId xmlns:p14="http://schemas.microsoft.com/office/powerpoint/2010/main" val="37300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DC546-120B-048F-44B5-0384373C6639}"/>
              </a:ext>
            </a:extLst>
          </p:cNvPr>
          <p:cNvSpPr txBox="1"/>
          <p:nvPr/>
        </p:nvSpPr>
        <p:spPr>
          <a:xfrm>
            <a:off x="152400" y="1201271"/>
            <a:ext cx="8917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3) Useful for Highlighting, Coloring, Bold, Font Size</a:t>
            </a:r>
          </a:p>
          <a:p>
            <a:endParaRPr lang="en-US" dirty="0"/>
          </a:p>
          <a:p>
            <a:r>
              <a:rPr lang="en-US" dirty="0"/>
              <a:t>You can change style using CSS.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CA546-DD16-BD2A-398E-92663F93B321}"/>
              </a:ext>
            </a:extLst>
          </p:cNvPr>
          <p:cNvSpPr txBox="1"/>
          <p:nvPr/>
        </p:nvSpPr>
        <p:spPr>
          <a:xfrm>
            <a:off x="233082" y="2356520"/>
            <a:ext cx="8836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&lt;p&gt;Welcome to &lt;span style="font-weight: bold;"&gt;Masai&lt;/span&gt; Academy!&lt;/p&gt;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FB397C7-D236-D448-BE5E-6DE10A799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159676"/>
            <a:ext cx="76729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Helps Apply CSS Classes to Small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you want to use CSS from a stylesheet: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&lt;style&gt;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.highlight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background-color: yellow;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&lt;/style&gt;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&lt;p&gt;We teach &lt;span class="highlight"&gt;real skills&lt;/span&gt; for success.&lt;/p&gt;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08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6C781C-5E78-4C27-9E0F-0B6187BD2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157798"/>
              </p:ext>
            </p:extLst>
          </p:nvPr>
        </p:nvGraphicFramePr>
        <p:xfrm>
          <a:off x="235043" y="1337216"/>
          <a:ext cx="9720261" cy="109728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2654129040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723567982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71216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409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&lt;div&gt;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Big areas / Blocks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Starts on new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19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&lt;span&gt;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Small text / Short words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Stays in same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56195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51F2DD2-5211-FE84-01E0-593BBAE3F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43" y="3079395"/>
            <a:ext cx="42167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 = BOX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(big container)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SPAN = HIGHLIGHTER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(small styling)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92E9FE5-DD62-1D78-CFF5-03D9B8C29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13308"/>
            <a:ext cx="110574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We use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when we want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style or highlight only a small part of the 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without breaking the 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is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inline element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, meaning it stays in the same line.</a:t>
            </a:r>
          </a:p>
        </p:txBody>
      </p:sp>
    </p:spTree>
    <p:extLst>
      <p:ext uri="{BB962C8B-B14F-4D97-AF65-F5344CB8AC3E}">
        <p14:creationId xmlns:p14="http://schemas.microsoft.com/office/powerpoint/2010/main" val="251316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F0422BA-1D63-9546-E40D-94641BA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0C2EE18D-098D-C452-94B2-249F5F6A7039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DIV and SPAN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C78711-7088-01DA-EB59-AC142AFEED90}"/>
              </a:ext>
            </a:extLst>
          </p:cNvPr>
          <p:cNvSpPr txBox="1"/>
          <p:nvPr/>
        </p:nvSpPr>
        <p:spPr>
          <a:xfrm>
            <a:off x="267854" y="1228681"/>
            <a:ext cx="624378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Block-Level Elements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/>
              <a:t>start on a new line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/>
              <a:t>take full width</a:t>
            </a:r>
            <a:r>
              <a:rPr lang="en-US" dirty="0"/>
              <a:t> available (stretch from left to right).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Height is determined by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</a:t>
            </a:r>
            <a:r>
              <a:rPr lang="en-US" b="1" dirty="0"/>
              <a:t>set width, height, margin, padding</a:t>
            </a:r>
            <a:r>
              <a:rPr lang="en-US" dirty="0"/>
              <a:t> easily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77F45-543F-0C90-6728-EEE165BB4146}"/>
              </a:ext>
            </a:extLst>
          </p:cNvPr>
          <p:cNvSpPr txBox="1"/>
          <p:nvPr/>
        </p:nvSpPr>
        <p:spPr>
          <a:xfrm>
            <a:off x="7398327" y="1321014"/>
            <a:ext cx="30757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div</a:t>
            </a:r>
          </a:p>
          <a:p>
            <a:r>
              <a:rPr lang="en-IN" b="1" dirty="0"/>
              <a:t>p</a:t>
            </a:r>
          </a:p>
          <a:p>
            <a:r>
              <a:rPr lang="en-IN" b="1" dirty="0"/>
              <a:t>h1, h2, h3...</a:t>
            </a:r>
          </a:p>
          <a:p>
            <a:r>
              <a:rPr lang="en-IN" b="1" dirty="0" err="1"/>
              <a:t>ul</a:t>
            </a:r>
            <a:r>
              <a:rPr lang="en-IN" b="1" dirty="0"/>
              <a:t>, </a:t>
            </a:r>
            <a:r>
              <a:rPr lang="en-IN" b="1" dirty="0" err="1"/>
              <a:t>ol</a:t>
            </a:r>
            <a:r>
              <a:rPr lang="en-IN" b="1" dirty="0"/>
              <a:t>, li</a:t>
            </a:r>
          </a:p>
          <a:p>
            <a:r>
              <a:rPr lang="en-IN" b="1" dirty="0"/>
              <a:t>section</a:t>
            </a:r>
          </a:p>
          <a:p>
            <a:r>
              <a:rPr lang="en-IN" b="1" dirty="0"/>
              <a:t>header, footer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10BBA-A3A6-10C3-A35C-3F8201E31972}"/>
              </a:ext>
            </a:extLst>
          </p:cNvPr>
          <p:cNvSpPr txBox="1"/>
          <p:nvPr/>
        </p:nvSpPr>
        <p:spPr>
          <a:xfrm>
            <a:off x="267854" y="4055009"/>
            <a:ext cx="624378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Inline Elements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/>
              <a:t>do NOT start on a new line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/>
              <a:t>only take space equal to their content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</a:t>
            </a:r>
            <a:r>
              <a:rPr lang="en-US" b="1" dirty="0"/>
              <a:t>CANNOT set width/height</a:t>
            </a:r>
            <a:r>
              <a:rPr lang="en-US" dirty="0"/>
              <a:t> (only padding left/right works normally).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33651A-3F18-5628-7F5D-220B547706FB}"/>
              </a:ext>
            </a:extLst>
          </p:cNvPr>
          <p:cNvSpPr txBox="1"/>
          <p:nvPr/>
        </p:nvSpPr>
        <p:spPr>
          <a:xfrm>
            <a:off x="7305964" y="3870282"/>
            <a:ext cx="29925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span</a:t>
            </a:r>
          </a:p>
          <a:p>
            <a:r>
              <a:rPr lang="en-IN" b="1" dirty="0"/>
              <a:t>a</a:t>
            </a:r>
          </a:p>
          <a:p>
            <a:r>
              <a:rPr lang="en-IN" b="1" dirty="0"/>
              <a:t>strong, </a:t>
            </a:r>
            <a:r>
              <a:rPr lang="en-IN" b="1" dirty="0" err="1"/>
              <a:t>em</a:t>
            </a:r>
            <a:endParaRPr lang="en-IN" b="1" dirty="0"/>
          </a:p>
          <a:p>
            <a:r>
              <a:rPr lang="en-IN" b="1" dirty="0" err="1"/>
              <a:t>img</a:t>
            </a:r>
            <a:r>
              <a:rPr lang="en-IN" b="1" dirty="0"/>
              <a:t> (special: inline but width/height can be changed)</a:t>
            </a:r>
          </a:p>
          <a:p>
            <a:r>
              <a:rPr lang="en-IN" b="1" dirty="0"/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109468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b="1" dirty="0">
                <a:latin typeface="Lato" panose="020F0502020204030203" pitchFamily="34" charset="0"/>
              </a:rPr>
              <a:t>Selectors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61EBA-0D53-4D24-9B4A-F8098AB50E74}"/>
              </a:ext>
            </a:extLst>
          </p:cNvPr>
          <p:cNvSpPr txBox="1"/>
          <p:nvPr/>
        </p:nvSpPr>
        <p:spPr>
          <a:xfrm>
            <a:off x="251012" y="1192306"/>
            <a:ext cx="881902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 Selector in CSS?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Selector</a:t>
            </a:r>
            <a:r>
              <a:rPr lang="en-US" dirty="0"/>
              <a:t> in CSS tells the browser </a:t>
            </a:r>
            <a:r>
              <a:rPr lang="en-US" b="1" dirty="0"/>
              <a:t>which part of the HTML page you want to style</a:t>
            </a:r>
            <a:r>
              <a:rPr lang="en-US" dirty="0"/>
              <a:t>.</a:t>
            </a:r>
          </a:p>
          <a:p>
            <a:r>
              <a:rPr lang="en-US" dirty="0"/>
              <a:t>Think of it like this:</a:t>
            </a:r>
            <a:br>
              <a:rPr lang="en-US" dirty="0"/>
            </a:br>
            <a:r>
              <a:rPr lang="en-US" dirty="0"/>
              <a:t>➡️ You write HTML to </a:t>
            </a:r>
            <a:r>
              <a:rPr lang="en-US" i="1" dirty="0"/>
              <a:t>create content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➡️ You write CSS selectors to </a:t>
            </a:r>
            <a:r>
              <a:rPr lang="en-US" i="1" dirty="0"/>
              <a:t>select</a:t>
            </a:r>
            <a:r>
              <a:rPr lang="en-US" dirty="0"/>
              <a:t> that content and </a:t>
            </a:r>
            <a:r>
              <a:rPr lang="en-US" i="1" dirty="0"/>
              <a:t>style</a:t>
            </a:r>
            <a:r>
              <a:rPr lang="en-US" dirty="0"/>
              <a:t>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0FEC3-A20E-4031-A4EA-A329C43C80F8}"/>
              </a:ext>
            </a:extLst>
          </p:cNvPr>
          <p:cNvSpPr txBox="1"/>
          <p:nvPr/>
        </p:nvSpPr>
        <p:spPr>
          <a:xfrm>
            <a:off x="251012" y="3059668"/>
            <a:ext cx="6243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&lt;p&gt;Hello, this is a paragraph.&lt;/p&gt;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321B89-48FB-4D0B-BA6B-750662CF18CF}"/>
              </a:ext>
            </a:extLst>
          </p:cNvPr>
          <p:cNvSpPr txBox="1"/>
          <p:nvPr/>
        </p:nvSpPr>
        <p:spPr>
          <a:xfrm>
            <a:off x="333936" y="3953907"/>
            <a:ext cx="6243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blue;</a:t>
            </a:r>
          </a:p>
          <a:p>
            <a:r>
              <a:rPr lang="en-IN" dirty="0"/>
              <a:t>  font-size: 18px;</a:t>
            </a:r>
          </a:p>
          <a:p>
            <a:r>
              <a:rPr lang="en-IN" dirty="0"/>
              <a:t>}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B447DAB-E935-4385-936C-57001622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42" y="4955306"/>
            <a:ext cx="612058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(it selects all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elements).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{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are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properties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change the look.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90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b="1" dirty="0">
                <a:latin typeface="Lato" panose="020F0502020204030203" pitchFamily="34" charset="0"/>
              </a:rPr>
              <a:t>Selectors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E55D4-7583-4D95-B153-AACF8D5AFCFC}"/>
              </a:ext>
            </a:extLst>
          </p:cNvPr>
          <p:cNvSpPr txBox="1"/>
          <p:nvPr/>
        </p:nvSpPr>
        <p:spPr>
          <a:xfrm>
            <a:off x="80682" y="1052572"/>
            <a:ext cx="8989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CSS Selectors</a:t>
            </a:r>
          </a:p>
          <a:p>
            <a:r>
              <a:rPr lang="en-US" dirty="0"/>
              <a:t>There are many kinds of selectors. Let’s learn them step-by-step.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D8412B-6DD0-4B59-8132-B7AFB5CD0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2" y="1775030"/>
            <a:ext cx="382668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Universal Selector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*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selects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elements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page.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2C1E9-A16C-42AC-A446-200D37A15572}"/>
              </a:ext>
            </a:extLst>
          </p:cNvPr>
          <p:cNvSpPr txBox="1"/>
          <p:nvPr/>
        </p:nvSpPr>
        <p:spPr>
          <a:xfrm>
            <a:off x="333935" y="3039506"/>
            <a:ext cx="6243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* {</a:t>
            </a:r>
          </a:p>
          <a:p>
            <a:r>
              <a:rPr lang="en-IN" dirty="0"/>
              <a:t>  margin: 0;</a:t>
            </a:r>
          </a:p>
          <a:p>
            <a:r>
              <a:rPr lang="en-IN" dirty="0"/>
              <a:t>  padding: 0;</a:t>
            </a:r>
          </a:p>
          <a:p>
            <a:r>
              <a:rPr lang="en-IN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14C6E-B1C9-418E-8A71-28E7245738A8}"/>
              </a:ext>
            </a:extLst>
          </p:cNvPr>
          <p:cNvSpPr txBox="1"/>
          <p:nvPr/>
        </p:nvSpPr>
        <p:spPr>
          <a:xfrm>
            <a:off x="145677" y="4580981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Used to remove extra space from every element.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B3F8F1E-58E0-4C14-A02C-BDAC8923F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77" y="5115365"/>
            <a:ext cx="5952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 Selector (Tag Selector)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selects a specific HTML tag 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etc.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4C518-F2F3-41E7-A1BB-57463A521728}"/>
              </a:ext>
            </a:extLst>
          </p:cNvPr>
          <p:cNvSpPr txBox="1"/>
          <p:nvPr/>
        </p:nvSpPr>
        <p:spPr>
          <a:xfrm>
            <a:off x="6577851" y="3969042"/>
            <a:ext cx="23958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h1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green;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p {</a:t>
            </a:r>
          </a:p>
          <a:p>
            <a:r>
              <a:rPr lang="en-IN" dirty="0"/>
              <a:t>  font-size: 16px;</a:t>
            </a:r>
          </a:p>
          <a:p>
            <a:r>
              <a:rPr lang="en-IN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A7DB3E-8A35-4FEF-970D-C768F5519E89}"/>
              </a:ext>
            </a:extLst>
          </p:cNvPr>
          <p:cNvSpPr txBox="1"/>
          <p:nvPr/>
        </p:nvSpPr>
        <p:spPr>
          <a:xfrm>
            <a:off x="5528983" y="6185936"/>
            <a:ext cx="655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Every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&lt;h1&gt;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becomes green, every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&lt;p&gt;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becomes 16px.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31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b="1" dirty="0">
                <a:latin typeface="Lato" panose="020F0502020204030203" pitchFamily="34" charset="0"/>
              </a:rPr>
              <a:t>Selectors</a:t>
            </a:r>
            <a:r>
              <a:rPr lang="en-IN" sz="4800" dirty="0"/>
              <a:t> 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8BB476-7FB4-41BB-80A2-720988350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76" y="1102677"/>
            <a:ext cx="631454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Selector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classname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style one or more elements having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A31C2-6C57-4FBF-A68D-24CEA8E5DA5A}"/>
              </a:ext>
            </a:extLst>
          </p:cNvPr>
          <p:cNvSpPr txBox="1"/>
          <p:nvPr/>
        </p:nvSpPr>
        <p:spPr>
          <a:xfrm>
            <a:off x="1535206" y="2517008"/>
            <a:ext cx="6243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&lt;p class="highlight"&gt;This is highlighted text.&lt;/p&gt;</a:t>
            </a:r>
          </a:p>
          <a:p>
            <a:r>
              <a:rPr lang="en-IN" dirty="0"/>
              <a:t>&lt;p class="highlight"&gt;This is also highlighted.&lt;/p&gt;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1E5FA-A666-4F63-8EBA-FF4C05D3A8EE}"/>
              </a:ext>
            </a:extLst>
          </p:cNvPr>
          <p:cNvSpPr txBox="1"/>
          <p:nvPr/>
        </p:nvSpPr>
        <p:spPr>
          <a:xfrm>
            <a:off x="1535206" y="3813609"/>
            <a:ext cx="6243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.highlight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red;</a:t>
            </a:r>
          </a:p>
          <a:p>
            <a:r>
              <a:rPr lang="en-IN" dirty="0"/>
              <a:t>  background-</a:t>
            </a:r>
            <a:r>
              <a:rPr lang="en-IN" dirty="0" err="1"/>
              <a:t>color</a:t>
            </a:r>
            <a:r>
              <a:rPr lang="en-IN" dirty="0"/>
              <a:t>: yellow;</a:t>
            </a:r>
          </a:p>
          <a:p>
            <a:r>
              <a:rPr lang="en-IN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CEF34-3EE9-40DB-8F97-E63DDFA9922E}"/>
              </a:ext>
            </a:extLst>
          </p:cNvPr>
          <p:cNvSpPr txBox="1"/>
          <p:nvPr/>
        </p:nvSpPr>
        <p:spPr>
          <a:xfrm>
            <a:off x="5685865" y="5319662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dot (.) before name shows it’s a class.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36520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b="1" dirty="0">
                <a:latin typeface="Lato" panose="020F0502020204030203" pitchFamily="34" charset="0"/>
              </a:rPr>
              <a:t>Selectors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ADF940-8D9A-4571-951C-CA8DC8393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2" y="1066818"/>
            <a:ext cx="562205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 Selector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#idname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style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element that has a specific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2CF85-B295-40E9-9C44-B4C9FDA76E11}"/>
              </a:ext>
            </a:extLst>
          </p:cNvPr>
          <p:cNvSpPr txBox="1"/>
          <p:nvPr/>
        </p:nvSpPr>
        <p:spPr>
          <a:xfrm>
            <a:off x="1651747" y="2226839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&lt;h1 id="</a:t>
            </a:r>
            <a:r>
              <a:rPr lang="en-IN" dirty="0" err="1"/>
              <a:t>mainTitle</a:t>
            </a:r>
            <a:r>
              <a:rPr lang="en-IN" dirty="0"/>
              <a:t>"&gt;Welcome to Masai&lt;/h1&gt;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8C145-D0B4-4F27-A4DB-99EB4FAE7F02}"/>
              </a:ext>
            </a:extLst>
          </p:cNvPr>
          <p:cNvSpPr txBox="1"/>
          <p:nvPr/>
        </p:nvSpPr>
        <p:spPr>
          <a:xfrm>
            <a:off x="1651747" y="3061501"/>
            <a:ext cx="6243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#mainTitle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blue;</a:t>
            </a:r>
          </a:p>
          <a:p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AD3027-313A-4654-97E8-0E2E8EB5779F}"/>
              </a:ext>
            </a:extLst>
          </p:cNvPr>
          <p:cNvSpPr txBox="1"/>
          <p:nvPr/>
        </p:nvSpPr>
        <p:spPr>
          <a:xfrm>
            <a:off x="550069" y="4727160"/>
            <a:ext cx="6243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hash (#) means ID selector. IDs must be unique.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116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b="1" dirty="0">
                <a:latin typeface="Lato" panose="020F0502020204030203" pitchFamily="34" charset="0"/>
              </a:rPr>
              <a:t>Selectors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E09C444-A4AA-4054-8DAC-97476C889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358384"/>
            <a:ext cx="21900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Selector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,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FD802C7-AE80-4280-960E-4DA309103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1953310"/>
            <a:ext cx="84201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when you want to apply the same style to many elements.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DBDF0-9B11-40B7-83F7-62F5C258EF68}"/>
              </a:ext>
            </a:extLst>
          </p:cNvPr>
          <p:cNvSpPr txBox="1"/>
          <p:nvPr/>
        </p:nvSpPr>
        <p:spPr>
          <a:xfrm>
            <a:off x="521494" y="2825235"/>
            <a:ext cx="6243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h1, h2, h3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purple;</a:t>
            </a:r>
          </a:p>
          <a:p>
            <a:r>
              <a:rPr lang="en-IN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2CCE9-9114-474C-9E59-B21F9C7B5BBA}"/>
              </a:ext>
            </a:extLst>
          </p:cNvPr>
          <p:cNvSpPr txBox="1"/>
          <p:nvPr/>
        </p:nvSpPr>
        <p:spPr>
          <a:xfrm>
            <a:off x="507206" y="4334946"/>
            <a:ext cx="6243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All headings (h1, h2, h3) will be purple.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BB244-DF82-4666-9506-768609D7D451}"/>
              </a:ext>
            </a:extLst>
          </p:cNvPr>
          <p:cNvSpPr txBox="1"/>
          <p:nvPr/>
        </p:nvSpPr>
        <p:spPr>
          <a:xfrm>
            <a:off x="521494" y="4967493"/>
            <a:ext cx="6243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Attribute Selector</a:t>
            </a:r>
          </a:p>
          <a:p>
            <a:endParaRPr lang="en-US" b="1" dirty="0"/>
          </a:p>
          <a:p>
            <a:r>
              <a:rPr lang="en-US" dirty="0"/>
              <a:t>Used to style elements that have a specific attribute.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547E6-A1D9-44F3-A0A4-47FF820328C9}"/>
              </a:ext>
            </a:extLst>
          </p:cNvPr>
          <p:cNvSpPr txBox="1"/>
          <p:nvPr/>
        </p:nvSpPr>
        <p:spPr>
          <a:xfrm>
            <a:off x="507206" y="5877039"/>
            <a:ext cx="6243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&lt;a </a:t>
            </a:r>
            <a:r>
              <a:rPr lang="en-IN" dirty="0" err="1"/>
              <a:t>href</a:t>
            </a:r>
            <a:r>
              <a:rPr lang="en-IN" dirty="0"/>
              <a:t>="https://masai.in"&gt;Masai&lt;/a&gt;</a:t>
            </a:r>
          </a:p>
          <a:p>
            <a:r>
              <a:rPr lang="en-IN" dirty="0"/>
              <a:t>&lt;a </a:t>
            </a:r>
            <a:r>
              <a:rPr lang="en-IN" dirty="0" err="1"/>
              <a:t>href</a:t>
            </a:r>
            <a:r>
              <a:rPr lang="en-IN" dirty="0"/>
              <a:t>="https://google.com"&gt;Google&lt;/a&gt;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B1602A-1FE3-43D4-B9F1-1C697EE7AD02}"/>
              </a:ext>
            </a:extLst>
          </p:cNvPr>
          <p:cNvSpPr txBox="1"/>
          <p:nvPr/>
        </p:nvSpPr>
        <p:spPr>
          <a:xfrm>
            <a:off x="8103394" y="1531679"/>
            <a:ext cx="25360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a[</a:t>
            </a:r>
            <a:r>
              <a:rPr lang="en-IN" dirty="0" err="1"/>
              <a:t>href</a:t>
            </a:r>
            <a:r>
              <a:rPr lang="en-IN" dirty="0"/>
              <a:t>]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orange;</a:t>
            </a:r>
          </a:p>
          <a:p>
            <a:r>
              <a:rPr lang="en-IN" dirty="0"/>
              <a:t>}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494D6050-1EC6-4623-96FB-29782A856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50" y="3485977"/>
            <a:ext cx="50077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Selects all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&lt;a&gt;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tags that have the “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href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” attribute.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617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b="1" dirty="0">
                <a:latin typeface="Lato" panose="020F0502020204030203" pitchFamily="34" charset="0"/>
              </a:rPr>
              <a:t>Selectors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1F00D-E8CB-4C0F-BA69-D058BA4D98C1}"/>
              </a:ext>
            </a:extLst>
          </p:cNvPr>
          <p:cNvSpPr txBox="1"/>
          <p:nvPr/>
        </p:nvSpPr>
        <p:spPr>
          <a:xfrm>
            <a:off x="142875" y="1238250"/>
            <a:ext cx="89273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Pseudo-Class Selector</a:t>
            </a:r>
          </a:p>
          <a:p>
            <a:endParaRPr lang="en-US" b="1" dirty="0"/>
          </a:p>
          <a:p>
            <a:r>
              <a:rPr lang="en-US" dirty="0"/>
              <a:t>Used for </a:t>
            </a:r>
            <a:r>
              <a:rPr lang="en-US" b="1" dirty="0"/>
              <a:t>special states</a:t>
            </a:r>
            <a:r>
              <a:rPr lang="en-US" dirty="0"/>
              <a:t> of an element like hover, focus, or first child.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8D38E6-DD43-44C3-8B85-C2DE860249D4}"/>
              </a:ext>
            </a:extLst>
          </p:cNvPr>
          <p:cNvSpPr txBox="1"/>
          <p:nvPr/>
        </p:nvSpPr>
        <p:spPr>
          <a:xfrm>
            <a:off x="1259840" y="2276474"/>
            <a:ext cx="4262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a:hover</a:t>
            </a:r>
          </a:p>
          <a:p>
            <a:r>
              <a:rPr lang="en-IN" dirty="0"/>
              <a:t>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red;</a:t>
            </a:r>
          </a:p>
          <a:p>
            <a:r>
              <a:rPr lang="en-IN" dirty="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D0678-7E1A-48F9-B65E-D9197A8B9E84}"/>
              </a:ext>
            </a:extLst>
          </p:cNvPr>
          <p:cNvSpPr txBox="1"/>
          <p:nvPr/>
        </p:nvSpPr>
        <p:spPr>
          <a:xfrm>
            <a:off x="304800" y="3476803"/>
            <a:ext cx="657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the mouse goes over a link, it becomes red.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A474C8-9979-4BD7-BFA8-5B0C080E9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20" y="4076601"/>
            <a:ext cx="451866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:first-child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first element in a group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:last-child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last element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:focus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active input box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585B727-1D1F-44F3-8FDF-B04714AE0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17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IN" sz="4800" b="1" dirty="0">
                <a:latin typeface="Lato" panose="020F0502020204030203" pitchFamily="34" charset="0"/>
              </a:rPr>
              <a:t>Selectors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FA0723-9D89-45D9-BD80-DA795F3728F9}"/>
              </a:ext>
            </a:extLst>
          </p:cNvPr>
          <p:cNvSpPr txBox="1"/>
          <p:nvPr/>
        </p:nvSpPr>
        <p:spPr>
          <a:xfrm>
            <a:off x="318135" y="1183124"/>
            <a:ext cx="6244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Pseudo-Element Selector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9805E-6D83-4C20-B8B8-ED879E056DDB}"/>
              </a:ext>
            </a:extLst>
          </p:cNvPr>
          <p:cNvSpPr txBox="1"/>
          <p:nvPr/>
        </p:nvSpPr>
        <p:spPr>
          <a:xfrm>
            <a:off x="586740" y="1683008"/>
            <a:ext cx="8482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to style specific parts of an element (like first letter or first line).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64EFA-2CF5-4226-A5EE-F14638E58E50}"/>
              </a:ext>
            </a:extLst>
          </p:cNvPr>
          <p:cNvSpPr txBox="1"/>
          <p:nvPr/>
        </p:nvSpPr>
        <p:spPr>
          <a:xfrm>
            <a:off x="661035" y="2505670"/>
            <a:ext cx="62445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p::first-line {</a:t>
            </a:r>
          </a:p>
          <a:p>
            <a:r>
              <a:rPr lang="en-IN" dirty="0"/>
              <a:t>  font-weight: bold;</a:t>
            </a:r>
          </a:p>
          <a:p>
            <a:r>
              <a:rPr lang="en-IN" dirty="0"/>
              <a:t>}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D3E4CF1-8C70-4769-AE2C-8A1F7119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9" y="4820796"/>
            <a:ext cx="52449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the first line of every paragraph bold.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FB0058-E02E-4502-ACA8-0A5DBB4CEEC7}"/>
              </a:ext>
            </a:extLst>
          </p:cNvPr>
          <p:cNvSpPr txBox="1"/>
          <p:nvPr/>
        </p:nvSpPr>
        <p:spPr>
          <a:xfrm>
            <a:off x="759619" y="3697857"/>
            <a:ext cx="49401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p::before {</a:t>
            </a:r>
          </a:p>
          <a:p>
            <a:r>
              <a:rPr lang="en-IN" dirty="0"/>
              <a:t>  content: "👉 ";</a:t>
            </a:r>
          </a:p>
          <a:p>
            <a:r>
              <a:rPr lang="en-IN" dirty="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13C1BD-DD61-41EA-ADBC-F500D1BA719F}"/>
              </a:ext>
            </a:extLst>
          </p:cNvPr>
          <p:cNvSpPr txBox="1"/>
          <p:nvPr/>
        </p:nvSpPr>
        <p:spPr>
          <a:xfrm>
            <a:off x="759619" y="6006034"/>
            <a:ext cx="4594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Adds an arrow emoji before every paragraph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525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US" sz="4800" b="1" dirty="0"/>
              <a:t>Combinators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340E7-48E4-C81C-C3F1-563F8E650A2D}"/>
              </a:ext>
            </a:extLst>
          </p:cNvPr>
          <p:cNvSpPr txBox="1"/>
          <p:nvPr/>
        </p:nvSpPr>
        <p:spPr>
          <a:xfrm>
            <a:off x="251012" y="1255059"/>
            <a:ext cx="88190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are Combinators in CSS?</a:t>
            </a:r>
          </a:p>
          <a:p>
            <a:endParaRPr lang="en-US" b="1" dirty="0"/>
          </a:p>
          <a:p>
            <a:r>
              <a:rPr lang="en-US" b="1" dirty="0"/>
              <a:t>Combinators</a:t>
            </a:r>
            <a:r>
              <a:rPr lang="en-US" dirty="0"/>
              <a:t> describe the </a:t>
            </a:r>
            <a:r>
              <a:rPr lang="en-US" b="1" dirty="0"/>
              <a:t>relationship between two or more selectors.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They tell CSS </a:t>
            </a:r>
            <a:r>
              <a:rPr lang="en-US" i="1" dirty="0"/>
              <a:t>where</a:t>
            </a:r>
            <a:r>
              <a:rPr lang="en-US" dirty="0"/>
              <a:t> an element is — like inside, beside, or after another element.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B2C70-5E79-A937-818C-0F64DE9837E6}"/>
              </a:ext>
            </a:extLst>
          </p:cNvPr>
          <p:cNvSpPr txBox="1"/>
          <p:nvPr/>
        </p:nvSpPr>
        <p:spPr>
          <a:xfrm>
            <a:off x="251011" y="3105834"/>
            <a:ext cx="108562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Descendant Combinator (space)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	Syntax: ancestor descendant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It selects all elements inside another element (no matter how deep).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2E037-5911-EE49-AC6C-33B98626E13B}"/>
              </a:ext>
            </a:extLst>
          </p:cNvPr>
          <p:cNvSpPr txBox="1"/>
          <p:nvPr/>
        </p:nvSpPr>
        <p:spPr>
          <a:xfrm>
            <a:off x="316006" y="4705590"/>
            <a:ext cx="44621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HTML</a:t>
            </a:r>
          </a:p>
          <a:p>
            <a:endParaRPr lang="en-IN" b="1" dirty="0"/>
          </a:p>
          <a:p>
            <a:r>
              <a:rPr lang="en-IN" dirty="0"/>
              <a:t>&lt;div&gt;</a:t>
            </a:r>
          </a:p>
          <a:p>
            <a:r>
              <a:rPr lang="en-IN" dirty="0"/>
              <a:t>  &lt;p&gt;This paragraph is inside div.&lt;/p&gt;</a:t>
            </a:r>
          </a:p>
          <a:p>
            <a:r>
              <a:rPr lang="en-IN" dirty="0"/>
              <a:t>&lt;/div&gt;</a:t>
            </a:r>
          </a:p>
          <a:p>
            <a:endParaRPr lang="en-IN" dirty="0"/>
          </a:p>
          <a:p>
            <a:r>
              <a:rPr lang="en-IN" dirty="0"/>
              <a:t>&lt;p&gt;This paragraph is outside div.&lt;/p&gt;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8009E-175C-D997-EDF2-3A3D6D2234CD}"/>
              </a:ext>
            </a:extLst>
          </p:cNvPr>
          <p:cNvSpPr txBox="1"/>
          <p:nvPr/>
        </p:nvSpPr>
        <p:spPr>
          <a:xfrm>
            <a:off x="5192807" y="4908193"/>
            <a:ext cx="24361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CSS</a:t>
            </a:r>
          </a:p>
          <a:p>
            <a:r>
              <a:rPr lang="en-IN" dirty="0"/>
              <a:t>div p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blue;</a:t>
            </a:r>
          </a:p>
          <a:p>
            <a:r>
              <a:rPr lang="en-IN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4216C-4F52-40E1-8987-6A1173D7C44C}"/>
              </a:ext>
            </a:extLst>
          </p:cNvPr>
          <p:cNvSpPr txBox="1"/>
          <p:nvPr/>
        </p:nvSpPr>
        <p:spPr>
          <a:xfrm>
            <a:off x="5811370" y="6398986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Only the paragraph inside the &lt;div&gt; will turn blue.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06014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US" sz="4800" b="1" dirty="0"/>
              <a:t>Combinators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EEDDAD-BC8F-1834-66EF-B32D30B86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94" y="1327702"/>
            <a:ext cx="548098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Child Combinator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parent &gt; child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selects only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children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deeper ones.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18403-930B-B94F-21CA-5FE735D5091D}"/>
              </a:ext>
            </a:extLst>
          </p:cNvPr>
          <p:cNvSpPr txBox="1"/>
          <p:nvPr/>
        </p:nvSpPr>
        <p:spPr>
          <a:xfrm>
            <a:off x="1526242" y="3080160"/>
            <a:ext cx="62439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HTML</a:t>
            </a:r>
          </a:p>
          <a:p>
            <a:r>
              <a:rPr lang="en-IN" dirty="0"/>
              <a:t>	&lt;div&gt;</a:t>
            </a:r>
          </a:p>
          <a:p>
            <a:r>
              <a:rPr lang="en-IN" dirty="0"/>
              <a:t>  		&lt;p&gt;Direct child paragraph&lt;/p&gt;</a:t>
            </a:r>
          </a:p>
          <a:p>
            <a:r>
              <a:rPr lang="en-IN" dirty="0"/>
              <a:t>  		&lt;section&gt;</a:t>
            </a:r>
          </a:p>
          <a:p>
            <a:r>
              <a:rPr lang="en-IN" dirty="0"/>
              <a:t>    		&lt;p&gt;Nested paragraph&lt;/p&gt;</a:t>
            </a:r>
          </a:p>
          <a:p>
            <a:r>
              <a:rPr lang="en-IN" dirty="0"/>
              <a:t>  		&lt;/section&gt;</a:t>
            </a:r>
          </a:p>
          <a:p>
            <a:r>
              <a:rPr lang="en-IN" dirty="0"/>
              <a:t>	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66801-A65D-FF4C-EA7C-E658FC549927}"/>
              </a:ext>
            </a:extLst>
          </p:cNvPr>
          <p:cNvSpPr txBox="1"/>
          <p:nvPr/>
        </p:nvSpPr>
        <p:spPr>
          <a:xfrm>
            <a:off x="349624" y="5392288"/>
            <a:ext cx="75550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		CSS</a:t>
            </a:r>
          </a:p>
          <a:p>
            <a:endParaRPr lang="en-IN" b="1"/>
          </a:p>
          <a:p>
            <a:r>
              <a:rPr lang="en-IN"/>
              <a:t>			div &gt; p {</a:t>
            </a:r>
          </a:p>
          <a:p>
            <a:r>
              <a:rPr lang="en-IN"/>
              <a:t>  				color: red;</a:t>
            </a:r>
          </a:p>
          <a:p>
            <a:r>
              <a:rPr lang="en-IN"/>
              <a:t>				}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C20FA-FF0C-E482-F5EB-7B02D8075AC3}"/>
              </a:ext>
            </a:extLst>
          </p:cNvPr>
          <p:cNvSpPr txBox="1"/>
          <p:nvPr/>
        </p:nvSpPr>
        <p:spPr>
          <a:xfrm>
            <a:off x="5660282" y="6001434"/>
            <a:ext cx="6243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Only the </a:t>
            </a:r>
            <a:r>
              <a:rPr lang="en-US" b="1" dirty="0">
                <a:highlight>
                  <a:srgbClr val="FFFF00"/>
                </a:highlight>
              </a:rPr>
              <a:t>first paragraph</a:t>
            </a:r>
            <a:r>
              <a:rPr lang="en-US" dirty="0">
                <a:highlight>
                  <a:srgbClr val="FFFF00"/>
                </a:highlight>
              </a:rPr>
              <a:t> (direct child) turns red.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The nested one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2280266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US" sz="4800" b="1" dirty="0"/>
              <a:t>Combinators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EEE266-2FFF-3AC7-1DCE-FC2B03495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2572"/>
            <a:ext cx="73148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Adjacent Sibling Combinator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+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 + 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selects the element that comes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immediately after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another element.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6914A-EF32-F4F1-E7B9-8C7EFA6FBE1C}"/>
              </a:ext>
            </a:extLst>
          </p:cNvPr>
          <p:cNvSpPr txBox="1"/>
          <p:nvPr/>
        </p:nvSpPr>
        <p:spPr>
          <a:xfrm>
            <a:off x="997324" y="3088358"/>
            <a:ext cx="6243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HTML</a:t>
            </a:r>
          </a:p>
          <a:p>
            <a:endParaRPr lang="en-IN" dirty="0"/>
          </a:p>
          <a:p>
            <a:r>
              <a:rPr lang="en-IN" dirty="0"/>
              <a:t>	&lt;h2&gt;Title&lt;/h2&gt;</a:t>
            </a:r>
          </a:p>
          <a:p>
            <a:r>
              <a:rPr lang="en-IN" dirty="0"/>
              <a:t>	&lt;p&gt;Paragraph 1&lt;/p&gt;</a:t>
            </a:r>
          </a:p>
          <a:p>
            <a:r>
              <a:rPr lang="en-IN" dirty="0"/>
              <a:t>	&lt;p&gt;Paragraph 2&lt;/p&gt;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B5001-C8CB-13BC-DCCF-8424B0A70324}"/>
              </a:ext>
            </a:extLst>
          </p:cNvPr>
          <p:cNvSpPr txBox="1"/>
          <p:nvPr/>
        </p:nvSpPr>
        <p:spPr>
          <a:xfrm>
            <a:off x="1293159" y="5124144"/>
            <a:ext cx="6243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CSS</a:t>
            </a:r>
          </a:p>
          <a:p>
            <a:endParaRPr lang="en-IN" dirty="0"/>
          </a:p>
          <a:p>
            <a:r>
              <a:rPr lang="en-IN" dirty="0"/>
              <a:t>	h2 + p {</a:t>
            </a:r>
          </a:p>
          <a:p>
            <a:r>
              <a:rPr lang="en-IN" dirty="0"/>
              <a:t>  	</a:t>
            </a:r>
            <a:r>
              <a:rPr lang="en-IN" dirty="0" err="1"/>
              <a:t>color</a:t>
            </a:r>
            <a:r>
              <a:rPr lang="en-IN" dirty="0"/>
              <a:t>: green;</a:t>
            </a:r>
          </a:p>
          <a:p>
            <a:r>
              <a:rPr lang="en-IN" dirty="0"/>
              <a:t>	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07B5E5-CFB3-DC2C-7D87-A7270768E5D0}"/>
              </a:ext>
            </a:extLst>
          </p:cNvPr>
          <p:cNvSpPr txBox="1"/>
          <p:nvPr/>
        </p:nvSpPr>
        <p:spPr>
          <a:xfrm>
            <a:off x="5948084" y="6027875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Only </a:t>
            </a:r>
            <a:r>
              <a:rPr lang="en-US" b="1" dirty="0">
                <a:highlight>
                  <a:srgbClr val="FFFF00"/>
                </a:highlight>
              </a:rPr>
              <a:t>Paragraph 1</a:t>
            </a:r>
            <a:r>
              <a:rPr lang="en-US" dirty="0">
                <a:highlight>
                  <a:srgbClr val="FFFF00"/>
                </a:highlight>
              </a:rPr>
              <a:t> (just after h2) turns green.</a:t>
            </a:r>
          </a:p>
        </p:txBody>
      </p:sp>
    </p:spTree>
    <p:extLst>
      <p:ext uri="{BB962C8B-B14F-4D97-AF65-F5344CB8AC3E}">
        <p14:creationId xmlns:p14="http://schemas.microsoft.com/office/powerpoint/2010/main" val="704723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US" sz="4800" b="1" dirty="0"/>
              <a:t>Combinators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803377-A09B-281A-5DDC-4BD88C87F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18" y="1291844"/>
            <a:ext cx="536980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General Sibling Combinator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~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 ~ 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selects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elements after 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(same parent level).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47643-4A21-D498-BA7F-92CB815581F7}"/>
              </a:ext>
            </a:extLst>
          </p:cNvPr>
          <p:cNvSpPr txBox="1"/>
          <p:nvPr/>
        </p:nvSpPr>
        <p:spPr>
          <a:xfrm>
            <a:off x="638736" y="3224555"/>
            <a:ext cx="6243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HTML</a:t>
            </a:r>
          </a:p>
          <a:p>
            <a:endParaRPr lang="en-IN" b="1" dirty="0"/>
          </a:p>
          <a:p>
            <a:r>
              <a:rPr lang="en-IN" dirty="0"/>
              <a:t>	&lt;h2&gt;Title&lt;/h2&gt;</a:t>
            </a:r>
          </a:p>
          <a:p>
            <a:r>
              <a:rPr lang="en-IN" dirty="0"/>
              <a:t>	&lt;p&gt;Paragraph 1&lt;/p&gt;</a:t>
            </a:r>
          </a:p>
          <a:p>
            <a:r>
              <a:rPr lang="en-IN" dirty="0"/>
              <a:t>	&lt;p&gt;Paragraph 2&lt;/p&gt;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DB60E-B763-9444-989D-5BC25E1B711C}"/>
              </a:ext>
            </a:extLst>
          </p:cNvPr>
          <p:cNvSpPr txBox="1"/>
          <p:nvPr/>
        </p:nvSpPr>
        <p:spPr>
          <a:xfrm>
            <a:off x="853888" y="5257817"/>
            <a:ext cx="6243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CSS</a:t>
            </a:r>
          </a:p>
          <a:p>
            <a:r>
              <a:rPr lang="en-IN" dirty="0"/>
              <a:t>	h2 ~ p {</a:t>
            </a:r>
          </a:p>
          <a:p>
            <a:r>
              <a:rPr lang="en-IN" dirty="0"/>
              <a:t>  		</a:t>
            </a:r>
            <a:r>
              <a:rPr lang="en-IN" dirty="0" err="1"/>
              <a:t>color</a:t>
            </a:r>
            <a:r>
              <a:rPr lang="en-IN" dirty="0"/>
              <a:t>: orange;</a:t>
            </a:r>
          </a:p>
          <a:p>
            <a:r>
              <a:rPr lang="en-IN" dirty="0"/>
              <a:t>	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F7F0C-EAFF-896F-AD43-AE4FE6108F7A}"/>
              </a:ext>
            </a:extLst>
          </p:cNvPr>
          <p:cNvSpPr txBox="1"/>
          <p:nvPr/>
        </p:nvSpPr>
        <p:spPr>
          <a:xfrm>
            <a:off x="5593921" y="5857981"/>
            <a:ext cx="624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Both Paragraph 1 and Paragraph 2 turn orange.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58091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CSS </a:t>
            </a:r>
            <a:r>
              <a:rPr lang="en-US" sz="4800" b="1" dirty="0"/>
              <a:t>Combinators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FFE0AB-26CD-528C-9121-CA8B83AEF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11152"/>
              </p:ext>
            </p:extLst>
          </p:nvPr>
        </p:nvGraphicFramePr>
        <p:xfrm>
          <a:off x="439271" y="1568824"/>
          <a:ext cx="10304928" cy="3917257"/>
        </p:xfrm>
        <a:graphic>
          <a:graphicData uri="http://schemas.openxmlformats.org/drawingml/2006/table">
            <a:tbl>
              <a:tblPr/>
              <a:tblGrid>
                <a:gridCol w="2576232">
                  <a:extLst>
                    <a:ext uri="{9D8B030D-6E8A-4147-A177-3AD203B41FA5}">
                      <a16:colId xmlns:a16="http://schemas.microsoft.com/office/drawing/2014/main" val="559195469"/>
                    </a:ext>
                  </a:extLst>
                </a:gridCol>
                <a:gridCol w="2576232">
                  <a:extLst>
                    <a:ext uri="{9D8B030D-6E8A-4147-A177-3AD203B41FA5}">
                      <a16:colId xmlns:a16="http://schemas.microsoft.com/office/drawing/2014/main" val="1801577427"/>
                    </a:ext>
                  </a:extLst>
                </a:gridCol>
                <a:gridCol w="2576232">
                  <a:extLst>
                    <a:ext uri="{9D8B030D-6E8A-4147-A177-3AD203B41FA5}">
                      <a16:colId xmlns:a16="http://schemas.microsoft.com/office/drawing/2014/main" val="2450016495"/>
                    </a:ext>
                  </a:extLst>
                </a:gridCol>
                <a:gridCol w="2576232">
                  <a:extLst>
                    <a:ext uri="{9D8B030D-6E8A-4147-A177-3AD203B41FA5}">
                      <a16:colId xmlns:a16="http://schemas.microsoft.com/office/drawing/2014/main" val="2218388668"/>
                    </a:ext>
                  </a:extLst>
                </a:gridCol>
              </a:tblGrid>
              <a:tr h="602655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43286"/>
                  </a:ext>
                </a:extLst>
              </a:tr>
              <a:tr h="602655">
                <a:tc>
                  <a:txBody>
                    <a:bodyPr/>
                    <a:lstStyle/>
                    <a:p>
                      <a:r>
                        <a:rPr lang="en-IN" sz="1800"/>
                        <a:t>Descendant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(space)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div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All &lt;p&gt; inside &lt;div&gt;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28764"/>
                  </a:ext>
                </a:extLst>
              </a:tr>
              <a:tr h="1054646">
                <a:tc>
                  <a:txBody>
                    <a:bodyPr/>
                    <a:lstStyle/>
                    <a:p>
                      <a:r>
                        <a:rPr lang="en-IN" sz="1800"/>
                        <a:t>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div &gt;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Direct child &lt;p&gt; inside &lt;div&gt;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416408"/>
                  </a:ext>
                </a:extLst>
              </a:tr>
              <a:tr h="1054646">
                <a:tc>
                  <a:txBody>
                    <a:bodyPr/>
                    <a:lstStyle/>
                    <a:p>
                      <a:r>
                        <a:rPr lang="en-IN" sz="1800"/>
                        <a:t>Adjacent Sibling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h1 +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&lt;p&gt; immediately after &lt;h1&gt;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70106"/>
                  </a:ext>
                </a:extLst>
              </a:tr>
              <a:tr h="602655">
                <a:tc>
                  <a:txBody>
                    <a:bodyPr/>
                    <a:lstStyle/>
                    <a:p>
                      <a:r>
                        <a:rPr lang="en-IN" sz="1800"/>
                        <a:t>General Sibling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~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h1 ~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All &lt;p&gt; after &lt;h1&gt;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298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923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79CAF8-59F0-CF55-7B11-0A5463FA6B5D}"/>
              </a:ext>
            </a:extLst>
          </p:cNvPr>
          <p:cNvSpPr txBox="1"/>
          <p:nvPr/>
        </p:nvSpPr>
        <p:spPr>
          <a:xfrm>
            <a:off x="127746" y="107141"/>
            <a:ext cx="62439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Practical Example (Selectors + Combinators Together)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HTML:</a:t>
            </a:r>
          </a:p>
          <a:p>
            <a:endParaRPr lang="en-US" dirty="0"/>
          </a:p>
          <a:p>
            <a:r>
              <a:rPr lang="en-US" dirty="0"/>
              <a:t>&lt;div class="container"&gt;</a:t>
            </a:r>
          </a:p>
          <a:p>
            <a:r>
              <a:rPr lang="en-US" dirty="0"/>
              <a:t>  &lt;h1&gt;Welcome to Masai&lt;/h1&gt;</a:t>
            </a:r>
          </a:p>
          <a:p>
            <a:r>
              <a:rPr lang="en-US" dirty="0"/>
              <a:t>  &lt;p class="intro"&gt;Learn coding step by step.&lt;/p&gt;</a:t>
            </a:r>
          </a:p>
          <a:p>
            <a:r>
              <a:rPr lang="en-US" dirty="0"/>
              <a:t>  &lt;p&gt;We make you future-ready!&lt;/p&gt;</a:t>
            </a:r>
          </a:p>
          <a:p>
            <a:r>
              <a:rPr lang="en-US" dirty="0"/>
              <a:t>  &lt;section&gt;</a:t>
            </a:r>
          </a:p>
          <a:p>
            <a:r>
              <a:rPr lang="en-US" dirty="0"/>
              <a:t>    &lt;p&gt;Start with HTML and CSS today!&lt;/p&gt;</a:t>
            </a:r>
          </a:p>
          <a:p>
            <a:r>
              <a:rPr lang="en-US" dirty="0"/>
              <a:t>  &lt;/section&gt;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8CE0A-6C4A-19D4-38BB-546B59C33099}"/>
              </a:ext>
            </a:extLst>
          </p:cNvPr>
          <p:cNvSpPr txBox="1"/>
          <p:nvPr/>
        </p:nvSpPr>
        <p:spPr>
          <a:xfrm>
            <a:off x="6580095" y="731600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CSS:</a:t>
            </a:r>
          </a:p>
          <a:p>
            <a:endParaRPr lang="en-IN" dirty="0"/>
          </a:p>
          <a:p>
            <a:r>
              <a:rPr lang="en-IN" dirty="0"/>
              <a:t>.container p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blue; /* all paragraphs inside container */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.container &gt; p {</a:t>
            </a:r>
          </a:p>
          <a:p>
            <a:r>
              <a:rPr lang="en-IN" dirty="0"/>
              <a:t>  font-size: 18px; /* only direct p inside container */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h1 + p {</a:t>
            </a:r>
          </a:p>
          <a:p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green; /* paragraph right after h1 */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h1 ~ p {</a:t>
            </a:r>
          </a:p>
          <a:p>
            <a:r>
              <a:rPr lang="en-IN" dirty="0"/>
              <a:t>  font-weight: bold; /* all p after h1 */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1052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DD8839-CFF5-8B5A-4C1D-F5D10A79BF42}"/>
              </a:ext>
            </a:extLst>
          </p:cNvPr>
          <p:cNvSpPr txBox="1"/>
          <p:nvPr/>
        </p:nvSpPr>
        <p:spPr>
          <a:xfrm>
            <a:off x="152400" y="107576"/>
            <a:ext cx="8917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Selectors &amp; Combinators Are Important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They help you </a:t>
            </a:r>
            <a:r>
              <a:rPr lang="en-US" b="1" dirty="0"/>
              <a:t>target specific elements</a:t>
            </a:r>
            <a:r>
              <a:rPr lang="en-US" dirty="0"/>
              <a:t> — no need to style everything manually.</a:t>
            </a:r>
            <a:br>
              <a:rPr lang="en-US" dirty="0"/>
            </a:br>
            <a:r>
              <a:rPr lang="en-US" dirty="0"/>
              <a:t>They make your </a:t>
            </a:r>
            <a:r>
              <a:rPr lang="en-US" b="1" dirty="0"/>
              <a:t>CSS organized and powerful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Essential for jobs like </a:t>
            </a:r>
            <a:r>
              <a:rPr lang="en-US" b="1" dirty="0"/>
              <a:t>Frontend Developer</a:t>
            </a:r>
            <a:r>
              <a:rPr lang="en-US" dirty="0"/>
              <a:t>, </a:t>
            </a:r>
            <a:r>
              <a:rPr lang="en-US" b="1" dirty="0"/>
              <a:t>Web Designer</a:t>
            </a:r>
            <a:r>
              <a:rPr lang="en-US" dirty="0"/>
              <a:t>, and </a:t>
            </a:r>
            <a:r>
              <a:rPr lang="en-US" b="1" dirty="0"/>
              <a:t>UI Developer</a:t>
            </a:r>
            <a:r>
              <a:rPr lang="en-US" dirty="0"/>
              <a:t>.</a:t>
            </a:r>
          </a:p>
          <a:p>
            <a:r>
              <a:rPr lang="en-US" dirty="0"/>
              <a:t>Used in every modern web project (HTML + CSS).</a:t>
            </a:r>
          </a:p>
        </p:txBody>
      </p:sp>
    </p:spTree>
    <p:extLst>
      <p:ext uri="{BB962C8B-B14F-4D97-AF65-F5344CB8AC3E}">
        <p14:creationId xmlns:p14="http://schemas.microsoft.com/office/powerpoint/2010/main" val="1841436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Assignment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57A41-AB86-50A5-0A1A-06913C37BBAB}"/>
              </a:ext>
            </a:extLst>
          </p:cNvPr>
          <p:cNvSpPr txBox="1"/>
          <p:nvPr/>
        </p:nvSpPr>
        <p:spPr>
          <a:xfrm>
            <a:off x="125506" y="1052573"/>
            <a:ext cx="89445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webpage and apply: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 class selector to style multiple paragraphs.</a:t>
            </a:r>
          </a:p>
          <a:p>
            <a:pPr>
              <a:buFont typeface="+mj-lt"/>
              <a:buAutoNum type="arabicPeriod"/>
            </a:pPr>
            <a:r>
              <a:rPr lang="en-US" dirty="0"/>
              <a:t>An ID selector for the main heading.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A child combinator to style only direct elements.</a:t>
            </a:r>
          </a:p>
          <a:p>
            <a:pPr>
              <a:buFont typeface="+mj-lt"/>
              <a:buAutoNum type="arabicPeriod"/>
            </a:pPr>
            <a:r>
              <a:rPr lang="en-US" dirty="0"/>
              <a:t>A hover effect on a link.</a:t>
            </a:r>
          </a:p>
          <a:p>
            <a:pPr>
              <a:buFont typeface="+mj-lt"/>
              <a:buAutoNum type="arabicPeriod"/>
            </a:pPr>
            <a:r>
              <a:rPr lang="en-US" dirty="0"/>
              <a:t>A general sibling combinator to change color of all paragraphs after heading.</a:t>
            </a:r>
          </a:p>
        </p:txBody>
      </p:sp>
    </p:spTree>
    <p:extLst>
      <p:ext uri="{BB962C8B-B14F-4D97-AF65-F5344CB8AC3E}">
        <p14:creationId xmlns:p14="http://schemas.microsoft.com/office/powerpoint/2010/main" val="3691008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E7D99E-97BE-69C2-93EC-A3BAAA02852C}"/>
              </a:ext>
            </a:extLst>
          </p:cNvPr>
          <p:cNvSpPr txBox="1"/>
          <p:nvPr/>
        </p:nvSpPr>
        <p:spPr>
          <a:xfrm>
            <a:off x="116541" y="0"/>
            <a:ext cx="743174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 lang="</a:t>
            </a:r>
            <a:r>
              <a:rPr lang="en-IN" dirty="0" err="1"/>
              <a:t>en</a:t>
            </a:r>
            <a:r>
              <a:rPr lang="en-IN" dirty="0"/>
              <a:t>"&gt;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&lt;meta charset="UTF-8"&gt;</a:t>
            </a:r>
          </a:p>
          <a:p>
            <a:r>
              <a:rPr lang="en-IN" dirty="0"/>
              <a:t>  &lt;meta name="viewport" content="width=device-width, initial-scale=1.0"&gt;</a:t>
            </a:r>
          </a:p>
          <a:p>
            <a:r>
              <a:rPr lang="en-IN" dirty="0"/>
              <a:t>  &lt;title&gt;Selectors &amp; Combinators Example&lt;/title&gt;</a:t>
            </a:r>
          </a:p>
          <a:p>
            <a:endParaRPr lang="en-IN" dirty="0"/>
          </a:p>
          <a:p>
            <a:r>
              <a:rPr lang="en-IN" dirty="0"/>
              <a:t>  &lt;style&gt;</a:t>
            </a:r>
          </a:p>
          <a:p>
            <a:r>
              <a:rPr lang="en-IN" dirty="0"/>
              <a:t>    /* 1️⃣ ID Selector - Styles the main heading */</a:t>
            </a:r>
          </a:p>
          <a:p>
            <a:r>
              <a:rPr lang="en-IN" dirty="0"/>
              <a:t>    #mainHeading {</a:t>
            </a:r>
          </a:p>
          <a:p>
            <a:r>
              <a:rPr lang="en-IN" dirty="0"/>
              <a:t>      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darkblue</a:t>
            </a:r>
            <a:r>
              <a:rPr lang="en-IN" dirty="0"/>
              <a:t>;</a:t>
            </a:r>
          </a:p>
          <a:p>
            <a:r>
              <a:rPr lang="en-IN" dirty="0"/>
              <a:t>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text-decoration: underline;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/* 2️⃣ Class Selector - Styles multiple paragraphs */</a:t>
            </a:r>
          </a:p>
          <a:p>
            <a:r>
              <a:rPr lang="en-IN" dirty="0"/>
              <a:t>    .info {</a:t>
            </a:r>
          </a:p>
          <a:p>
            <a:r>
              <a:rPr lang="en-IN" dirty="0"/>
              <a:t>      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darkgreen</a:t>
            </a:r>
            <a:r>
              <a:rPr lang="en-IN" dirty="0"/>
              <a:t>;</a:t>
            </a:r>
          </a:p>
          <a:p>
            <a:r>
              <a:rPr lang="en-IN" dirty="0"/>
              <a:t>      font-size: 18px;</a:t>
            </a:r>
          </a:p>
          <a:p>
            <a:r>
              <a:rPr lang="en-IN" dirty="0"/>
              <a:t>      line-height: 1.6;</a:t>
            </a:r>
          </a:p>
          <a:p>
            <a:r>
              <a:rPr lang="en-IN" dirty="0"/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66280-DA6C-F75B-9712-060AD5DD52E9}"/>
              </a:ext>
            </a:extLst>
          </p:cNvPr>
          <p:cNvSpPr txBox="1"/>
          <p:nvPr/>
        </p:nvSpPr>
        <p:spPr>
          <a:xfrm>
            <a:off x="5719482" y="295465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   /* 3️⃣ Child Combinator - Only direct &lt;p&gt; inside &lt;div&gt; */</a:t>
            </a:r>
          </a:p>
          <a:p>
            <a:r>
              <a:rPr lang="en-IN" dirty="0"/>
              <a:t>    div &gt; p {</a:t>
            </a:r>
          </a:p>
          <a:p>
            <a:r>
              <a:rPr lang="en-IN" dirty="0"/>
              <a:t>      background-</a:t>
            </a:r>
            <a:r>
              <a:rPr lang="en-IN" dirty="0" err="1"/>
              <a:t>color</a:t>
            </a:r>
            <a:r>
              <a:rPr lang="en-IN" dirty="0"/>
              <a:t>: #f0f0f0;</a:t>
            </a:r>
          </a:p>
          <a:p>
            <a:r>
              <a:rPr lang="en-IN" dirty="0"/>
              <a:t>      padding: 10px;</a:t>
            </a:r>
          </a:p>
          <a:p>
            <a:r>
              <a:rPr lang="en-IN" dirty="0"/>
              <a:t>      border-left: 4px solid green;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/* 4️⃣ Hover Selector - Link changes </a:t>
            </a:r>
            <a:r>
              <a:rPr lang="en-IN" dirty="0" err="1"/>
              <a:t>color</a:t>
            </a:r>
            <a:r>
              <a:rPr lang="en-IN" dirty="0"/>
              <a:t> on hover */</a:t>
            </a:r>
          </a:p>
          <a:p>
            <a:r>
              <a:rPr lang="en-IN" dirty="0"/>
              <a:t>    a:hover {</a:t>
            </a:r>
          </a:p>
          <a:p>
            <a:r>
              <a:rPr lang="en-IN" dirty="0"/>
              <a:t>      </a:t>
            </a:r>
            <a:r>
              <a:rPr lang="en-IN" dirty="0" err="1"/>
              <a:t>color</a:t>
            </a:r>
            <a:r>
              <a:rPr lang="en-IN" dirty="0"/>
              <a:t>: red;</a:t>
            </a:r>
          </a:p>
          <a:p>
            <a:r>
              <a:rPr lang="en-IN" dirty="0"/>
              <a:t>      text-decoration: underline;</a:t>
            </a:r>
          </a:p>
          <a:p>
            <a:r>
              <a:rPr lang="en-IN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112942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345274-6C60-7DE5-1AF8-73EABF7F330E}"/>
              </a:ext>
            </a:extLst>
          </p:cNvPr>
          <p:cNvSpPr txBox="1"/>
          <p:nvPr/>
        </p:nvSpPr>
        <p:spPr>
          <a:xfrm>
            <a:off x="62753" y="-159306"/>
            <a:ext cx="7368988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   /* 5️⃣ General Sibling Combinator - All &lt;p&gt; after &lt;h1&gt; */</a:t>
            </a:r>
          </a:p>
          <a:p>
            <a:r>
              <a:rPr lang="en-IN" dirty="0"/>
              <a:t>    h1 ~ p {</a:t>
            </a:r>
          </a:p>
          <a:p>
            <a:r>
              <a:rPr lang="en-IN" dirty="0"/>
              <a:t>      </a:t>
            </a:r>
            <a:r>
              <a:rPr lang="en-IN" dirty="0" err="1"/>
              <a:t>color</a:t>
            </a:r>
            <a:r>
              <a:rPr lang="en-IN" dirty="0"/>
              <a:t>: purple;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&lt;/style&gt;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  &lt;!-- Main Heading with ID --&gt;</a:t>
            </a:r>
          </a:p>
          <a:p>
            <a:r>
              <a:rPr lang="en-IN" dirty="0"/>
              <a:t>  &lt;h1 id="</a:t>
            </a:r>
            <a:r>
              <a:rPr lang="en-IN" dirty="0" err="1"/>
              <a:t>mainHeading</a:t>
            </a:r>
            <a:r>
              <a:rPr lang="en-IN" dirty="0"/>
              <a:t>"&gt;Welcome to CSS Selectors &amp; Combinators&lt;/h1&gt;</a:t>
            </a:r>
          </a:p>
          <a:p>
            <a:r>
              <a:rPr lang="en-IN" dirty="0"/>
              <a:t>  &lt;!-- Paragraphs after heading --&gt;</a:t>
            </a:r>
          </a:p>
          <a:p>
            <a:r>
              <a:rPr lang="en-IN" dirty="0"/>
              <a:t>  &lt;p class="info"&gt;This paragraph is styled using a class selector.&lt;/p&gt;</a:t>
            </a:r>
          </a:p>
          <a:p>
            <a:r>
              <a:rPr lang="en-IN" dirty="0"/>
              <a:t>  &lt;p class="info"&gt;CSS makes web pages beautiful and organized.&lt;/p&gt;</a:t>
            </a:r>
          </a:p>
          <a:p>
            <a:endParaRPr lang="en-IN" dirty="0"/>
          </a:p>
          <a:p>
            <a:r>
              <a:rPr lang="en-IN" dirty="0"/>
              <a:t>  &lt;!-- Child combinator example --&gt;</a:t>
            </a:r>
          </a:p>
          <a:p>
            <a:r>
              <a:rPr lang="en-IN" dirty="0"/>
              <a:t>  &lt;div&gt;</a:t>
            </a:r>
          </a:p>
          <a:p>
            <a:r>
              <a:rPr lang="en-IN" dirty="0"/>
              <a:t>    &lt;p&gt;This paragraph is a *direct child* of div.&lt;/p&gt;</a:t>
            </a:r>
          </a:p>
          <a:p>
            <a:r>
              <a:rPr lang="en-IN" dirty="0"/>
              <a:t>    &lt;section&gt;</a:t>
            </a:r>
          </a:p>
          <a:p>
            <a:r>
              <a:rPr lang="en-IN" dirty="0"/>
              <a:t>      &lt;p&gt;This paragraph is *inside section*, not a direct child of div.&lt;/p&gt;</a:t>
            </a:r>
          </a:p>
          <a:p>
            <a:r>
              <a:rPr lang="en-IN" dirty="0"/>
              <a:t>    &lt;/section&gt;</a:t>
            </a:r>
          </a:p>
          <a:p>
            <a:r>
              <a:rPr lang="en-IN" dirty="0"/>
              <a:t>  &lt;/div&gt;</a:t>
            </a:r>
          </a:p>
          <a:p>
            <a:r>
              <a:rPr lang="en-IN" dirty="0"/>
              <a:t>  &lt;!-- Hover link example --&gt;</a:t>
            </a:r>
          </a:p>
          <a:p>
            <a:r>
              <a:rPr lang="en-IN" dirty="0"/>
              <a:t>  &lt;a </a:t>
            </a:r>
            <a:r>
              <a:rPr lang="en-IN" dirty="0" err="1"/>
              <a:t>href</a:t>
            </a:r>
            <a:r>
              <a:rPr lang="en-IN" dirty="0"/>
              <a:t>="#"&gt;Hover over this link&lt;/a&gt;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73877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1A99CF-2841-B2BA-FDD4-D4040DA07443}"/>
              </a:ext>
            </a:extLst>
          </p:cNvPr>
          <p:cNvSpPr txBox="1"/>
          <p:nvPr/>
        </p:nvSpPr>
        <p:spPr>
          <a:xfrm>
            <a:off x="222055" y="251012"/>
            <a:ext cx="897367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800" b="1" dirty="0"/>
              <a:t>Explanation 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#mainHeading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applies style to one specific heading only (like your name on a document).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.info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applies the same style to many paragraphs (like giving all paragraphs the same font).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div &gt; 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means “only those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tags that are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directly inside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.”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a:hover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gives a link special styling when the mouse moves over it.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h1 ~ 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finds all paragraphs that come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changes their color.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4706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3457</TotalTime>
  <Words>2992</Words>
  <Application>Microsoft Office PowerPoint</Application>
  <PresentationFormat>Widescreen</PresentationFormat>
  <Paragraphs>547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 Unicode MS</vt:lpstr>
      <vt:lpstr>Arial</vt:lpstr>
      <vt:lpstr>Calibri</vt:lpstr>
      <vt:lpstr>Lato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76</cp:revision>
  <dcterms:created xsi:type="dcterms:W3CDTF">2022-08-19T11:01:50Z</dcterms:created>
  <dcterms:modified xsi:type="dcterms:W3CDTF">2025-11-06T14:49:50Z</dcterms:modified>
</cp:coreProperties>
</file>