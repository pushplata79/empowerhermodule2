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9"/>
  </p:notesMasterIdLst>
  <p:sldIdLst>
    <p:sldId id="308" r:id="rId2"/>
    <p:sldId id="315" r:id="rId3"/>
    <p:sldId id="310" r:id="rId4"/>
    <p:sldId id="311" r:id="rId5"/>
    <p:sldId id="312" r:id="rId6"/>
    <p:sldId id="313" r:id="rId7"/>
    <p:sldId id="31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5" d="100"/>
          <a:sy n="85" d="100"/>
        </p:scale>
        <p:origin x="5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735E31-6AC3-494C-A739-1889808CBF74}" type="datetimeFigureOut">
              <a:rPr lang="en-IN" smtClean="0"/>
              <a:t>05-11-2025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BF43EA-CD70-4084-ADBF-7EF6357D3DA6}" type="slidenum">
              <a:rPr lang="en-IN" smtClean="0"/>
              <a:t>‹#›</a:t>
            </a:fld>
            <a:endParaRPr lang="en-IN"/>
          </a:p>
        </p:txBody>
      </p:sp>
    </p:spTree>
    <p:extLst>
      <p:ext uri="{BB962C8B-B14F-4D97-AF65-F5344CB8AC3E}">
        <p14:creationId xmlns:p14="http://schemas.microsoft.com/office/powerpoint/2010/main" val="152662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92348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864282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88577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88054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74815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71329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225289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8A82C0F-A81B-4B2B-9B0C-842E6D2AD82E}" type="datetimeFigureOut">
              <a:rPr lang="en-IN" smtClean="0"/>
              <a:t>05-11-2025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216446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82C0F-A81B-4B2B-9B0C-842E6D2AD82E}" type="datetimeFigureOut">
              <a:rPr lang="en-IN" smtClean="0"/>
              <a:t>05-11-2025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1279659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en-US"/>
              <a:t>Click to edit Master title style</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8A82C0F-A81B-4B2B-9B0C-842E6D2AD82E}" type="datetimeFigureOut">
              <a:rPr lang="en-IN" smtClean="0"/>
              <a:t>05-11-2025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955714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2385616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20000" y="2505075"/>
            <a:ext cx="5025216"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6" name="Content Placeholder 5"/>
          <p:cNvSpPr>
            <a:spLocks noGrp="1"/>
          </p:cNvSpPr>
          <p:nvPr>
            <p:ph sz="quarter" idx="4"/>
          </p:nvPr>
        </p:nvSpPr>
        <p:spPr>
          <a:xfrm>
            <a:off x="6319840" y="2505075"/>
            <a:ext cx="503554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8A82C0F-A81B-4B2B-9B0C-842E6D2AD82E}" type="datetimeFigureOut">
              <a:rPr lang="en-IN" smtClean="0"/>
              <a:t>05-11-2025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3407839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8A82C0F-A81B-4B2B-9B0C-842E6D2AD82E}" type="datetimeFigureOut">
              <a:rPr lang="en-IN" smtClean="0"/>
              <a:t>05-11-2025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3543449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A82C0F-A81B-4B2B-9B0C-842E6D2AD82E}" type="datetimeFigureOut">
              <a:rPr lang="en-IN" smtClean="0"/>
              <a:t>05-11-2025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33730045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2573564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41187426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1711405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1785311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398632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en-US"/>
              <a:t>Click to edit Master title style</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8A82C0F-A81B-4B2B-9B0C-842E6D2AD82E}" type="datetimeFigureOut">
              <a:rPr lang="en-IN" smtClean="0"/>
              <a:t>05-11-2025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3592063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en-US"/>
              <a:t>Click to edit Master text styles</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8A82C0F-A81B-4B2B-9B0C-842E6D2AD82E}" type="datetimeFigureOut">
              <a:rPr lang="en-IN" smtClean="0"/>
              <a:t>05-11-2025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9534128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8A82C0F-A81B-4B2B-9B0C-842E6D2AD82E}" type="datetimeFigureOut">
              <a:rPr lang="en-IN" smtClean="0"/>
              <a:t>05-11-2025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27700802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82C0F-A81B-4B2B-9B0C-842E6D2AD82E}" type="datetimeFigureOut">
              <a:rPr lang="en-IN" smtClean="0"/>
              <a:t>05-11-2025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37705681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8A82C0F-A81B-4B2B-9B0C-842E6D2AD82E}" type="datetimeFigureOut">
              <a:rPr lang="en-IN" smtClean="0"/>
              <a:t>05-11-2025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1F17D1C-1EBE-4D88-AB6C-154BC284037D}" type="slidenum">
              <a:rPr lang="en-IN" smtClean="0"/>
              <a:t>‹#›</a:t>
            </a:fld>
            <a:endParaRPr lang="en-IN"/>
          </a:p>
        </p:txBody>
      </p:sp>
    </p:spTree>
    <p:extLst>
      <p:ext uri="{BB962C8B-B14F-4D97-AF65-F5344CB8AC3E}">
        <p14:creationId xmlns:p14="http://schemas.microsoft.com/office/powerpoint/2010/main" val="1644558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58A82C0F-A81B-4B2B-9B0C-842E6D2AD82E}" type="datetimeFigureOut">
              <a:rPr lang="en-IN" smtClean="0"/>
              <a:t>05-11-2025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D1F17D1C-1EBE-4D88-AB6C-154BC284037D}" type="slidenum">
              <a:rPr lang="en-IN" smtClean="0"/>
              <a:t>‹#›</a:t>
            </a:fld>
            <a:endParaRPr lang="en-IN"/>
          </a:p>
        </p:txBody>
      </p:sp>
    </p:spTree>
    <p:extLst>
      <p:ext uri="{BB962C8B-B14F-4D97-AF65-F5344CB8AC3E}">
        <p14:creationId xmlns:p14="http://schemas.microsoft.com/office/powerpoint/2010/main" val="2993114"/>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6" name="Google Shape;86;p1"/>
          <p:cNvSpPr txBox="1"/>
          <p:nvPr/>
        </p:nvSpPr>
        <p:spPr>
          <a:xfrm>
            <a:off x="1287386" y="2761673"/>
            <a:ext cx="8623232" cy="1427683"/>
          </a:xfrm>
          <a:prstGeom prst="rect">
            <a:avLst/>
          </a:prstGeom>
          <a:noFill/>
          <a:ln>
            <a:noFill/>
          </a:ln>
        </p:spPr>
        <p:txBody>
          <a:bodyPr spcFirstLastPara="1" wrap="square" lIns="72775" tIns="36378" rIns="72775" bIns="36378" anchor="t" anchorCtr="0">
            <a:spAutoFit/>
          </a:bodyPr>
          <a:lstStyle/>
          <a:p>
            <a:pPr lvl="0">
              <a:buClr>
                <a:srgbClr val="000000"/>
              </a:buClr>
              <a:buSzPts val="8000"/>
            </a:pPr>
            <a:r>
              <a:rPr lang="en-US" sz="4400" b="1" i="0" dirty="0">
                <a:effectLst/>
                <a:latin typeface="Arial" panose="020B0604020202020204" pitchFamily="34" charset="0"/>
              </a:rPr>
              <a:t>Let’s Style Web Blocks: Adding Colors, Fonts, and Borders</a:t>
            </a:r>
            <a:endParaRPr sz="4400" dirty="0">
              <a:latin typeface="Arial" panose="020B0604020202020204"/>
              <a:ea typeface="Arial" panose="020B0604020202020204"/>
              <a:cs typeface="Arial" panose="020B0604020202020204"/>
              <a:sym typeface="Arial" panose="020B0604020202020204"/>
            </a:endParaRPr>
          </a:p>
        </p:txBody>
      </p:sp>
      <p:sp>
        <p:nvSpPr>
          <p:cNvPr id="87" name="Google Shape;87;p1"/>
          <p:cNvSpPr txBox="1"/>
          <p:nvPr/>
        </p:nvSpPr>
        <p:spPr>
          <a:xfrm>
            <a:off x="1545217" y="5302398"/>
            <a:ext cx="3009951" cy="318598"/>
          </a:xfrm>
          <a:prstGeom prst="rect">
            <a:avLst/>
          </a:prstGeom>
          <a:noFill/>
          <a:ln>
            <a:noFill/>
          </a:ln>
        </p:spPr>
        <p:txBody>
          <a:bodyPr spcFirstLastPara="1" wrap="square" lIns="72775" tIns="36378" rIns="72775" bIns="36378" anchor="t" anchorCtr="0">
            <a:spAutoFit/>
          </a:bodyPr>
          <a:lstStyle/>
          <a:p>
            <a:pPr>
              <a:buSzPts val="2000"/>
            </a:pPr>
            <a:r>
              <a:rPr lang="en-US" sz="1593" dirty="0">
                <a:solidFill>
                  <a:schemeClr val="lt1"/>
                </a:solidFill>
                <a:latin typeface="Quicksand Light"/>
                <a:sym typeface="Quicksand Light"/>
              </a:rPr>
              <a:t>Let us Start</a:t>
            </a:r>
            <a:endParaRPr sz="1116" dirty="0">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88" name="Google Shape;88;p1"/>
          <p:cNvCxnSpPr/>
          <p:nvPr/>
        </p:nvCxnSpPr>
        <p:spPr>
          <a:xfrm>
            <a:off x="1621956" y="5115898"/>
            <a:ext cx="3926409" cy="0"/>
          </a:xfrm>
          <a:prstGeom prst="straightConnector1">
            <a:avLst/>
          </a:prstGeom>
          <a:noFill/>
          <a:ln w="28575" cap="flat" cmpd="sng">
            <a:solidFill>
              <a:schemeClr val="lt1"/>
            </a:solidFill>
            <a:prstDash val="solid"/>
            <a:miter lim="800000"/>
            <a:headEnd type="none" w="sm" len="sm"/>
            <a:tailEnd type="none" w="sm" len="sm"/>
          </a:ln>
        </p:spPr>
      </p:cxnSp>
      <p:sp>
        <p:nvSpPr>
          <p:cNvPr id="93" name="Google Shape;93;p1"/>
          <p:cNvSpPr txBox="1"/>
          <p:nvPr/>
        </p:nvSpPr>
        <p:spPr>
          <a:xfrm>
            <a:off x="15783979" y="1556252"/>
            <a:ext cx="441634" cy="293927"/>
          </a:xfrm>
          <a:prstGeom prst="rect">
            <a:avLst/>
          </a:prstGeom>
          <a:noFill/>
          <a:ln>
            <a:noFill/>
          </a:ln>
        </p:spPr>
        <p:txBody>
          <a:bodyPr spcFirstLastPara="1" wrap="square" lIns="0" tIns="0" rIns="0" bIns="0" anchor="t" anchorCtr="0">
            <a:spAutoFit/>
          </a:bodyPr>
          <a:lstStyle/>
          <a:p>
            <a:pPr algn="r">
              <a:buSzPts val="2399"/>
            </a:pPr>
            <a:r>
              <a:rPr lang="en-US" sz="1910">
                <a:solidFill>
                  <a:srgbClr val="F5F5EF"/>
                </a:solidFill>
                <a:latin typeface="Arial" panose="020B0604020202020204"/>
                <a:ea typeface="Arial" panose="020B0604020202020204"/>
                <a:cs typeface="Arial" panose="020B0604020202020204"/>
                <a:sym typeface="Arial" panose="020B0604020202020204"/>
              </a:rPr>
              <a:t>01</a:t>
            </a:r>
            <a:endParaRPr sz="1116">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6" name="Google Shape;86;p1"/>
          <p:cNvSpPr txBox="1"/>
          <p:nvPr/>
        </p:nvSpPr>
        <p:spPr>
          <a:xfrm>
            <a:off x="1361278" y="2429111"/>
            <a:ext cx="5939306" cy="1302586"/>
          </a:xfrm>
          <a:prstGeom prst="rect">
            <a:avLst/>
          </a:prstGeom>
          <a:noFill/>
          <a:ln>
            <a:noFill/>
          </a:ln>
        </p:spPr>
        <p:txBody>
          <a:bodyPr spcFirstLastPara="1" wrap="square" lIns="72775" tIns="36378" rIns="72775" bIns="36378" anchor="t" anchorCtr="0">
            <a:spAutoFit/>
          </a:bodyPr>
          <a:lstStyle/>
          <a:p>
            <a:pPr lvl="0">
              <a:buClr>
                <a:srgbClr val="000000"/>
              </a:buClr>
              <a:buSzPts val="8000"/>
            </a:pPr>
            <a:r>
              <a:rPr lang="en-US" sz="7987" b="1" dirty="0">
                <a:sym typeface="Arial" panose="020B0604020202020204"/>
              </a:rPr>
              <a:t>CSS</a:t>
            </a:r>
            <a:endParaRPr sz="1452" dirty="0">
              <a:latin typeface="Arial" panose="020B0604020202020204"/>
              <a:ea typeface="Arial" panose="020B0604020202020204"/>
              <a:cs typeface="Arial" panose="020B0604020202020204"/>
              <a:sym typeface="Arial" panose="020B0604020202020204"/>
            </a:endParaRPr>
          </a:p>
        </p:txBody>
      </p:sp>
      <p:sp>
        <p:nvSpPr>
          <p:cNvPr id="87" name="Google Shape;87;p1"/>
          <p:cNvSpPr txBox="1"/>
          <p:nvPr/>
        </p:nvSpPr>
        <p:spPr>
          <a:xfrm>
            <a:off x="1545217" y="5302398"/>
            <a:ext cx="3009951" cy="318598"/>
          </a:xfrm>
          <a:prstGeom prst="rect">
            <a:avLst/>
          </a:prstGeom>
          <a:noFill/>
          <a:ln>
            <a:noFill/>
          </a:ln>
        </p:spPr>
        <p:txBody>
          <a:bodyPr spcFirstLastPara="1" wrap="square" lIns="72775" tIns="36378" rIns="72775" bIns="36378" anchor="t" anchorCtr="0">
            <a:spAutoFit/>
          </a:bodyPr>
          <a:lstStyle/>
          <a:p>
            <a:pPr>
              <a:buSzPts val="2000"/>
            </a:pPr>
            <a:r>
              <a:rPr lang="en-US" sz="1593" dirty="0">
                <a:solidFill>
                  <a:schemeClr val="lt1"/>
                </a:solidFill>
                <a:latin typeface="Quicksand Light"/>
                <a:sym typeface="Quicksand Light"/>
              </a:rPr>
              <a:t>Let us Start</a:t>
            </a:r>
            <a:endParaRPr sz="1116" dirty="0">
              <a:solidFill>
                <a:srgbClr val="000000"/>
              </a:solidFill>
              <a:latin typeface="Arial" panose="020B0604020202020204"/>
              <a:ea typeface="Arial" panose="020B0604020202020204"/>
              <a:cs typeface="Arial" panose="020B0604020202020204"/>
              <a:sym typeface="Arial" panose="020B0604020202020204"/>
            </a:endParaRPr>
          </a:p>
        </p:txBody>
      </p:sp>
      <p:cxnSp>
        <p:nvCxnSpPr>
          <p:cNvPr id="88" name="Google Shape;88;p1"/>
          <p:cNvCxnSpPr/>
          <p:nvPr/>
        </p:nvCxnSpPr>
        <p:spPr>
          <a:xfrm>
            <a:off x="1621956" y="5115898"/>
            <a:ext cx="3926409" cy="0"/>
          </a:xfrm>
          <a:prstGeom prst="straightConnector1">
            <a:avLst/>
          </a:prstGeom>
          <a:noFill/>
          <a:ln w="28575" cap="flat" cmpd="sng">
            <a:solidFill>
              <a:schemeClr val="lt1"/>
            </a:solidFill>
            <a:prstDash val="solid"/>
            <a:miter lim="800000"/>
            <a:headEnd type="none" w="sm" len="sm"/>
            <a:tailEnd type="none" w="sm" len="sm"/>
          </a:ln>
        </p:spPr>
      </p:cxnSp>
      <p:sp>
        <p:nvSpPr>
          <p:cNvPr id="93" name="Google Shape;93;p1"/>
          <p:cNvSpPr txBox="1"/>
          <p:nvPr/>
        </p:nvSpPr>
        <p:spPr>
          <a:xfrm>
            <a:off x="15783979" y="1556252"/>
            <a:ext cx="441634" cy="293927"/>
          </a:xfrm>
          <a:prstGeom prst="rect">
            <a:avLst/>
          </a:prstGeom>
          <a:noFill/>
          <a:ln>
            <a:noFill/>
          </a:ln>
        </p:spPr>
        <p:txBody>
          <a:bodyPr spcFirstLastPara="1" wrap="square" lIns="0" tIns="0" rIns="0" bIns="0" anchor="t" anchorCtr="0">
            <a:spAutoFit/>
          </a:bodyPr>
          <a:lstStyle/>
          <a:p>
            <a:pPr algn="r">
              <a:buSzPts val="2399"/>
            </a:pPr>
            <a:r>
              <a:rPr lang="en-US" sz="1910">
                <a:solidFill>
                  <a:srgbClr val="F5F5EF"/>
                </a:solidFill>
                <a:latin typeface="Arial" panose="020B0604020202020204"/>
                <a:ea typeface="Arial" panose="020B0604020202020204"/>
                <a:cs typeface="Arial" panose="020B0604020202020204"/>
                <a:sym typeface="Arial" panose="020B0604020202020204"/>
              </a:rPr>
              <a:t>01</a:t>
            </a:r>
            <a:endParaRPr sz="1116">
              <a:solidFill>
                <a:srgbClr val="000000"/>
              </a:solidFill>
              <a:latin typeface="Arial" panose="020B0604020202020204"/>
              <a:ea typeface="Arial" panose="020B0604020202020204"/>
              <a:cs typeface="Arial" panose="020B0604020202020204"/>
              <a:sym typeface="Arial" panose="020B0604020202020204"/>
            </a:endParaRPr>
          </a:p>
        </p:txBody>
      </p:sp>
    </p:spTree>
    <p:extLst>
      <p:ext uri="{BB962C8B-B14F-4D97-AF65-F5344CB8AC3E}">
        <p14:creationId xmlns:p14="http://schemas.microsoft.com/office/powerpoint/2010/main" val="3098372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7"/>
          <p:cNvSpPr/>
          <p:nvPr/>
        </p:nvSpPr>
        <p:spPr>
          <a:xfrm>
            <a:off x="0" y="-31196"/>
            <a:ext cx="12192000" cy="1083768"/>
          </a:xfrm>
          <a:prstGeom prst="rect">
            <a:avLst/>
          </a:prstGeom>
          <a:solidFill>
            <a:schemeClr val="accent1">
              <a:lumMod val="75000"/>
            </a:schemeClr>
          </a:solidFill>
          <a:ln>
            <a:noFill/>
          </a:ln>
        </p:spPr>
        <p:txBody>
          <a:bodyPr spcFirstLastPara="1" wrap="square" lIns="72775" tIns="36378" rIns="72775" bIns="36378" anchor="ctr" anchorCtr="0">
            <a:noAutofit/>
          </a:bodyPr>
          <a:lstStyle/>
          <a:p>
            <a:r>
              <a:rPr lang="en-US" sz="4800" b="1" dirty="0">
                <a:latin typeface="Lato" panose="020F0502020204030203" pitchFamily="34" charset="0"/>
              </a:rPr>
              <a:t>CSS</a:t>
            </a:r>
          </a:p>
        </p:txBody>
      </p:sp>
      <p:sp>
        <p:nvSpPr>
          <p:cNvPr id="2" name="Rectangle 1"/>
          <p:cNvSpPr/>
          <p:nvPr/>
        </p:nvSpPr>
        <p:spPr>
          <a:xfrm>
            <a:off x="259976" y="1337743"/>
            <a:ext cx="10214595" cy="1601208"/>
          </a:xfrm>
          <a:prstGeom prst="rect">
            <a:avLst/>
          </a:prstGeom>
        </p:spPr>
        <p:txBody>
          <a:bodyPr wrap="square">
            <a:spAutoFit/>
          </a:bodyPr>
          <a:lstStyle/>
          <a:p>
            <a:r>
              <a:rPr lang="en-US" sz="1634" dirty="0">
                <a:latin typeface="Verdana" panose="020B0604030504040204" pitchFamily="34" charset="0"/>
              </a:rPr>
              <a:t>CSS stands for Cascading Style Sheets.</a:t>
            </a:r>
          </a:p>
          <a:p>
            <a:endParaRPr lang="en-US" sz="1634" dirty="0">
              <a:latin typeface="Verdana" panose="020B0604030504040204" pitchFamily="34" charset="0"/>
            </a:endParaRPr>
          </a:p>
          <a:p>
            <a:endParaRPr lang="en-US" sz="1634" dirty="0">
              <a:latin typeface="Verdana" panose="020B0604030504040204" pitchFamily="34" charset="0"/>
            </a:endParaRPr>
          </a:p>
          <a:p>
            <a:r>
              <a:rPr lang="en-US" sz="1634" dirty="0">
                <a:latin typeface="Verdana" panose="020B0604030504040204" pitchFamily="34" charset="0"/>
              </a:rPr>
              <a:t>CSS saves a lot of work. It can control the layout of multiple web pages all at once.</a:t>
            </a:r>
          </a:p>
          <a:p>
            <a:br>
              <a:rPr lang="en-US" sz="1634" dirty="0"/>
            </a:br>
            <a:endParaRPr lang="en-IN" sz="1634" dirty="0"/>
          </a:p>
        </p:txBody>
      </p:sp>
      <p:sp>
        <p:nvSpPr>
          <p:cNvPr id="3" name="Rectangle 2"/>
          <p:cNvSpPr/>
          <p:nvPr/>
        </p:nvSpPr>
        <p:spPr>
          <a:xfrm>
            <a:off x="259976" y="3409840"/>
            <a:ext cx="10214595" cy="1349728"/>
          </a:xfrm>
          <a:prstGeom prst="rect">
            <a:avLst/>
          </a:prstGeom>
        </p:spPr>
        <p:txBody>
          <a:bodyPr wrap="square">
            <a:spAutoFit/>
          </a:bodyPr>
          <a:lstStyle/>
          <a:p>
            <a:pPr algn="just"/>
            <a:r>
              <a:rPr lang="en-US" sz="1634" dirty="0">
                <a:latin typeface="Verdana" panose="020B0604030504040204" pitchFamily="34" charset="0"/>
              </a:rPr>
              <a:t>With CSS, you can control the color, font, the size of text, the spacing between elements, how elements are positioned and laid out, what background images or background colors are to be used, different displays for different devices and screen sizes, and much more!</a:t>
            </a:r>
          </a:p>
          <a:p>
            <a:pPr algn="just"/>
            <a:br>
              <a:rPr lang="en-US" sz="1634" dirty="0">
                <a:latin typeface="Verdana" panose="020B0604030504040204" pitchFamily="34" charset="0"/>
              </a:rPr>
            </a:br>
            <a:endParaRPr lang="en-IN" sz="1634"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circle(in)">
                                      <p:cBhvr>
                                        <p:cTn id="7" dur="20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circle(in)">
                                      <p:cBhvr>
                                        <p:cTn id="12" dur="2000"/>
                                        <p:tgtEl>
                                          <p:spTgt spid="2">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circle(in)">
                                      <p:cBhvr>
                                        <p:cTn id="17" dur="2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6" name="Rectangle 5"/>
          <p:cNvSpPr/>
          <p:nvPr/>
        </p:nvSpPr>
        <p:spPr>
          <a:xfrm>
            <a:off x="1586726" y="1533798"/>
            <a:ext cx="8551867" cy="2355645"/>
          </a:xfrm>
          <a:prstGeom prst="rect">
            <a:avLst/>
          </a:prstGeom>
        </p:spPr>
        <p:txBody>
          <a:bodyPr wrap="square">
            <a:spAutoFit/>
          </a:bodyPr>
          <a:lstStyle/>
          <a:p>
            <a:r>
              <a:rPr lang="en-US" sz="1634" dirty="0"/>
              <a:t>CSS can be added to HTML documents in 3 ways:</a:t>
            </a:r>
          </a:p>
          <a:p>
            <a:endParaRPr lang="en-US" sz="1634" dirty="0"/>
          </a:p>
          <a:p>
            <a:endParaRPr lang="en-US" sz="1634" dirty="0"/>
          </a:p>
          <a:p>
            <a:endParaRPr lang="en-US" sz="1634" dirty="0"/>
          </a:p>
          <a:p>
            <a:pPr marL="311216" indent="-311216">
              <a:buFont typeface="+mj-lt"/>
              <a:buAutoNum type="arabicPeriod"/>
            </a:pPr>
            <a:r>
              <a:rPr lang="en-US" sz="1634" dirty="0"/>
              <a:t>Inline - by using the style attribute inside HTML elements</a:t>
            </a:r>
          </a:p>
          <a:p>
            <a:pPr marL="311216" indent="-311216">
              <a:buFont typeface="+mj-lt"/>
              <a:buAutoNum type="arabicPeriod"/>
            </a:pPr>
            <a:endParaRPr lang="en-US" sz="1634" dirty="0"/>
          </a:p>
          <a:p>
            <a:pPr marL="311216" indent="-311216">
              <a:buFont typeface="+mj-lt"/>
              <a:buAutoNum type="arabicPeriod"/>
            </a:pPr>
            <a:r>
              <a:rPr lang="en-US" sz="1634" dirty="0"/>
              <a:t>Internal - by using a &lt;style&gt; element in the &lt;head&gt; section</a:t>
            </a:r>
          </a:p>
          <a:p>
            <a:pPr marL="311216" indent="-311216">
              <a:buFont typeface="+mj-lt"/>
              <a:buAutoNum type="arabicPeriod"/>
            </a:pPr>
            <a:endParaRPr lang="en-US" sz="1634" dirty="0"/>
          </a:p>
          <a:p>
            <a:pPr marL="311216" indent="-311216">
              <a:buFont typeface="+mj-lt"/>
              <a:buAutoNum type="arabicPeriod"/>
            </a:pPr>
            <a:r>
              <a:rPr lang="en-US" sz="1634" dirty="0"/>
              <a:t>External - by using a &lt;link&gt; element to link to an external CSS file</a:t>
            </a:r>
          </a:p>
        </p:txBody>
      </p:sp>
      <p:sp>
        <p:nvSpPr>
          <p:cNvPr id="2" name="Google Shape;174;p7">
            <a:extLst>
              <a:ext uri="{FF2B5EF4-FFF2-40B4-BE49-F238E27FC236}">
                <a16:creationId xmlns:a16="http://schemas.microsoft.com/office/drawing/2014/main" id="{5E9F9B5A-F8B9-E4BF-5C6D-77B1B839CB11}"/>
              </a:ext>
            </a:extLst>
          </p:cNvPr>
          <p:cNvSpPr/>
          <p:nvPr/>
        </p:nvSpPr>
        <p:spPr>
          <a:xfrm>
            <a:off x="0" y="-31196"/>
            <a:ext cx="12192000" cy="1083768"/>
          </a:xfrm>
          <a:prstGeom prst="rect">
            <a:avLst/>
          </a:prstGeom>
          <a:solidFill>
            <a:schemeClr val="accent1">
              <a:lumMod val="75000"/>
            </a:schemeClr>
          </a:solidFill>
          <a:ln>
            <a:noFill/>
          </a:ln>
        </p:spPr>
        <p:txBody>
          <a:bodyPr spcFirstLastPara="1" wrap="square" lIns="72775" tIns="36378" rIns="72775" bIns="36378" anchor="ctr" anchorCtr="0">
            <a:noAutofit/>
          </a:bodyPr>
          <a:lstStyle/>
          <a:p>
            <a:r>
              <a:rPr lang="en-US" sz="4800" b="1" dirty="0">
                <a:latin typeface="Lato" panose="020F0502020204030203" pitchFamily="34" charset="0"/>
              </a:rPr>
              <a:t>CSS</a:t>
            </a:r>
          </a:p>
        </p:txBody>
      </p:sp>
    </p:spTree>
    <p:extLst>
      <p:ext uri="{BB962C8B-B14F-4D97-AF65-F5344CB8AC3E}">
        <p14:creationId xmlns:p14="http://schemas.microsoft.com/office/powerpoint/2010/main" val="3019681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ircle(in)">
                                      <p:cBhvr>
                                        <p:cTn id="7" dur="2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6">
                                            <p:txEl>
                                              <p:pRg st="4" end="4"/>
                                            </p:txEl>
                                          </p:spTgt>
                                        </p:tgtEl>
                                        <p:attrNameLst>
                                          <p:attrName>style.visibility</p:attrName>
                                        </p:attrNameLst>
                                      </p:cBhvr>
                                      <p:to>
                                        <p:strVal val="visible"/>
                                      </p:to>
                                    </p:set>
                                    <p:anim calcmode="lin" valueType="num">
                                      <p:cBhvr additive="base">
                                        <p:cTn id="12" dur="500" fill="hold"/>
                                        <p:tgtEl>
                                          <p:spTgt spid="6">
                                            <p:txEl>
                                              <p:pRg st="4" end="4"/>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6">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 calcmode="lin" valueType="num">
                                      <p:cBhvr additive="base">
                                        <p:cTn id="18" dur="500" fill="hold"/>
                                        <p:tgtEl>
                                          <p:spTgt spid="6">
                                            <p:txEl>
                                              <p:pRg st="6" end="6"/>
                                            </p:txEl>
                                          </p:spTgt>
                                        </p:tgtEl>
                                        <p:attrNameLst>
                                          <p:attrName>ppt_x</p:attrName>
                                        </p:attrNameLst>
                                      </p:cBhvr>
                                      <p:tavLst>
                                        <p:tav tm="0">
                                          <p:val>
                                            <p:strVal val="0-#ppt_w/2"/>
                                          </p:val>
                                        </p:tav>
                                        <p:tav tm="100000">
                                          <p:val>
                                            <p:strVal val="#ppt_x"/>
                                          </p:val>
                                        </p:tav>
                                      </p:tavLst>
                                    </p:anim>
                                    <p:anim calcmode="lin" valueType="num">
                                      <p:cBhvr additive="base">
                                        <p:cTn id="19" dur="500" fill="hold"/>
                                        <p:tgtEl>
                                          <p:spTgt spid="6">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 calcmode="lin" valueType="num">
                                      <p:cBhvr additive="base">
                                        <p:cTn id="24" dur="500" fill="hold"/>
                                        <p:tgtEl>
                                          <p:spTgt spid="6">
                                            <p:txEl>
                                              <p:pRg st="8" end="8"/>
                                            </p:txEl>
                                          </p:spTgt>
                                        </p:tgtEl>
                                        <p:attrNameLst>
                                          <p:attrName>ppt_x</p:attrName>
                                        </p:attrNameLst>
                                      </p:cBhvr>
                                      <p:tavLst>
                                        <p:tav tm="0">
                                          <p:val>
                                            <p:strVal val="0-#ppt_w/2"/>
                                          </p:val>
                                        </p:tav>
                                        <p:tav tm="100000">
                                          <p:val>
                                            <p:strVal val="#ppt_x"/>
                                          </p:val>
                                        </p:tav>
                                      </p:tavLst>
                                    </p:anim>
                                    <p:anim calcmode="lin" valueType="num">
                                      <p:cBhvr additive="base">
                                        <p:cTn id="25" dur="500" fill="hold"/>
                                        <p:tgtEl>
                                          <p:spTgt spid="6">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3" name="Rectangle 2"/>
          <p:cNvSpPr/>
          <p:nvPr/>
        </p:nvSpPr>
        <p:spPr>
          <a:xfrm>
            <a:off x="107577" y="1403094"/>
            <a:ext cx="10563050" cy="4953792"/>
          </a:xfrm>
          <a:prstGeom prst="rect">
            <a:avLst/>
          </a:prstGeom>
        </p:spPr>
        <p:txBody>
          <a:bodyPr wrap="square">
            <a:spAutoFit/>
          </a:bodyPr>
          <a:lstStyle/>
          <a:p>
            <a:endParaRPr lang="en-US" sz="1634" b="1" dirty="0">
              <a:solidFill>
                <a:schemeClr val="bg1"/>
              </a:solidFill>
              <a:highlight>
                <a:srgbClr val="000080"/>
              </a:highlight>
            </a:endParaRPr>
          </a:p>
          <a:p>
            <a:endParaRPr lang="en-US" sz="1634" dirty="0">
              <a:solidFill>
                <a:schemeClr val="bg1"/>
              </a:solidFill>
            </a:endParaRPr>
          </a:p>
          <a:p>
            <a:r>
              <a:rPr lang="en-US" sz="1634" dirty="0"/>
              <a:t>An inline CSS is used to apply a unique style to a single HTML element.</a:t>
            </a:r>
          </a:p>
          <a:p>
            <a:endParaRPr lang="en-US" sz="1634" dirty="0"/>
          </a:p>
          <a:p>
            <a:endParaRPr lang="en-US" sz="1634" dirty="0"/>
          </a:p>
          <a:p>
            <a:r>
              <a:rPr lang="en-US" sz="1634" dirty="0"/>
              <a:t>An inline CSS uses the style attribute of an HTML element.</a:t>
            </a:r>
          </a:p>
          <a:p>
            <a:endParaRPr lang="en-US" sz="1634" dirty="0"/>
          </a:p>
          <a:p>
            <a:endParaRPr lang="en-US" sz="1634" dirty="0"/>
          </a:p>
          <a:p>
            <a:endParaRPr lang="en-US" sz="1634" dirty="0"/>
          </a:p>
          <a:p>
            <a:r>
              <a:rPr lang="en-US" sz="1634" dirty="0"/>
              <a:t>The following example sets the text color of the &lt;h1&gt; element to blue, and the text color of the &lt;p&gt; element to red:</a:t>
            </a:r>
          </a:p>
          <a:p>
            <a:endParaRPr lang="en-US" sz="1634" dirty="0"/>
          </a:p>
          <a:p>
            <a:endParaRPr lang="en-US" sz="1634" dirty="0"/>
          </a:p>
          <a:p>
            <a:endParaRPr lang="en-US" sz="1634" dirty="0"/>
          </a:p>
          <a:p>
            <a:endParaRPr lang="en-US" sz="1634" dirty="0"/>
          </a:p>
          <a:p>
            <a:r>
              <a:rPr lang="en-US" sz="1452" b="1" dirty="0"/>
              <a:t>Example</a:t>
            </a:r>
          </a:p>
          <a:p>
            <a:endParaRPr lang="en-US" sz="1452" b="1" dirty="0"/>
          </a:p>
          <a:p>
            <a:endParaRPr lang="en-US" sz="1452" b="1" dirty="0"/>
          </a:p>
          <a:p>
            <a:r>
              <a:rPr lang="en-US" sz="1452" b="1" dirty="0"/>
              <a:t>&lt;h1 style="</a:t>
            </a:r>
            <a:r>
              <a:rPr lang="en-US" sz="1452" b="1" dirty="0" err="1"/>
              <a:t>color:red</a:t>
            </a:r>
            <a:r>
              <a:rPr lang="en-US" sz="1452" b="1" dirty="0"/>
              <a:t>;"&gt;Masai&lt;/h1&gt;</a:t>
            </a:r>
          </a:p>
          <a:p>
            <a:endParaRPr lang="en-US" sz="1452" b="1" dirty="0"/>
          </a:p>
          <a:p>
            <a:r>
              <a:rPr lang="en-US" sz="1452" b="1" dirty="0"/>
              <a:t>&lt;p style="</a:t>
            </a:r>
            <a:r>
              <a:rPr lang="en-US" sz="1452" b="1" dirty="0" err="1"/>
              <a:t>color:blue</a:t>
            </a:r>
            <a:r>
              <a:rPr lang="en-US" sz="1452" b="1" dirty="0"/>
              <a:t>;"&gt;Information related Masai&lt;/p&gt;</a:t>
            </a:r>
          </a:p>
        </p:txBody>
      </p:sp>
      <p:sp>
        <p:nvSpPr>
          <p:cNvPr id="2" name="Google Shape;174;p7">
            <a:extLst>
              <a:ext uri="{FF2B5EF4-FFF2-40B4-BE49-F238E27FC236}">
                <a16:creationId xmlns:a16="http://schemas.microsoft.com/office/drawing/2014/main" id="{A5776112-BE0E-9765-089C-CDCB94E5B724}"/>
              </a:ext>
            </a:extLst>
          </p:cNvPr>
          <p:cNvSpPr/>
          <p:nvPr/>
        </p:nvSpPr>
        <p:spPr>
          <a:xfrm>
            <a:off x="0" y="-31196"/>
            <a:ext cx="12192000" cy="1083768"/>
          </a:xfrm>
          <a:prstGeom prst="rect">
            <a:avLst/>
          </a:prstGeom>
          <a:solidFill>
            <a:schemeClr val="accent1">
              <a:lumMod val="75000"/>
            </a:schemeClr>
          </a:solidFill>
          <a:ln>
            <a:noFill/>
          </a:ln>
        </p:spPr>
        <p:txBody>
          <a:bodyPr spcFirstLastPara="1" wrap="square" lIns="72775" tIns="36378" rIns="72775" bIns="36378" anchor="ctr" anchorCtr="0">
            <a:noAutofit/>
          </a:bodyPr>
          <a:lstStyle/>
          <a:p>
            <a:r>
              <a:rPr lang="en-US" sz="4800" b="1" dirty="0">
                <a:latin typeface="Lato" panose="020F0502020204030203" pitchFamily="34" charset="0"/>
              </a:rPr>
              <a:t>Inline CSS</a:t>
            </a:r>
          </a:p>
        </p:txBody>
      </p:sp>
    </p:spTree>
    <p:extLst>
      <p:ext uri="{BB962C8B-B14F-4D97-AF65-F5344CB8AC3E}">
        <p14:creationId xmlns:p14="http://schemas.microsoft.com/office/powerpoint/2010/main" val="867865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20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circle(in)">
                                      <p:cBhvr>
                                        <p:cTn id="12" dur="20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animEffect transition="in" filter="circle(in)">
                                      <p:cBhvr>
                                        <p:cTn id="17" dur="2000"/>
                                        <p:tgtEl>
                                          <p:spTgt spid="3">
                                            <p:txEl>
                                              <p:pRg st="9" end="9"/>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14" end="14"/>
                                            </p:txEl>
                                          </p:spTgt>
                                        </p:tgtEl>
                                        <p:attrNameLst>
                                          <p:attrName>style.visibility</p:attrName>
                                        </p:attrNameLst>
                                      </p:cBhvr>
                                      <p:to>
                                        <p:strVal val="visible"/>
                                      </p:to>
                                    </p:set>
                                    <p:animEffect transition="in" filter="circle(in)">
                                      <p:cBhvr>
                                        <p:cTn id="22" dur="2000"/>
                                        <p:tgtEl>
                                          <p:spTgt spid="3">
                                            <p:txEl>
                                              <p:pRg st="14" end="1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17" end="17"/>
                                            </p:txEl>
                                          </p:spTgt>
                                        </p:tgtEl>
                                        <p:attrNameLst>
                                          <p:attrName>style.visibility</p:attrName>
                                        </p:attrNameLst>
                                      </p:cBhvr>
                                      <p:to>
                                        <p:strVal val="visible"/>
                                      </p:to>
                                    </p:set>
                                    <p:animEffect transition="in" filter="circle(in)">
                                      <p:cBhvr>
                                        <p:cTn id="27" dur="2000"/>
                                        <p:tgtEl>
                                          <p:spTgt spid="3">
                                            <p:txEl>
                                              <p:pRg st="17" end="17"/>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19" end="19"/>
                                            </p:txEl>
                                          </p:spTgt>
                                        </p:tgtEl>
                                        <p:attrNameLst>
                                          <p:attrName>style.visibility</p:attrName>
                                        </p:attrNameLst>
                                      </p:cBhvr>
                                      <p:to>
                                        <p:strVal val="visible"/>
                                      </p:to>
                                    </p:set>
                                    <p:animEffect transition="in" filter="circle(in)">
                                      <p:cBhvr>
                                        <p:cTn id="32" dur="2000"/>
                                        <p:tgtEl>
                                          <p:spTgt spid="3">
                                            <p:txEl>
                                              <p:pRg st="19" end="1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4" name="Rectangle 3"/>
          <p:cNvSpPr/>
          <p:nvPr/>
        </p:nvSpPr>
        <p:spPr>
          <a:xfrm>
            <a:off x="125506" y="1146884"/>
            <a:ext cx="10696353" cy="7239546"/>
          </a:xfrm>
          <a:prstGeom prst="rect">
            <a:avLst/>
          </a:prstGeom>
        </p:spPr>
        <p:txBody>
          <a:bodyPr wrap="square">
            <a:spAutoFit/>
          </a:bodyPr>
          <a:lstStyle/>
          <a:p>
            <a:r>
              <a:rPr lang="en-US" sz="1634" dirty="0"/>
              <a:t>An internal CSS is used to define a style for a single HTML page.</a:t>
            </a:r>
          </a:p>
          <a:p>
            <a:endParaRPr lang="en-US" sz="1634" dirty="0"/>
          </a:p>
          <a:p>
            <a:r>
              <a:rPr lang="en-US" sz="1634" dirty="0"/>
              <a:t>An internal CSS is defined in the &lt;head&gt; section of an HTML page, within a &lt;style&gt; element.</a:t>
            </a:r>
          </a:p>
          <a:p>
            <a:endParaRPr lang="en-US" sz="1634" dirty="0"/>
          </a:p>
          <a:p>
            <a:r>
              <a:rPr lang="en-US" sz="1634" dirty="0"/>
              <a:t>e.g.;</a:t>
            </a:r>
          </a:p>
          <a:p>
            <a:endParaRPr lang="en-US" sz="1634" dirty="0"/>
          </a:p>
          <a:p>
            <a:r>
              <a:rPr lang="en-US" sz="1200" b="1" dirty="0"/>
              <a:t>&lt;html&gt;</a:t>
            </a:r>
          </a:p>
          <a:p>
            <a:r>
              <a:rPr lang="en-US" sz="1200" b="1" dirty="0"/>
              <a:t>&lt;head&gt;</a:t>
            </a:r>
          </a:p>
          <a:p>
            <a:r>
              <a:rPr lang="en-US" sz="1200" b="1" dirty="0"/>
              <a:t>&lt;style&gt;</a:t>
            </a:r>
          </a:p>
          <a:p>
            <a:r>
              <a:rPr lang="en-IN" sz="1200" b="1" dirty="0"/>
              <a:t>    body {</a:t>
            </a:r>
          </a:p>
          <a:p>
            <a:r>
              <a:rPr lang="en-IN" sz="1200" b="1" dirty="0"/>
              <a:t>         border-</a:t>
            </a:r>
            <a:r>
              <a:rPr lang="en-IN" sz="1200" b="1" dirty="0" err="1"/>
              <a:t>color</a:t>
            </a:r>
            <a:r>
              <a:rPr lang="en-IN" sz="1200" b="1" dirty="0"/>
              <a:t>: aqua;</a:t>
            </a:r>
          </a:p>
          <a:p>
            <a:r>
              <a:rPr lang="en-IN" sz="1200" b="1" dirty="0"/>
              <a:t>            </a:t>
            </a:r>
          </a:p>
          <a:p>
            <a:r>
              <a:rPr lang="en-IN" sz="1200" b="1" dirty="0"/>
              <a:t>	}</a:t>
            </a:r>
          </a:p>
          <a:p>
            <a:r>
              <a:rPr lang="en-IN" sz="1200" b="1" dirty="0"/>
              <a:t>       h1 {</a:t>
            </a:r>
          </a:p>
          <a:p>
            <a:r>
              <a:rPr lang="en-IN" sz="1200" b="1" dirty="0"/>
              <a:t>            </a:t>
            </a:r>
            <a:r>
              <a:rPr lang="en-IN" sz="1200" b="1" dirty="0" err="1"/>
              <a:t>color</a:t>
            </a:r>
            <a:r>
              <a:rPr lang="en-IN" sz="1200" b="1" dirty="0"/>
              <a:t>: aqua;</a:t>
            </a:r>
          </a:p>
          <a:p>
            <a:r>
              <a:rPr lang="en-IN" sz="1200" b="1" dirty="0"/>
              <a:t>        }</a:t>
            </a:r>
          </a:p>
          <a:p>
            <a:r>
              <a:rPr lang="en-IN" sz="1200" b="1" dirty="0"/>
              <a:t>    p {</a:t>
            </a:r>
          </a:p>
          <a:p>
            <a:r>
              <a:rPr lang="en-IN" sz="1200" b="1" dirty="0"/>
              <a:t>            </a:t>
            </a:r>
            <a:r>
              <a:rPr lang="en-IN" sz="1200" b="1" dirty="0" err="1"/>
              <a:t>color</a:t>
            </a:r>
            <a:r>
              <a:rPr lang="en-IN" sz="1200" b="1" dirty="0"/>
              <a:t>: yellow</a:t>
            </a:r>
          </a:p>
          <a:p>
            <a:r>
              <a:rPr lang="en-IN" sz="1200" b="1" dirty="0"/>
              <a:t>        }</a:t>
            </a:r>
          </a:p>
          <a:p>
            <a:r>
              <a:rPr lang="en-IN" sz="1200" b="1" dirty="0"/>
              <a:t> &lt;/style&gt;</a:t>
            </a:r>
          </a:p>
          <a:p>
            <a:r>
              <a:rPr lang="en-US" sz="1200" b="1" dirty="0"/>
              <a:t>&lt;/head&gt;</a:t>
            </a:r>
          </a:p>
          <a:p>
            <a:r>
              <a:rPr lang="en-US" sz="1200" b="1" dirty="0"/>
              <a:t>&lt;body&gt;</a:t>
            </a:r>
          </a:p>
          <a:p>
            <a:r>
              <a:rPr lang="en-US" sz="1200" b="1" dirty="0"/>
              <a:t>&lt;h1&gt;</a:t>
            </a:r>
            <a:r>
              <a:rPr lang="en-US" sz="1200" b="1" dirty="0" err="1"/>
              <a:t>hiiiiii</a:t>
            </a:r>
            <a:r>
              <a:rPr lang="en-US" sz="1200" b="1" dirty="0"/>
              <a:t> how are you&lt;/h1&gt;</a:t>
            </a:r>
          </a:p>
          <a:p>
            <a:r>
              <a:rPr lang="en-US" sz="1200" b="1" dirty="0"/>
              <a:t>&lt;p&gt; welcome to our classes , there are many courses you can enroll for.</a:t>
            </a:r>
          </a:p>
          <a:p>
            <a:r>
              <a:rPr lang="en-US" sz="1200" b="1" dirty="0"/>
              <a:t>&lt;/body&gt;</a:t>
            </a:r>
          </a:p>
          <a:p>
            <a:r>
              <a:rPr lang="en-US" sz="1200" b="1" dirty="0"/>
              <a:t>&lt;/html&gt;</a:t>
            </a:r>
          </a:p>
          <a:p>
            <a:endParaRPr lang="en-IN" sz="1200" b="1" dirty="0"/>
          </a:p>
          <a:p>
            <a:endParaRPr lang="en-US" sz="1634" dirty="0"/>
          </a:p>
          <a:p>
            <a:endParaRPr lang="en-US" sz="1634" dirty="0"/>
          </a:p>
          <a:p>
            <a:endParaRPr lang="en-US" sz="1634" dirty="0"/>
          </a:p>
          <a:p>
            <a:endParaRPr lang="en-US" sz="1634" dirty="0"/>
          </a:p>
          <a:p>
            <a:endParaRPr lang="en-US" sz="1634" dirty="0"/>
          </a:p>
          <a:p>
            <a:endParaRPr lang="en-US" sz="1634" dirty="0"/>
          </a:p>
          <a:p>
            <a:endParaRPr lang="en-US" sz="1634" dirty="0"/>
          </a:p>
        </p:txBody>
      </p:sp>
      <p:sp>
        <p:nvSpPr>
          <p:cNvPr id="2" name="Google Shape;174;p7">
            <a:extLst>
              <a:ext uri="{FF2B5EF4-FFF2-40B4-BE49-F238E27FC236}">
                <a16:creationId xmlns:a16="http://schemas.microsoft.com/office/drawing/2014/main" id="{D4FCB4BB-4A31-2892-5262-1DA06568B49D}"/>
              </a:ext>
            </a:extLst>
          </p:cNvPr>
          <p:cNvSpPr/>
          <p:nvPr/>
        </p:nvSpPr>
        <p:spPr>
          <a:xfrm>
            <a:off x="0" y="-31196"/>
            <a:ext cx="12192000" cy="1083768"/>
          </a:xfrm>
          <a:prstGeom prst="rect">
            <a:avLst/>
          </a:prstGeom>
          <a:solidFill>
            <a:schemeClr val="accent1">
              <a:lumMod val="75000"/>
            </a:schemeClr>
          </a:solidFill>
          <a:ln>
            <a:noFill/>
          </a:ln>
        </p:spPr>
        <p:txBody>
          <a:bodyPr spcFirstLastPara="1" wrap="square" lIns="72775" tIns="36378" rIns="72775" bIns="36378" anchor="ctr" anchorCtr="0">
            <a:noAutofit/>
          </a:bodyPr>
          <a:lstStyle/>
          <a:p>
            <a:r>
              <a:rPr lang="en-US" sz="4800" b="1" dirty="0">
                <a:latin typeface="Lato" panose="020F0502020204030203" pitchFamily="34" charset="0"/>
              </a:rPr>
              <a:t>Internal CSS</a:t>
            </a:r>
          </a:p>
        </p:txBody>
      </p:sp>
      <p:sp>
        <p:nvSpPr>
          <p:cNvPr id="5" name="TextBox 4">
            <a:extLst>
              <a:ext uri="{FF2B5EF4-FFF2-40B4-BE49-F238E27FC236}">
                <a16:creationId xmlns:a16="http://schemas.microsoft.com/office/drawing/2014/main" id="{A0A2E8C3-4556-9848-212C-97C447E69816}"/>
              </a:ext>
            </a:extLst>
          </p:cNvPr>
          <p:cNvSpPr txBox="1"/>
          <p:nvPr/>
        </p:nvSpPr>
        <p:spPr>
          <a:xfrm>
            <a:off x="6759388" y="4766657"/>
            <a:ext cx="5235388" cy="1077218"/>
          </a:xfrm>
          <a:prstGeom prst="rect">
            <a:avLst/>
          </a:prstGeom>
          <a:noFill/>
        </p:spPr>
        <p:txBody>
          <a:bodyPr wrap="square">
            <a:spAutoFit/>
          </a:bodyPr>
          <a:lstStyle/>
          <a:p>
            <a:r>
              <a:rPr lang="en-US" sz="1400" b="0" dirty="0">
                <a:effectLst/>
                <a:latin typeface="Consolas" panose="020B0609020204030204" pitchFamily="49" charset="0"/>
              </a:rPr>
              <a:t>background-image</a:t>
            </a:r>
            <a:r>
              <a:rPr lang="en-US" sz="1600" b="0" dirty="0">
                <a:effectLst/>
                <a:latin typeface="Consolas" panose="020B0609020204030204" pitchFamily="49" charset="0"/>
              </a:rPr>
              <a:t>: </a:t>
            </a:r>
            <a:r>
              <a:rPr lang="en-US" sz="1600" b="0" dirty="0" err="1">
                <a:effectLst/>
                <a:latin typeface="Consolas" panose="020B0609020204030204" pitchFamily="49" charset="0"/>
              </a:rPr>
              <a:t>url</a:t>
            </a:r>
            <a:r>
              <a:rPr lang="en-US" sz="1600" b="0" dirty="0">
                <a:effectLst/>
                <a:latin typeface="Consolas" panose="020B0609020204030204" pitchFamily="49" charset="0"/>
              </a:rPr>
              <a:t>("img.jpg");   </a:t>
            </a:r>
          </a:p>
          <a:p>
            <a:r>
              <a:rPr lang="en-US" sz="1600" b="0" dirty="0">
                <a:effectLst/>
                <a:latin typeface="Consolas" panose="020B0609020204030204" pitchFamily="49" charset="0"/>
              </a:rPr>
              <a:t>background-repeat: no-repeat;            </a:t>
            </a:r>
          </a:p>
          <a:p>
            <a:r>
              <a:rPr lang="en-US" sz="1600" b="0" dirty="0" err="1">
                <a:effectLst/>
                <a:latin typeface="Consolas" panose="020B0609020204030204" pitchFamily="49" charset="0"/>
              </a:rPr>
              <a:t>background-size:</a:t>
            </a:r>
            <a:r>
              <a:rPr lang="en-US" sz="1600" dirty="0" err="1">
                <a:latin typeface="Consolas" panose="020B0609020204030204" pitchFamily="49" charset="0"/>
              </a:rPr>
              <a:t>cover</a:t>
            </a:r>
            <a:r>
              <a:rPr lang="en-US" sz="1600" b="0" dirty="0">
                <a:effectLst/>
                <a:latin typeface="Consolas" panose="020B0609020204030204" pitchFamily="49" charset="0"/>
              </a:rPr>
              <a:t>;  </a:t>
            </a:r>
          </a:p>
          <a:p>
            <a:r>
              <a:rPr lang="en-US" sz="1600" dirty="0" err="1">
                <a:latin typeface="Consolas" panose="020B0609020204030204" pitchFamily="49" charset="0"/>
              </a:rPr>
              <a:t>Background-attachment:fixed</a:t>
            </a:r>
            <a:r>
              <a:rPr lang="en-US" sz="1600" dirty="0">
                <a:latin typeface="Consolas" panose="020B0609020204030204" pitchFamily="49" charset="0"/>
              </a:rPr>
              <a:t>;</a:t>
            </a:r>
            <a:r>
              <a:rPr lang="en-US" sz="1600" b="0" dirty="0">
                <a:effectLst/>
                <a:latin typeface="Consolas" panose="020B0609020204030204" pitchFamily="49" charset="0"/>
              </a:rPr>
              <a:t>              </a:t>
            </a:r>
          </a:p>
        </p:txBody>
      </p:sp>
    </p:spTree>
    <p:extLst>
      <p:ext uri="{BB962C8B-B14F-4D97-AF65-F5344CB8AC3E}">
        <p14:creationId xmlns:p14="http://schemas.microsoft.com/office/powerpoint/2010/main" val="1613131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ircle(in)">
                                      <p:cBhvr>
                                        <p:cTn id="7" dur="20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circle(in)">
                                      <p:cBhvr>
                                        <p:cTn id="12" dur="20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circle(in)">
                                      <p:cBhvr>
                                        <p:cTn id="17" dur="2000"/>
                                        <p:tgtEl>
                                          <p:spTgt spid="4">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randombar(horizontal)">
                                      <p:cBhvr>
                                        <p:cTn id="22" dur="500"/>
                                        <p:tgtEl>
                                          <p:spTgt spid="4">
                                            <p:txEl>
                                              <p:pRg st="6" end="6"/>
                                            </p:txEl>
                                          </p:spTgt>
                                        </p:tgtEl>
                                      </p:cBhvr>
                                    </p:animEffect>
                                  </p:childTnLst>
                                </p:cTn>
                              </p:par>
                              <p:par>
                                <p:cTn id="23" presetID="14" presetClass="entr" presetSubtype="10" fill="hold" nodeType="withEffect">
                                  <p:stCondLst>
                                    <p:cond delay="0"/>
                                  </p:stCondLst>
                                  <p:childTnLst>
                                    <p:set>
                                      <p:cBhvr>
                                        <p:cTn id="24" dur="1" fill="hold">
                                          <p:stCondLst>
                                            <p:cond delay="0"/>
                                          </p:stCondLst>
                                        </p:cTn>
                                        <p:tgtEl>
                                          <p:spTgt spid="4">
                                            <p:txEl>
                                              <p:pRg st="7" end="7"/>
                                            </p:txEl>
                                          </p:spTgt>
                                        </p:tgtEl>
                                        <p:attrNameLst>
                                          <p:attrName>style.visibility</p:attrName>
                                        </p:attrNameLst>
                                      </p:cBhvr>
                                      <p:to>
                                        <p:strVal val="visible"/>
                                      </p:to>
                                    </p:set>
                                    <p:animEffect transition="in" filter="randombar(horizontal)">
                                      <p:cBhvr>
                                        <p:cTn id="25" dur="500"/>
                                        <p:tgtEl>
                                          <p:spTgt spid="4">
                                            <p:txEl>
                                              <p:pRg st="7" end="7"/>
                                            </p:txEl>
                                          </p:spTgt>
                                        </p:tgtEl>
                                      </p:cBhvr>
                                    </p:animEffect>
                                  </p:childTnLst>
                                </p:cTn>
                              </p:par>
                              <p:par>
                                <p:cTn id="26" presetID="14" presetClass="entr" presetSubtype="10" fill="hold" nodeType="withEffect">
                                  <p:stCondLst>
                                    <p:cond delay="0"/>
                                  </p:stCondLst>
                                  <p:childTnLst>
                                    <p:set>
                                      <p:cBhvr>
                                        <p:cTn id="27" dur="1" fill="hold">
                                          <p:stCondLst>
                                            <p:cond delay="0"/>
                                          </p:stCondLst>
                                        </p:cTn>
                                        <p:tgtEl>
                                          <p:spTgt spid="4">
                                            <p:txEl>
                                              <p:pRg st="8" end="8"/>
                                            </p:txEl>
                                          </p:spTgt>
                                        </p:tgtEl>
                                        <p:attrNameLst>
                                          <p:attrName>style.visibility</p:attrName>
                                        </p:attrNameLst>
                                      </p:cBhvr>
                                      <p:to>
                                        <p:strVal val="visible"/>
                                      </p:to>
                                    </p:set>
                                    <p:animEffect transition="in" filter="randombar(horizontal)">
                                      <p:cBhvr>
                                        <p:cTn id="28" dur="500"/>
                                        <p:tgtEl>
                                          <p:spTgt spid="4">
                                            <p:txEl>
                                              <p:pRg st="8" end="8"/>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animEffect transition="in" filter="randombar(horizontal)">
                                      <p:cBhvr>
                                        <p:cTn id="31" dur="500"/>
                                        <p:tgtEl>
                                          <p:spTgt spid="4">
                                            <p:txEl>
                                              <p:pRg st="9" end="9"/>
                                            </p:txEl>
                                          </p:spTgt>
                                        </p:tgtEl>
                                      </p:cBhvr>
                                    </p:animEffect>
                                  </p:childTnLst>
                                </p:cTn>
                              </p:par>
                              <p:par>
                                <p:cTn id="32" presetID="14" presetClass="entr" presetSubtype="10" fill="hold" nodeType="withEffect">
                                  <p:stCondLst>
                                    <p:cond delay="0"/>
                                  </p:stCondLst>
                                  <p:childTnLst>
                                    <p:set>
                                      <p:cBhvr>
                                        <p:cTn id="33" dur="1" fill="hold">
                                          <p:stCondLst>
                                            <p:cond delay="0"/>
                                          </p:stCondLst>
                                        </p:cTn>
                                        <p:tgtEl>
                                          <p:spTgt spid="4">
                                            <p:txEl>
                                              <p:pRg st="10" end="10"/>
                                            </p:txEl>
                                          </p:spTgt>
                                        </p:tgtEl>
                                        <p:attrNameLst>
                                          <p:attrName>style.visibility</p:attrName>
                                        </p:attrNameLst>
                                      </p:cBhvr>
                                      <p:to>
                                        <p:strVal val="visible"/>
                                      </p:to>
                                    </p:set>
                                    <p:animEffect transition="in" filter="randombar(horizontal)">
                                      <p:cBhvr>
                                        <p:cTn id="34" dur="500"/>
                                        <p:tgtEl>
                                          <p:spTgt spid="4">
                                            <p:txEl>
                                              <p:pRg st="10" end="10"/>
                                            </p:txEl>
                                          </p:spTgt>
                                        </p:tgtEl>
                                      </p:cBhvr>
                                    </p:animEffect>
                                  </p:childTnLst>
                                </p:cTn>
                              </p:par>
                              <p:par>
                                <p:cTn id="35" presetID="14" presetClass="entr" presetSubtype="10" fill="hold" nodeType="withEffect">
                                  <p:stCondLst>
                                    <p:cond delay="0"/>
                                  </p:stCondLst>
                                  <p:childTnLst>
                                    <p:set>
                                      <p:cBhvr>
                                        <p:cTn id="36" dur="1" fill="hold">
                                          <p:stCondLst>
                                            <p:cond delay="0"/>
                                          </p:stCondLst>
                                        </p:cTn>
                                        <p:tgtEl>
                                          <p:spTgt spid="4">
                                            <p:txEl>
                                              <p:pRg st="11" end="11"/>
                                            </p:txEl>
                                          </p:spTgt>
                                        </p:tgtEl>
                                        <p:attrNameLst>
                                          <p:attrName>style.visibility</p:attrName>
                                        </p:attrNameLst>
                                      </p:cBhvr>
                                      <p:to>
                                        <p:strVal val="visible"/>
                                      </p:to>
                                    </p:set>
                                    <p:animEffect transition="in" filter="randombar(horizontal)">
                                      <p:cBhvr>
                                        <p:cTn id="37" dur="500"/>
                                        <p:tgtEl>
                                          <p:spTgt spid="4">
                                            <p:txEl>
                                              <p:pRg st="11" end="11"/>
                                            </p:txEl>
                                          </p:spTgt>
                                        </p:tgtEl>
                                      </p:cBhvr>
                                    </p:animEffect>
                                  </p:childTnLst>
                                </p:cTn>
                              </p:par>
                              <p:par>
                                <p:cTn id="38" presetID="14" presetClass="entr" presetSubtype="10" fill="hold" nodeType="withEffect">
                                  <p:stCondLst>
                                    <p:cond delay="0"/>
                                  </p:stCondLst>
                                  <p:childTnLst>
                                    <p:set>
                                      <p:cBhvr>
                                        <p:cTn id="39" dur="1" fill="hold">
                                          <p:stCondLst>
                                            <p:cond delay="0"/>
                                          </p:stCondLst>
                                        </p:cTn>
                                        <p:tgtEl>
                                          <p:spTgt spid="4">
                                            <p:txEl>
                                              <p:pRg st="12" end="12"/>
                                            </p:txEl>
                                          </p:spTgt>
                                        </p:tgtEl>
                                        <p:attrNameLst>
                                          <p:attrName>style.visibility</p:attrName>
                                        </p:attrNameLst>
                                      </p:cBhvr>
                                      <p:to>
                                        <p:strVal val="visible"/>
                                      </p:to>
                                    </p:set>
                                    <p:animEffect transition="in" filter="randombar(horizontal)">
                                      <p:cBhvr>
                                        <p:cTn id="40" dur="500"/>
                                        <p:tgtEl>
                                          <p:spTgt spid="4">
                                            <p:txEl>
                                              <p:pRg st="12" end="12"/>
                                            </p:txEl>
                                          </p:spTgt>
                                        </p:tgtEl>
                                      </p:cBhvr>
                                    </p:animEffect>
                                  </p:childTnLst>
                                </p:cTn>
                              </p:par>
                              <p:par>
                                <p:cTn id="41" presetID="14" presetClass="entr" presetSubtype="10" fill="hold" nodeType="withEffect">
                                  <p:stCondLst>
                                    <p:cond delay="0"/>
                                  </p:stCondLst>
                                  <p:childTnLst>
                                    <p:set>
                                      <p:cBhvr>
                                        <p:cTn id="42" dur="1" fill="hold">
                                          <p:stCondLst>
                                            <p:cond delay="0"/>
                                          </p:stCondLst>
                                        </p:cTn>
                                        <p:tgtEl>
                                          <p:spTgt spid="4">
                                            <p:txEl>
                                              <p:pRg st="13" end="13"/>
                                            </p:txEl>
                                          </p:spTgt>
                                        </p:tgtEl>
                                        <p:attrNameLst>
                                          <p:attrName>style.visibility</p:attrName>
                                        </p:attrNameLst>
                                      </p:cBhvr>
                                      <p:to>
                                        <p:strVal val="visible"/>
                                      </p:to>
                                    </p:set>
                                    <p:animEffect transition="in" filter="randombar(horizontal)">
                                      <p:cBhvr>
                                        <p:cTn id="43" dur="500"/>
                                        <p:tgtEl>
                                          <p:spTgt spid="4">
                                            <p:txEl>
                                              <p:pRg st="13" end="13"/>
                                            </p:txEl>
                                          </p:spTgt>
                                        </p:tgtEl>
                                      </p:cBhvr>
                                    </p:animEffect>
                                  </p:childTnLst>
                                </p:cTn>
                              </p:par>
                              <p:par>
                                <p:cTn id="44" presetID="14" presetClass="entr" presetSubtype="10" fill="hold" nodeType="withEffect">
                                  <p:stCondLst>
                                    <p:cond delay="0"/>
                                  </p:stCondLst>
                                  <p:childTnLst>
                                    <p:set>
                                      <p:cBhvr>
                                        <p:cTn id="45" dur="1" fill="hold">
                                          <p:stCondLst>
                                            <p:cond delay="0"/>
                                          </p:stCondLst>
                                        </p:cTn>
                                        <p:tgtEl>
                                          <p:spTgt spid="4">
                                            <p:txEl>
                                              <p:pRg st="14" end="14"/>
                                            </p:txEl>
                                          </p:spTgt>
                                        </p:tgtEl>
                                        <p:attrNameLst>
                                          <p:attrName>style.visibility</p:attrName>
                                        </p:attrNameLst>
                                      </p:cBhvr>
                                      <p:to>
                                        <p:strVal val="visible"/>
                                      </p:to>
                                    </p:set>
                                    <p:animEffect transition="in" filter="randombar(horizontal)">
                                      <p:cBhvr>
                                        <p:cTn id="46" dur="500"/>
                                        <p:tgtEl>
                                          <p:spTgt spid="4">
                                            <p:txEl>
                                              <p:pRg st="14" end="14"/>
                                            </p:txEl>
                                          </p:spTgt>
                                        </p:tgtEl>
                                      </p:cBhvr>
                                    </p:animEffect>
                                  </p:childTnLst>
                                </p:cTn>
                              </p:par>
                              <p:par>
                                <p:cTn id="47" presetID="14" presetClass="entr" presetSubtype="10" fill="hold" nodeType="withEffect">
                                  <p:stCondLst>
                                    <p:cond delay="0"/>
                                  </p:stCondLst>
                                  <p:childTnLst>
                                    <p:set>
                                      <p:cBhvr>
                                        <p:cTn id="48" dur="1" fill="hold">
                                          <p:stCondLst>
                                            <p:cond delay="0"/>
                                          </p:stCondLst>
                                        </p:cTn>
                                        <p:tgtEl>
                                          <p:spTgt spid="4">
                                            <p:txEl>
                                              <p:pRg st="15" end="15"/>
                                            </p:txEl>
                                          </p:spTgt>
                                        </p:tgtEl>
                                        <p:attrNameLst>
                                          <p:attrName>style.visibility</p:attrName>
                                        </p:attrNameLst>
                                      </p:cBhvr>
                                      <p:to>
                                        <p:strVal val="visible"/>
                                      </p:to>
                                    </p:set>
                                    <p:animEffect transition="in" filter="randombar(horizontal)">
                                      <p:cBhvr>
                                        <p:cTn id="49" dur="500"/>
                                        <p:tgtEl>
                                          <p:spTgt spid="4">
                                            <p:txEl>
                                              <p:pRg st="15" end="15"/>
                                            </p:txEl>
                                          </p:spTgt>
                                        </p:tgtEl>
                                      </p:cBhvr>
                                    </p:animEffect>
                                  </p:childTnLst>
                                </p:cTn>
                              </p:par>
                              <p:par>
                                <p:cTn id="50" presetID="14" presetClass="entr" presetSubtype="10" fill="hold" nodeType="withEffect">
                                  <p:stCondLst>
                                    <p:cond delay="0"/>
                                  </p:stCondLst>
                                  <p:childTnLst>
                                    <p:set>
                                      <p:cBhvr>
                                        <p:cTn id="51" dur="1" fill="hold">
                                          <p:stCondLst>
                                            <p:cond delay="0"/>
                                          </p:stCondLst>
                                        </p:cTn>
                                        <p:tgtEl>
                                          <p:spTgt spid="4">
                                            <p:txEl>
                                              <p:pRg st="16" end="16"/>
                                            </p:txEl>
                                          </p:spTgt>
                                        </p:tgtEl>
                                        <p:attrNameLst>
                                          <p:attrName>style.visibility</p:attrName>
                                        </p:attrNameLst>
                                      </p:cBhvr>
                                      <p:to>
                                        <p:strVal val="visible"/>
                                      </p:to>
                                    </p:set>
                                    <p:animEffect transition="in" filter="randombar(horizontal)">
                                      <p:cBhvr>
                                        <p:cTn id="52" dur="500"/>
                                        <p:tgtEl>
                                          <p:spTgt spid="4">
                                            <p:txEl>
                                              <p:pRg st="16" end="16"/>
                                            </p:txEl>
                                          </p:spTgt>
                                        </p:tgtEl>
                                      </p:cBhvr>
                                    </p:animEffect>
                                  </p:childTnLst>
                                </p:cTn>
                              </p:par>
                              <p:par>
                                <p:cTn id="53" presetID="14" presetClass="entr" presetSubtype="10" fill="hold" nodeType="withEffect">
                                  <p:stCondLst>
                                    <p:cond delay="0"/>
                                  </p:stCondLst>
                                  <p:childTnLst>
                                    <p:set>
                                      <p:cBhvr>
                                        <p:cTn id="54" dur="1" fill="hold">
                                          <p:stCondLst>
                                            <p:cond delay="0"/>
                                          </p:stCondLst>
                                        </p:cTn>
                                        <p:tgtEl>
                                          <p:spTgt spid="4">
                                            <p:txEl>
                                              <p:pRg st="17" end="17"/>
                                            </p:txEl>
                                          </p:spTgt>
                                        </p:tgtEl>
                                        <p:attrNameLst>
                                          <p:attrName>style.visibility</p:attrName>
                                        </p:attrNameLst>
                                      </p:cBhvr>
                                      <p:to>
                                        <p:strVal val="visible"/>
                                      </p:to>
                                    </p:set>
                                    <p:animEffect transition="in" filter="randombar(horizontal)">
                                      <p:cBhvr>
                                        <p:cTn id="55" dur="500"/>
                                        <p:tgtEl>
                                          <p:spTgt spid="4">
                                            <p:txEl>
                                              <p:pRg st="17" end="17"/>
                                            </p:txEl>
                                          </p:spTgt>
                                        </p:tgtEl>
                                      </p:cBhvr>
                                    </p:animEffect>
                                  </p:childTnLst>
                                </p:cTn>
                              </p:par>
                              <p:par>
                                <p:cTn id="56" presetID="14" presetClass="entr" presetSubtype="10" fill="hold" nodeType="withEffect">
                                  <p:stCondLst>
                                    <p:cond delay="0"/>
                                  </p:stCondLst>
                                  <p:childTnLst>
                                    <p:set>
                                      <p:cBhvr>
                                        <p:cTn id="57" dur="1" fill="hold">
                                          <p:stCondLst>
                                            <p:cond delay="0"/>
                                          </p:stCondLst>
                                        </p:cTn>
                                        <p:tgtEl>
                                          <p:spTgt spid="4">
                                            <p:txEl>
                                              <p:pRg st="18" end="18"/>
                                            </p:txEl>
                                          </p:spTgt>
                                        </p:tgtEl>
                                        <p:attrNameLst>
                                          <p:attrName>style.visibility</p:attrName>
                                        </p:attrNameLst>
                                      </p:cBhvr>
                                      <p:to>
                                        <p:strVal val="visible"/>
                                      </p:to>
                                    </p:set>
                                    <p:animEffect transition="in" filter="randombar(horizontal)">
                                      <p:cBhvr>
                                        <p:cTn id="58" dur="500"/>
                                        <p:tgtEl>
                                          <p:spTgt spid="4">
                                            <p:txEl>
                                              <p:pRg st="18" end="18"/>
                                            </p:txEl>
                                          </p:spTgt>
                                        </p:tgtEl>
                                      </p:cBhvr>
                                    </p:animEffect>
                                  </p:childTnLst>
                                </p:cTn>
                              </p:par>
                              <p:par>
                                <p:cTn id="59" presetID="14" presetClass="entr" presetSubtype="10" fill="hold" nodeType="withEffect">
                                  <p:stCondLst>
                                    <p:cond delay="0"/>
                                  </p:stCondLst>
                                  <p:childTnLst>
                                    <p:set>
                                      <p:cBhvr>
                                        <p:cTn id="60" dur="1" fill="hold">
                                          <p:stCondLst>
                                            <p:cond delay="0"/>
                                          </p:stCondLst>
                                        </p:cTn>
                                        <p:tgtEl>
                                          <p:spTgt spid="4">
                                            <p:txEl>
                                              <p:pRg st="19" end="19"/>
                                            </p:txEl>
                                          </p:spTgt>
                                        </p:tgtEl>
                                        <p:attrNameLst>
                                          <p:attrName>style.visibility</p:attrName>
                                        </p:attrNameLst>
                                      </p:cBhvr>
                                      <p:to>
                                        <p:strVal val="visible"/>
                                      </p:to>
                                    </p:set>
                                    <p:animEffect transition="in" filter="randombar(horizontal)">
                                      <p:cBhvr>
                                        <p:cTn id="61" dur="500"/>
                                        <p:tgtEl>
                                          <p:spTgt spid="4">
                                            <p:txEl>
                                              <p:pRg st="19" end="19"/>
                                            </p:txEl>
                                          </p:spTgt>
                                        </p:tgtEl>
                                      </p:cBhvr>
                                    </p:animEffect>
                                  </p:childTnLst>
                                </p:cTn>
                              </p:par>
                              <p:par>
                                <p:cTn id="62" presetID="14" presetClass="entr" presetSubtype="10" fill="hold" nodeType="withEffect">
                                  <p:stCondLst>
                                    <p:cond delay="0"/>
                                  </p:stCondLst>
                                  <p:childTnLst>
                                    <p:set>
                                      <p:cBhvr>
                                        <p:cTn id="63" dur="1" fill="hold">
                                          <p:stCondLst>
                                            <p:cond delay="0"/>
                                          </p:stCondLst>
                                        </p:cTn>
                                        <p:tgtEl>
                                          <p:spTgt spid="4">
                                            <p:txEl>
                                              <p:pRg st="20" end="20"/>
                                            </p:txEl>
                                          </p:spTgt>
                                        </p:tgtEl>
                                        <p:attrNameLst>
                                          <p:attrName>style.visibility</p:attrName>
                                        </p:attrNameLst>
                                      </p:cBhvr>
                                      <p:to>
                                        <p:strVal val="visible"/>
                                      </p:to>
                                    </p:set>
                                    <p:animEffect transition="in" filter="randombar(horizontal)">
                                      <p:cBhvr>
                                        <p:cTn id="64" dur="500"/>
                                        <p:tgtEl>
                                          <p:spTgt spid="4">
                                            <p:txEl>
                                              <p:pRg st="20" end="20"/>
                                            </p:txEl>
                                          </p:spTgt>
                                        </p:tgtEl>
                                      </p:cBhvr>
                                    </p:animEffect>
                                  </p:childTnLst>
                                </p:cTn>
                              </p:par>
                              <p:par>
                                <p:cTn id="65" presetID="14" presetClass="entr" presetSubtype="10" fill="hold" nodeType="withEffect">
                                  <p:stCondLst>
                                    <p:cond delay="0"/>
                                  </p:stCondLst>
                                  <p:childTnLst>
                                    <p:set>
                                      <p:cBhvr>
                                        <p:cTn id="66" dur="1" fill="hold">
                                          <p:stCondLst>
                                            <p:cond delay="0"/>
                                          </p:stCondLst>
                                        </p:cTn>
                                        <p:tgtEl>
                                          <p:spTgt spid="4">
                                            <p:txEl>
                                              <p:pRg st="21" end="21"/>
                                            </p:txEl>
                                          </p:spTgt>
                                        </p:tgtEl>
                                        <p:attrNameLst>
                                          <p:attrName>style.visibility</p:attrName>
                                        </p:attrNameLst>
                                      </p:cBhvr>
                                      <p:to>
                                        <p:strVal val="visible"/>
                                      </p:to>
                                    </p:set>
                                    <p:animEffect transition="in" filter="randombar(horizontal)">
                                      <p:cBhvr>
                                        <p:cTn id="67" dur="500"/>
                                        <p:tgtEl>
                                          <p:spTgt spid="4">
                                            <p:txEl>
                                              <p:pRg st="21" end="21"/>
                                            </p:txEl>
                                          </p:spTgt>
                                        </p:tgtEl>
                                      </p:cBhvr>
                                    </p:animEffect>
                                  </p:childTnLst>
                                </p:cTn>
                              </p:par>
                              <p:par>
                                <p:cTn id="68" presetID="14" presetClass="entr" presetSubtype="10" fill="hold" nodeType="withEffect">
                                  <p:stCondLst>
                                    <p:cond delay="0"/>
                                  </p:stCondLst>
                                  <p:childTnLst>
                                    <p:set>
                                      <p:cBhvr>
                                        <p:cTn id="69" dur="1" fill="hold">
                                          <p:stCondLst>
                                            <p:cond delay="0"/>
                                          </p:stCondLst>
                                        </p:cTn>
                                        <p:tgtEl>
                                          <p:spTgt spid="4">
                                            <p:txEl>
                                              <p:pRg st="22" end="22"/>
                                            </p:txEl>
                                          </p:spTgt>
                                        </p:tgtEl>
                                        <p:attrNameLst>
                                          <p:attrName>style.visibility</p:attrName>
                                        </p:attrNameLst>
                                      </p:cBhvr>
                                      <p:to>
                                        <p:strVal val="visible"/>
                                      </p:to>
                                    </p:set>
                                    <p:animEffect transition="in" filter="randombar(horizontal)">
                                      <p:cBhvr>
                                        <p:cTn id="70" dur="500"/>
                                        <p:tgtEl>
                                          <p:spTgt spid="4">
                                            <p:txEl>
                                              <p:pRg st="22" end="22"/>
                                            </p:txEl>
                                          </p:spTgt>
                                        </p:tgtEl>
                                      </p:cBhvr>
                                    </p:animEffect>
                                  </p:childTnLst>
                                </p:cTn>
                              </p:par>
                              <p:par>
                                <p:cTn id="71" presetID="14" presetClass="entr" presetSubtype="10" fill="hold" nodeType="withEffect">
                                  <p:stCondLst>
                                    <p:cond delay="0"/>
                                  </p:stCondLst>
                                  <p:childTnLst>
                                    <p:set>
                                      <p:cBhvr>
                                        <p:cTn id="72" dur="1" fill="hold">
                                          <p:stCondLst>
                                            <p:cond delay="0"/>
                                          </p:stCondLst>
                                        </p:cTn>
                                        <p:tgtEl>
                                          <p:spTgt spid="4">
                                            <p:txEl>
                                              <p:pRg st="23" end="23"/>
                                            </p:txEl>
                                          </p:spTgt>
                                        </p:tgtEl>
                                        <p:attrNameLst>
                                          <p:attrName>style.visibility</p:attrName>
                                        </p:attrNameLst>
                                      </p:cBhvr>
                                      <p:to>
                                        <p:strVal val="visible"/>
                                      </p:to>
                                    </p:set>
                                    <p:animEffect transition="in" filter="randombar(horizontal)">
                                      <p:cBhvr>
                                        <p:cTn id="73" dur="500"/>
                                        <p:tgtEl>
                                          <p:spTgt spid="4">
                                            <p:txEl>
                                              <p:pRg st="23" end="23"/>
                                            </p:txEl>
                                          </p:spTgt>
                                        </p:tgtEl>
                                      </p:cBhvr>
                                    </p:animEffect>
                                  </p:childTnLst>
                                </p:cTn>
                              </p:par>
                              <p:par>
                                <p:cTn id="74" presetID="14" presetClass="entr" presetSubtype="10" fill="hold" nodeType="withEffect">
                                  <p:stCondLst>
                                    <p:cond delay="0"/>
                                  </p:stCondLst>
                                  <p:childTnLst>
                                    <p:set>
                                      <p:cBhvr>
                                        <p:cTn id="75" dur="1" fill="hold">
                                          <p:stCondLst>
                                            <p:cond delay="0"/>
                                          </p:stCondLst>
                                        </p:cTn>
                                        <p:tgtEl>
                                          <p:spTgt spid="4">
                                            <p:txEl>
                                              <p:pRg st="24" end="24"/>
                                            </p:txEl>
                                          </p:spTgt>
                                        </p:tgtEl>
                                        <p:attrNameLst>
                                          <p:attrName>style.visibility</p:attrName>
                                        </p:attrNameLst>
                                      </p:cBhvr>
                                      <p:to>
                                        <p:strVal val="visible"/>
                                      </p:to>
                                    </p:set>
                                    <p:animEffect transition="in" filter="randombar(horizontal)">
                                      <p:cBhvr>
                                        <p:cTn id="76" dur="500"/>
                                        <p:tgtEl>
                                          <p:spTgt spid="4">
                                            <p:txEl>
                                              <p:pRg st="24" end="24"/>
                                            </p:txEl>
                                          </p:spTgt>
                                        </p:tgtEl>
                                      </p:cBhvr>
                                    </p:animEffect>
                                  </p:childTnLst>
                                </p:cTn>
                              </p:par>
                              <p:par>
                                <p:cTn id="77" presetID="14" presetClass="entr" presetSubtype="10" fill="hold" nodeType="withEffect">
                                  <p:stCondLst>
                                    <p:cond delay="0"/>
                                  </p:stCondLst>
                                  <p:childTnLst>
                                    <p:set>
                                      <p:cBhvr>
                                        <p:cTn id="78" dur="1" fill="hold">
                                          <p:stCondLst>
                                            <p:cond delay="0"/>
                                          </p:stCondLst>
                                        </p:cTn>
                                        <p:tgtEl>
                                          <p:spTgt spid="4">
                                            <p:txEl>
                                              <p:pRg st="25" end="25"/>
                                            </p:txEl>
                                          </p:spTgt>
                                        </p:tgtEl>
                                        <p:attrNameLst>
                                          <p:attrName>style.visibility</p:attrName>
                                        </p:attrNameLst>
                                      </p:cBhvr>
                                      <p:to>
                                        <p:strVal val="visible"/>
                                      </p:to>
                                    </p:set>
                                    <p:animEffect transition="in" filter="randombar(horizontal)">
                                      <p:cBhvr>
                                        <p:cTn id="79" dur="500"/>
                                        <p:tgtEl>
                                          <p:spTgt spid="4">
                                            <p:txEl>
                                              <p:pRg st="25" end="2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3" name="Rectangle 2"/>
          <p:cNvSpPr/>
          <p:nvPr/>
        </p:nvSpPr>
        <p:spPr>
          <a:xfrm>
            <a:off x="116541" y="1141688"/>
            <a:ext cx="9818781" cy="1098249"/>
          </a:xfrm>
          <a:prstGeom prst="rect">
            <a:avLst/>
          </a:prstGeom>
        </p:spPr>
        <p:txBody>
          <a:bodyPr wrap="square">
            <a:spAutoFit/>
          </a:bodyPr>
          <a:lstStyle/>
          <a:p>
            <a:r>
              <a:rPr lang="en-US" sz="1634" dirty="0"/>
              <a:t>An external style sheet is used to define the style for many HTML pages.</a:t>
            </a:r>
          </a:p>
          <a:p>
            <a:endParaRPr lang="en-US" sz="1634" dirty="0"/>
          </a:p>
          <a:p>
            <a:r>
              <a:rPr lang="en-US" sz="1634" dirty="0"/>
              <a:t>To use an external style sheet, add a link to it in the &lt;head&gt; section of each HTML page:</a:t>
            </a:r>
          </a:p>
          <a:p>
            <a:endParaRPr lang="en-US" sz="1634" dirty="0"/>
          </a:p>
        </p:txBody>
      </p:sp>
      <p:sp>
        <p:nvSpPr>
          <p:cNvPr id="5" name="Rectangle 4"/>
          <p:cNvSpPr/>
          <p:nvPr/>
        </p:nvSpPr>
        <p:spPr>
          <a:xfrm>
            <a:off x="824753" y="2329053"/>
            <a:ext cx="7446968" cy="3220753"/>
          </a:xfrm>
          <a:prstGeom prst="rect">
            <a:avLst/>
          </a:prstGeom>
        </p:spPr>
        <p:txBody>
          <a:bodyPr wrap="square">
            <a:spAutoFit/>
          </a:bodyPr>
          <a:lstStyle/>
          <a:p>
            <a:r>
              <a:rPr lang="en-US" sz="1452" b="1" dirty="0"/>
              <a:t>&lt;html&gt;</a:t>
            </a:r>
          </a:p>
          <a:p>
            <a:r>
              <a:rPr lang="en-US" sz="1452" b="1" dirty="0"/>
              <a:t>&lt;head&gt;</a:t>
            </a:r>
          </a:p>
          <a:p>
            <a:endParaRPr lang="en-US" sz="1452" b="1" dirty="0"/>
          </a:p>
          <a:p>
            <a:r>
              <a:rPr lang="en-US" sz="1452" b="1" dirty="0"/>
              <a:t>  &lt;link </a:t>
            </a:r>
            <a:r>
              <a:rPr lang="en-US" sz="1452" b="1" dirty="0" err="1"/>
              <a:t>rel</a:t>
            </a:r>
            <a:r>
              <a:rPr lang="en-US" sz="1452" b="1" dirty="0"/>
              <a:t>="stylesheet" </a:t>
            </a:r>
            <a:r>
              <a:rPr lang="en-US" sz="1452" b="1" dirty="0" err="1"/>
              <a:t>href</a:t>
            </a:r>
            <a:r>
              <a:rPr lang="en-US" sz="1452" b="1" dirty="0"/>
              <a:t>="styles.css"&gt;</a:t>
            </a:r>
          </a:p>
          <a:p>
            <a:endParaRPr lang="en-US" sz="1452" b="1" dirty="0"/>
          </a:p>
          <a:p>
            <a:r>
              <a:rPr lang="en-US" sz="1452" b="1" dirty="0"/>
              <a:t>&lt;/head&gt;</a:t>
            </a:r>
          </a:p>
          <a:p>
            <a:endParaRPr lang="en-US" sz="1452" b="1" dirty="0"/>
          </a:p>
          <a:p>
            <a:r>
              <a:rPr lang="en-US" sz="1452" b="1" dirty="0"/>
              <a:t>&lt;body&gt;</a:t>
            </a:r>
          </a:p>
          <a:p>
            <a:endParaRPr lang="en-US" sz="1452" b="1" dirty="0"/>
          </a:p>
          <a:p>
            <a:r>
              <a:rPr lang="en-US" sz="1452" b="1" dirty="0"/>
              <a:t>&lt;h1&gt;This is a heading which is for external </a:t>
            </a:r>
            <a:r>
              <a:rPr lang="en-US" sz="1452" b="1" dirty="0" err="1"/>
              <a:t>css</a:t>
            </a:r>
            <a:r>
              <a:rPr lang="en-US" sz="1452" b="1" dirty="0"/>
              <a:t>&lt;/h1&gt;</a:t>
            </a:r>
          </a:p>
          <a:p>
            <a:r>
              <a:rPr lang="en-US" sz="1452" b="1" dirty="0"/>
              <a:t>&lt;p&gt;This is a paragraph which is for external </a:t>
            </a:r>
            <a:r>
              <a:rPr lang="en-US" sz="1452" b="1" dirty="0" err="1"/>
              <a:t>css</a:t>
            </a:r>
            <a:r>
              <a:rPr lang="en-US" sz="1452" b="1" dirty="0"/>
              <a:t>&lt;/p&gt;</a:t>
            </a:r>
          </a:p>
          <a:p>
            <a:endParaRPr lang="en-US" sz="1452" b="1" dirty="0"/>
          </a:p>
          <a:p>
            <a:r>
              <a:rPr lang="en-US" sz="1452" b="1" dirty="0"/>
              <a:t>&lt;/body&gt;</a:t>
            </a:r>
          </a:p>
          <a:p>
            <a:r>
              <a:rPr lang="en-US" sz="1452" b="1" dirty="0"/>
              <a:t>&lt;/html&gt;</a:t>
            </a:r>
          </a:p>
        </p:txBody>
      </p:sp>
      <p:sp>
        <p:nvSpPr>
          <p:cNvPr id="6" name="Rectangle 5"/>
          <p:cNvSpPr/>
          <p:nvPr/>
        </p:nvSpPr>
        <p:spPr>
          <a:xfrm>
            <a:off x="251012" y="6082947"/>
            <a:ext cx="9283507" cy="846770"/>
          </a:xfrm>
          <a:prstGeom prst="rect">
            <a:avLst/>
          </a:prstGeom>
        </p:spPr>
        <p:txBody>
          <a:bodyPr wrap="square">
            <a:spAutoFit/>
          </a:bodyPr>
          <a:lstStyle/>
          <a:p>
            <a:pPr marL="285750" indent="-285750">
              <a:buFont typeface="Wingdings" panose="05000000000000000000" pitchFamily="2" charset="2"/>
              <a:buChar char="ü"/>
            </a:pPr>
            <a:r>
              <a:rPr lang="en-US" sz="1634" dirty="0"/>
              <a:t>The external style sheet can be written in any text editor. The file must not contain any HTML code, and must be saved with a .</a:t>
            </a:r>
            <a:r>
              <a:rPr lang="en-US" sz="1634" dirty="0" err="1"/>
              <a:t>css</a:t>
            </a:r>
            <a:r>
              <a:rPr lang="en-US" sz="1634" dirty="0"/>
              <a:t> extension.</a:t>
            </a:r>
          </a:p>
          <a:p>
            <a:pPr marL="285750" indent="-285750">
              <a:buFont typeface="Wingdings" panose="05000000000000000000" pitchFamily="2" charset="2"/>
              <a:buChar char="ü"/>
            </a:pPr>
            <a:endParaRPr lang="en-US" sz="1634" dirty="0"/>
          </a:p>
        </p:txBody>
      </p:sp>
      <p:sp>
        <p:nvSpPr>
          <p:cNvPr id="2" name="Google Shape;174;p7">
            <a:extLst>
              <a:ext uri="{FF2B5EF4-FFF2-40B4-BE49-F238E27FC236}">
                <a16:creationId xmlns:a16="http://schemas.microsoft.com/office/drawing/2014/main" id="{95EB3592-5C59-34AB-6A04-46F3EAE4E7C2}"/>
              </a:ext>
            </a:extLst>
          </p:cNvPr>
          <p:cNvSpPr/>
          <p:nvPr/>
        </p:nvSpPr>
        <p:spPr>
          <a:xfrm>
            <a:off x="0" y="-31196"/>
            <a:ext cx="12192000" cy="1083768"/>
          </a:xfrm>
          <a:prstGeom prst="rect">
            <a:avLst/>
          </a:prstGeom>
          <a:solidFill>
            <a:schemeClr val="accent1">
              <a:lumMod val="75000"/>
            </a:schemeClr>
          </a:solidFill>
          <a:ln>
            <a:noFill/>
          </a:ln>
        </p:spPr>
        <p:txBody>
          <a:bodyPr spcFirstLastPara="1" wrap="square" lIns="72775" tIns="36378" rIns="72775" bIns="36378" anchor="ctr" anchorCtr="0">
            <a:noAutofit/>
          </a:bodyPr>
          <a:lstStyle/>
          <a:p>
            <a:r>
              <a:rPr lang="en-US" sz="4800" b="1" dirty="0">
                <a:latin typeface="Lato" panose="020F0502020204030203" pitchFamily="34" charset="0"/>
              </a:rPr>
              <a:t>External CSS</a:t>
            </a:r>
          </a:p>
        </p:txBody>
      </p:sp>
    </p:spTree>
    <p:extLst>
      <p:ext uri="{BB962C8B-B14F-4D97-AF65-F5344CB8AC3E}">
        <p14:creationId xmlns:p14="http://schemas.microsoft.com/office/powerpoint/2010/main" val="1822985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circle(in)">
                                      <p:cBhvr>
                                        <p:cTn id="12" dur="20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Depth</Template>
  <TotalTime>2737</TotalTime>
  <Words>521</Words>
  <Application>Microsoft Office PowerPoint</Application>
  <PresentationFormat>Widescreen</PresentationFormat>
  <Paragraphs>101</Paragraphs>
  <Slides>7</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vt:i4>
      </vt:variant>
    </vt:vector>
  </HeadingPairs>
  <TitlesOfParts>
    <vt:vector size="16" baseType="lpstr">
      <vt:lpstr>Arial</vt:lpstr>
      <vt:lpstr>Calibri</vt:lpstr>
      <vt:lpstr>Consolas</vt:lpstr>
      <vt:lpstr>Corbel</vt:lpstr>
      <vt:lpstr>Lato</vt:lpstr>
      <vt:lpstr>Quicksand Light</vt:lpstr>
      <vt:lpstr>Verdana</vt:lpstr>
      <vt:lpstr>Wingdings</vt:lpstr>
      <vt:lpstr>Depth</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Pushplata Bagati</dc:creator>
  <cp:lastModifiedBy>DELL</cp:lastModifiedBy>
  <cp:revision>62</cp:revision>
  <dcterms:created xsi:type="dcterms:W3CDTF">2022-08-19T11:01:50Z</dcterms:created>
  <dcterms:modified xsi:type="dcterms:W3CDTF">2025-11-05T15:08:44Z</dcterms:modified>
</cp:coreProperties>
</file>