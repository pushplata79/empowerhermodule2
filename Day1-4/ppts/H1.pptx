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307" r:id="rId2"/>
    <p:sldId id="309" r:id="rId3"/>
    <p:sldId id="310" r:id="rId4"/>
    <p:sldId id="311" r:id="rId5"/>
    <p:sldId id="312" r:id="rId6"/>
    <p:sldId id="313" r:id="rId7"/>
    <p:sldId id="315" r:id="rId8"/>
    <p:sldId id="301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35E31-6AC3-494C-A739-1889808CBF7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F43EA-CD70-4084-ADBF-7EF6357D3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0277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07595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1864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34533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7455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9534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88049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69221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F22D8EEA-A042-D313-4E09-88FED51F4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9112535-23EA-3ED4-2488-4B0FECE4E9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52F36B3-0406-D87B-243C-D160CA7F7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2345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5BD64E9B-2A53-966A-B311-A8EE22E39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4246EF33-6B62-6493-22F7-3221346919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A7C3DE22-F26E-687B-1E50-850424C585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18103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11A9634-DF56-6CDD-7AE7-945CF8576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2223150C-FE0E-97A5-3EB5-D1CA90A69C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D3A6DCD-0F5D-8EA1-9CCD-D69CA0D1B7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03191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B9EEE23-B8E3-98AA-A1BF-8F905D1F5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84BF4F-660A-6917-97A3-5EFAD54EF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24A2305-39EC-B0C6-22FB-C735FE61D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59465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E6C7D7D4-7F7C-45DB-922F-60FB6593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58F606B-74CE-7AA4-1323-BF43914B9A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68EC76B3-4E31-CA4A-DCBD-4BB72DC6D6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143969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FAB77481-1115-BFF6-AADA-2FEB720FB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DB9C82B-D58B-CBA9-3699-5F16AF14B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04C0170A-BB58-B7DB-9C73-CAEB500A74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20801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A3B53AAD-BAEC-2CAB-B903-AB43A54AE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4295B6DD-FB08-7912-4D62-B0D10111C5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7B579E84-D3F2-BA3B-164D-AFAB58A2BA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10730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C56BE824-EF16-DB50-78A1-714977ED5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22EC2C94-5226-69A7-0F01-3BB7F4A2B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F642450-6100-D677-B8ED-B915469526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953030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B24BA66A-0CAF-069E-8947-E7E9212C0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BB483F1-16BB-41E0-6206-E0A2B870B7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90FA4D8A-DA54-4F7D-109E-EFA87E737F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853692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397630ED-C1D5-F856-D043-1050835D6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93EAFFE6-3D94-90EE-32C9-A2CFF12014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B60F3229-8CDD-9F8A-8177-47DB8164E8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58054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B0F8EB05-0872-750A-49F6-F2E977688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2B460492-8402-5D59-784C-539D6DA23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1294B727-B74B-7EAD-88E6-A4B30019A1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17989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46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659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714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616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839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4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004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5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742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405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311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9863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063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412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080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568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558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8A82C0F-A81B-4B2B-9B0C-842E6D2AD82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1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/>
        </p:nvSpPr>
        <p:spPr>
          <a:xfrm>
            <a:off x="1545217" y="5302397"/>
            <a:ext cx="3009951" cy="31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775" tIns="36378" rIns="72775" bIns="36378" anchor="t" anchorCtr="0">
            <a:spAutoFit/>
          </a:bodyPr>
          <a:lstStyle/>
          <a:p>
            <a:pPr>
              <a:buSzPts val="2000"/>
            </a:pPr>
            <a:r>
              <a:rPr lang="en-US" sz="1592" dirty="0">
                <a:solidFill>
                  <a:schemeClr val="lt1"/>
                </a:solidFill>
                <a:latin typeface="Quicksand Light"/>
                <a:sym typeface="Quicksand Light"/>
              </a:rPr>
              <a:t>Let’s Start</a:t>
            </a:r>
            <a:endParaRPr sz="111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"/>
          <p:cNvCxnSpPr/>
          <p:nvPr/>
        </p:nvCxnSpPr>
        <p:spPr>
          <a:xfrm>
            <a:off x="1621956" y="5115898"/>
            <a:ext cx="3926409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1"/>
          <p:cNvSpPr txBox="1"/>
          <p:nvPr/>
        </p:nvSpPr>
        <p:spPr>
          <a:xfrm>
            <a:off x="15783979" y="1556252"/>
            <a:ext cx="441634" cy="293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buSzPts val="2399"/>
            </a:pPr>
            <a:r>
              <a:rPr lang="en-US" sz="1910">
                <a:solidFill>
                  <a:srgbClr val="F5F5E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Oval 2"/>
          <p:cNvSpPr/>
          <p:nvPr/>
        </p:nvSpPr>
        <p:spPr bwMode="auto">
          <a:xfrm>
            <a:off x="3155169" y="2187316"/>
            <a:ext cx="1399999" cy="1372388"/>
          </a:xfrm>
          <a:prstGeom prst="ellipse">
            <a:avLst/>
          </a:prstGeom>
          <a:solidFill>
            <a:srgbClr val="00B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82988" tIns="41494" rIns="82988" bIns="41494" numCol="1" rtlCol="0" anchor="t" anchorCtr="0" compatLnSpc="1"/>
          <a:lstStyle/>
          <a:p>
            <a:pPr defTabSz="414955" fontAlgn="base" hangingPunct="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buClr>
                <a:srgbClr val="000000"/>
              </a:buClr>
              <a:buSzPct val="100000"/>
            </a:pPr>
            <a:endParaRPr lang="en-IN" sz="1634">
              <a:latin typeface="Arial" panose="020B0604020202020204" pitchFamily="34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6133741" y="2187316"/>
            <a:ext cx="1399999" cy="1372388"/>
          </a:xfrm>
          <a:prstGeom prst="ellipse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82988" tIns="41494" rIns="82988" bIns="41494" numCol="1" rtlCol="0" anchor="t" anchorCtr="0" compatLnSpc="1"/>
          <a:lstStyle/>
          <a:p>
            <a:pPr defTabSz="414955" fontAlgn="base" hangingPunct="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buClr>
                <a:srgbClr val="000000"/>
              </a:buClr>
              <a:buSzPct val="100000"/>
            </a:pPr>
            <a:endParaRPr lang="en-IN" sz="1634"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50193" y="3755759"/>
            <a:ext cx="1673420" cy="343812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34" b="1" dirty="0">
                <a:solidFill>
                  <a:schemeClr val="bg1"/>
                </a:solidFill>
              </a:rPr>
              <a:t>Front End</a:t>
            </a:r>
            <a:endParaRPr lang="en-IN" sz="1634" b="1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30649" y="3764900"/>
            <a:ext cx="1673420" cy="343812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34" b="1" dirty="0">
                <a:solidFill>
                  <a:schemeClr val="bg1"/>
                </a:solidFill>
              </a:rPr>
              <a:t>Back End</a:t>
            </a:r>
            <a:endParaRPr lang="en-IN" sz="1634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15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3" grpId="0" animBg="1"/>
      <p:bldP spid="11" grpId="0" animBg="1"/>
      <p:bldP spid="4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15783979" y="1556252"/>
            <a:ext cx="441634" cy="293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buSzPts val="2399"/>
            </a:pPr>
            <a:r>
              <a:rPr lang="en-US" sz="1910">
                <a:solidFill>
                  <a:srgbClr val="F5F5E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Oval 2"/>
          <p:cNvSpPr/>
          <p:nvPr/>
        </p:nvSpPr>
        <p:spPr bwMode="auto">
          <a:xfrm>
            <a:off x="2109541" y="2719271"/>
            <a:ext cx="1399999" cy="137238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82988" tIns="41494" rIns="82988" bIns="41494" numCol="1" rtlCol="0" anchor="t" anchorCtr="0" compatLnSpc="1"/>
          <a:lstStyle/>
          <a:p>
            <a:pPr defTabSz="414955" fontAlgn="base" hangingPunct="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buClr>
                <a:srgbClr val="000000"/>
              </a:buClr>
              <a:buSzPct val="100000"/>
            </a:pPr>
            <a:endParaRPr lang="en-IN" sz="1634">
              <a:latin typeface="Arial" panose="020B0604020202020204" pitchFamily="34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4983136" y="2710130"/>
            <a:ext cx="1399999" cy="1372388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82988" tIns="41494" rIns="82988" bIns="41494" numCol="1" rtlCol="0" anchor="t" anchorCtr="0" compatLnSpc="1"/>
          <a:lstStyle/>
          <a:p>
            <a:pPr defTabSz="414955" fontAlgn="base" hangingPunct="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buClr>
                <a:srgbClr val="000000"/>
              </a:buClr>
              <a:buSzPct val="100000"/>
            </a:pPr>
            <a:endParaRPr lang="en-IN" sz="1634"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04564" y="4287714"/>
            <a:ext cx="1673420" cy="5952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34" b="1" dirty="0">
                <a:solidFill>
                  <a:schemeClr val="bg1"/>
                </a:solidFill>
              </a:rPr>
              <a:t>Front-End Development</a:t>
            </a:r>
            <a:endParaRPr lang="en-IN" sz="1634" b="1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80043" y="4287714"/>
            <a:ext cx="1673420" cy="59529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34" b="1" dirty="0">
                <a:solidFill>
                  <a:schemeClr val="bg1"/>
                </a:solidFill>
              </a:rPr>
              <a:t>Back-End Development</a:t>
            </a:r>
            <a:endParaRPr lang="en-IN" sz="1634" b="1" dirty="0">
              <a:solidFill>
                <a:schemeClr val="bg1"/>
              </a:solidFill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8028943" y="2775482"/>
            <a:ext cx="1399999" cy="1372388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wrap="square" lIns="82988" tIns="41494" rIns="82988" bIns="41494" numCol="1" rtlCol="0" anchor="t" anchorCtr="0" compatLnSpc="1"/>
          <a:lstStyle/>
          <a:p>
            <a:pPr defTabSz="414955" fontAlgn="base" hangingPunct="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buClr>
                <a:srgbClr val="000000"/>
              </a:buClr>
              <a:buSzPct val="100000"/>
            </a:pPr>
            <a:r>
              <a:rPr lang="en-US" sz="1634" dirty="0">
                <a:latin typeface="Arial" panose="020B0604020202020204" pitchFamily="34" charset="0"/>
              </a:rPr>
              <a:t> </a:t>
            </a:r>
            <a:endParaRPr lang="en-IN" sz="1634" dirty="0">
              <a:latin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60499" y="4287714"/>
            <a:ext cx="2065531" cy="59529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34" b="1" dirty="0">
                <a:solidFill>
                  <a:schemeClr val="bg1"/>
                </a:solidFill>
              </a:rPr>
              <a:t>Full-Stack</a:t>
            </a:r>
          </a:p>
          <a:p>
            <a:pPr algn="ctr"/>
            <a:r>
              <a:rPr lang="en-US" sz="1634" b="1" dirty="0">
                <a:solidFill>
                  <a:schemeClr val="bg1"/>
                </a:solidFill>
              </a:rPr>
              <a:t>Development</a:t>
            </a:r>
            <a:endParaRPr lang="en-IN" sz="1634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9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4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/>
        </p:nvSpPr>
        <p:spPr>
          <a:xfrm>
            <a:off x="1545217" y="5302397"/>
            <a:ext cx="3009951" cy="31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775" tIns="36378" rIns="72775" bIns="36378" anchor="t" anchorCtr="0">
            <a:spAutoFit/>
          </a:bodyPr>
          <a:lstStyle/>
          <a:p>
            <a:pPr>
              <a:buSzPts val="2000"/>
            </a:pPr>
            <a:r>
              <a:rPr lang="en-US" sz="1592" dirty="0">
                <a:solidFill>
                  <a:schemeClr val="lt1"/>
                </a:solidFill>
                <a:latin typeface="Quicksand Light"/>
                <a:sym typeface="Quicksand Light"/>
              </a:rPr>
              <a:t>Let’s Start</a:t>
            </a:r>
            <a:endParaRPr sz="111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"/>
          <p:cNvCxnSpPr/>
          <p:nvPr/>
        </p:nvCxnSpPr>
        <p:spPr>
          <a:xfrm>
            <a:off x="1621956" y="5115898"/>
            <a:ext cx="3926409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1"/>
          <p:cNvSpPr txBox="1"/>
          <p:nvPr/>
        </p:nvSpPr>
        <p:spPr>
          <a:xfrm>
            <a:off x="15783979" y="1556252"/>
            <a:ext cx="441634" cy="293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buSzPts val="2399"/>
            </a:pPr>
            <a:r>
              <a:rPr lang="en-US" sz="1910">
                <a:solidFill>
                  <a:srgbClr val="F5F5E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21956" y="1766640"/>
            <a:ext cx="5192914" cy="595099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3267" b="1" dirty="0">
                <a:solidFill>
                  <a:schemeClr val="accent6"/>
                </a:solidFill>
              </a:rPr>
              <a:t>HTML</a:t>
            </a:r>
            <a:endParaRPr lang="en-IN" sz="3267" b="1" dirty="0">
              <a:solidFill>
                <a:schemeClr val="accent6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35588" y="2812269"/>
            <a:ext cx="5192914" cy="595099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3267" b="1" dirty="0">
                <a:solidFill>
                  <a:srgbClr val="FF0000"/>
                </a:solidFill>
              </a:rPr>
              <a:t>CSS</a:t>
            </a:r>
            <a:endParaRPr lang="en-IN" sz="3267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21956" y="3923249"/>
            <a:ext cx="5192914" cy="595099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3267" b="1" dirty="0">
                <a:solidFill>
                  <a:schemeClr val="accent6"/>
                </a:solidFill>
              </a:rPr>
              <a:t>JavaScript</a:t>
            </a:r>
            <a:endParaRPr lang="en-IN" sz="3267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29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/>
        </p:nvSpPr>
        <p:spPr>
          <a:xfrm>
            <a:off x="1545217" y="5302397"/>
            <a:ext cx="3009951" cy="31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775" tIns="36378" rIns="72775" bIns="36378" anchor="t" anchorCtr="0">
            <a:spAutoFit/>
          </a:bodyPr>
          <a:lstStyle/>
          <a:p>
            <a:pPr>
              <a:buSzPts val="2000"/>
            </a:pPr>
            <a:r>
              <a:rPr lang="en-US" sz="1592" dirty="0">
                <a:solidFill>
                  <a:schemeClr val="lt1"/>
                </a:solidFill>
                <a:latin typeface="Quicksand Light"/>
                <a:sym typeface="Quicksand Light"/>
              </a:rPr>
              <a:t>Let’s Start</a:t>
            </a:r>
            <a:endParaRPr sz="111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"/>
          <p:cNvCxnSpPr/>
          <p:nvPr/>
        </p:nvCxnSpPr>
        <p:spPr>
          <a:xfrm>
            <a:off x="1621956" y="5115898"/>
            <a:ext cx="3926409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1"/>
          <p:cNvSpPr txBox="1"/>
          <p:nvPr/>
        </p:nvSpPr>
        <p:spPr>
          <a:xfrm>
            <a:off x="15783979" y="1556252"/>
            <a:ext cx="441634" cy="293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buSzPts val="2399"/>
            </a:pPr>
            <a:r>
              <a:rPr lang="en-US" sz="1910">
                <a:solidFill>
                  <a:srgbClr val="F5F5E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21956" y="1766640"/>
            <a:ext cx="5192914" cy="595099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3267" b="1" dirty="0">
                <a:solidFill>
                  <a:schemeClr val="accent6"/>
                </a:solidFill>
              </a:rPr>
              <a:t>HTML</a:t>
            </a:r>
            <a:endParaRPr lang="en-IN" sz="3267" b="1" dirty="0">
              <a:solidFill>
                <a:schemeClr val="accent6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35588" y="2942972"/>
            <a:ext cx="5192914" cy="595099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3267" b="1" dirty="0">
                <a:solidFill>
                  <a:srgbClr val="FF0000"/>
                </a:solidFill>
              </a:rPr>
              <a:t>CSS</a:t>
            </a:r>
            <a:endParaRPr lang="en-IN" sz="3267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21956" y="4446064"/>
            <a:ext cx="5192914" cy="595099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3267" b="1" dirty="0">
                <a:solidFill>
                  <a:schemeClr val="accent6"/>
                </a:solidFill>
              </a:rPr>
              <a:t>JavaScript</a:t>
            </a:r>
            <a:endParaRPr lang="en-IN" sz="3267" b="1" dirty="0">
              <a:solidFill>
                <a:schemeClr val="accent6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51908" y="2055664"/>
            <a:ext cx="6150275" cy="595099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3267" b="1" dirty="0">
                <a:solidFill>
                  <a:schemeClr val="accent6"/>
                </a:solidFill>
              </a:rPr>
              <a:t>Hyper text Markup Language</a:t>
            </a:r>
            <a:endParaRPr lang="en-IN" sz="3267" b="1" dirty="0">
              <a:solidFill>
                <a:schemeClr val="accent6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51921" y="3400435"/>
            <a:ext cx="5192914" cy="595099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3267" b="1" dirty="0">
                <a:solidFill>
                  <a:srgbClr val="FF0000"/>
                </a:solidFill>
              </a:rPr>
              <a:t>Cascading Style Sheet</a:t>
            </a:r>
            <a:endParaRPr lang="en-IN" sz="3267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15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17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/>
        </p:nvSpPr>
        <p:spPr>
          <a:xfrm>
            <a:off x="1545217" y="5302397"/>
            <a:ext cx="3009951" cy="31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775" tIns="36378" rIns="72775" bIns="36378" anchor="t" anchorCtr="0">
            <a:spAutoFit/>
          </a:bodyPr>
          <a:lstStyle/>
          <a:p>
            <a:pPr>
              <a:buSzPts val="2000"/>
            </a:pPr>
            <a:r>
              <a:rPr lang="en-US" sz="1592" dirty="0">
                <a:solidFill>
                  <a:schemeClr val="lt1"/>
                </a:solidFill>
                <a:latin typeface="Quicksand Light"/>
                <a:sym typeface="Quicksand Light"/>
              </a:rPr>
              <a:t>Let’s Start</a:t>
            </a:r>
            <a:endParaRPr sz="111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"/>
          <p:cNvCxnSpPr/>
          <p:nvPr/>
        </p:nvCxnSpPr>
        <p:spPr>
          <a:xfrm>
            <a:off x="1621956" y="5115898"/>
            <a:ext cx="3926409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1"/>
          <p:cNvSpPr txBox="1"/>
          <p:nvPr/>
        </p:nvSpPr>
        <p:spPr>
          <a:xfrm>
            <a:off x="15783979" y="1556252"/>
            <a:ext cx="441634" cy="293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buSzPts val="2399"/>
            </a:pPr>
            <a:r>
              <a:rPr lang="en-US" sz="1910">
                <a:solidFill>
                  <a:srgbClr val="F5F5E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Premium Photo | Monolithic frame construction of the building workers  working at the construction site at home the framework for the walls  formwork for walls made of concrete construction site close u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955" y="827178"/>
            <a:ext cx="8932125" cy="540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548364" y="1238633"/>
            <a:ext cx="1854672" cy="483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1" b="1" dirty="0">
                <a:solidFill>
                  <a:srgbClr val="002060"/>
                </a:solidFill>
              </a:rPr>
              <a:t>HTML</a:t>
            </a:r>
            <a:endParaRPr lang="en-IN" sz="2541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20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15783979" y="1556252"/>
            <a:ext cx="441634" cy="293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buSzPts val="2399"/>
            </a:pPr>
            <a:r>
              <a:rPr lang="en-US" sz="1910">
                <a:solidFill>
                  <a:srgbClr val="F5F5E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430" y="976616"/>
            <a:ext cx="8953195" cy="55860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14870" y="4409277"/>
            <a:ext cx="1070450" cy="483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41" b="1" dirty="0">
                <a:solidFill>
                  <a:srgbClr val="FF0000"/>
                </a:solidFill>
              </a:rPr>
              <a:t>CSS</a:t>
            </a:r>
            <a:endParaRPr lang="en-IN" sz="2541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31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15783979" y="1556252"/>
            <a:ext cx="441634" cy="293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buSzPts val="2399"/>
            </a:pPr>
            <a:r>
              <a:rPr lang="en-US" sz="1910">
                <a:solidFill>
                  <a:srgbClr val="F5F5E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21956" y="1766640"/>
            <a:ext cx="6957413" cy="595099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marL="518693" indent="-518693">
              <a:buFont typeface="Arial" panose="020B0604020202020204" pitchFamily="34" charset="0"/>
              <a:buChar char="•"/>
            </a:pPr>
            <a:r>
              <a:rPr lang="en-US" sz="3267" b="1" dirty="0">
                <a:solidFill>
                  <a:schemeClr val="accent6"/>
                </a:solidFill>
              </a:rPr>
              <a:t>Web Pages(HTML Documents)</a:t>
            </a:r>
            <a:endParaRPr lang="en-IN" sz="3267" b="1" dirty="0">
              <a:solidFill>
                <a:schemeClr val="accent6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45217" y="831899"/>
            <a:ext cx="5192914" cy="595099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3267" b="1" dirty="0">
                <a:solidFill>
                  <a:schemeClr val="accent6"/>
                </a:solidFill>
              </a:rPr>
              <a:t>Resources</a:t>
            </a:r>
            <a:endParaRPr lang="en-IN" sz="3267" b="1" dirty="0">
              <a:solidFill>
                <a:schemeClr val="accent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22178" y="2504518"/>
            <a:ext cx="6957413" cy="595099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marL="518693" indent="-518693">
              <a:buFont typeface="Arial" panose="020B0604020202020204" pitchFamily="34" charset="0"/>
              <a:buChar char="•"/>
            </a:pPr>
            <a:r>
              <a:rPr lang="en-US" sz="3267" b="1" dirty="0">
                <a:solidFill>
                  <a:schemeClr val="accent6"/>
                </a:solidFill>
              </a:rPr>
              <a:t>Images</a:t>
            </a:r>
            <a:endParaRPr lang="en-IN" sz="3267" b="1" dirty="0">
              <a:solidFill>
                <a:schemeClr val="accent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21956" y="3258829"/>
            <a:ext cx="6957413" cy="595099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marL="518693" indent="-518693">
              <a:buFont typeface="Arial" panose="020B0604020202020204" pitchFamily="34" charset="0"/>
              <a:buChar char="•"/>
            </a:pPr>
            <a:r>
              <a:rPr lang="en-US" sz="3267" b="1" dirty="0">
                <a:solidFill>
                  <a:schemeClr val="accent6"/>
                </a:solidFill>
              </a:rPr>
              <a:t>Video Files</a:t>
            </a:r>
            <a:endParaRPr lang="en-IN" sz="3267" b="1" dirty="0">
              <a:solidFill>
                <a:schemeClr val="accent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21956" y="4053953"/>
            <a:ext cx="6957413" cy="595099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marL="518693" indent="-518693">
              <a:buFont typeface="Arial" panose="020B0604020202020204" pitchFamily="34" charset="0"/>
              <a:buChar char="•"/>
            </a:pPr>
            <a:r>
              <a:rPr lang="en-US" sz="3267" b="1" dirty="0">
                <a:solidFill>
                  <a:schemeClr val="accent6"/>
                </a:solidFill>
              </a:rPr>
              <a:t>Fonts</a:t>
            </a:r>
            <a:endParaRPr lang="en-IN" sz="3267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56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61859" y="1841900"/>
            <a:ext cx="9282077" cy="2607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34" dirty="0"/>
              <a:t>HTML is the standard markup language for Web pages.</a:t>
            </a:r>
          </a:p>
          <a:p>
            <a:endParaRPr lang="en-US" sz="1634" dirty="0"/>
          </a:p>
          <a:p>
            <a:r>
              <a:rPr lang="en-US" sz="1634" dirty="0"/>
              <a:t>With HTML you can create your own Website.</a:t>
            </a:r>
          </a:p>
          <a:p>
            <a:endParaRPr lang="en-US" sz="1634" dirty="0"/>
          </a:p>
          <a:p>
            <a:endParaRPr lang="en-US" sz="1634" dirty="0"/>
          </a:p>
          <a:p>
            <a:r>
              <a:rPr lang="en-US" sz="1634" dirty="0">
                <a:latin typeface="Verdana" panose="020B0604030504040204" pitchFamily="34" charset="0"/>
              </a:rPr>
              <a:t>HTML is the standard markup language for creating Web pages.</a:t>
            </a:r>
          </a:p>
          <a:p>
            <a:endParaRPr lang="en-US" sz="1634" dirty="0"/>
          </a:p>
          <a:p>
            <a:endParaRPr lang="en-US" sz="1634" dirty="0">
              <a:latin typeface="Articulate" panose="02000503040000020004" pitchFamily="2" charset="0"/>
            </a:endParaRPr>
          </a:p>
          <a:p>
            <a:br>
              <a:rPr lang="en-US" sz="1634" dirty="0">
                <a:latin typeface="Articulate" panose="02000503040000020004" pitchFamily="2" charset="0"/>
              </a:rPr>
            </a:br>
            <a:endParaRPr lang="en-IN" sz="1634" dirty="0">
              <a:latin typeface="Articulate" panose="02000503040000020004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65360" y="3196123"/>
            <a:ext cx="7919026" cy="595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1634" dirty="0">
                <a:solidFill>
                  <a:schemeClr val="bg1"/>
                </a:solidFill>
              </a:rPr>
            </a:br>
            <a:endParaRPr lang="en-IN" sz="1634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234F5A-74E7-0FCB-28AB-CB4AB4681D74}"/>
              </a:ext>
            </a:extLst>
          </p:cNvPr>
          <p:cNvSpPr txBox="1"/>
          <p:nvPr/>
        </p:nvSpPr>
        <p:spPr>
          <a:xfrm>
            <a:off x="432878" y="831489"/>
            <a:ext cx="1584180" cy="706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993" b="1" dirty="0"/>
              <a:t>HTML</a:t>
            </a:r>
            <a:endParaRPr lang="en-IN" sz="3993" b="1" dirty="0"/>
          </a:p>
        </p:txBody>
      </p:sp>
    </p:spTree>
    <p:extLst>
      <p:ext uri="{BB962C8B-B14F-4D97-AF65-F5344CB8AC3E}">
        <p14:creationId xmlns:p14="http://schemas.microsoft.com/office/powerpoint/2010/main" val="196867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115C6D08-389A-0325-62BD-B49BC7E8C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3C6401-B9AE-9FB6-8403-7BB9ADB4359A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5574DE-7594-01F2-ED74-CCE49EE9E8D0}"/>
              </a:ext>
            </a:extLst>
          </p:cNvPr>
          <p:cNvSpPr/>
          <p:nvPr/>
        </p:nvSpPr>
        <p:spPr>
          <a:xfrm>
            <a:off x="1465360" y="3196123"/>
            <a:ext cx="7919026" cy="595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1634" dirty="0">
                <a:solidFill>
                  <a:schemeClr val="bg1"/>
                </a:solidFill>
              </a:rPr>
            </a:br>
            <a:endParaRPr lang="en-IN" sz="1634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539A18-00F2-7CA2-2471-A38E3C439726}"/>
              </a:ext>
            </a:extLst>
          </p:cNvPr>
          <p:cNvSpPr txBox="1"/>
          <p:nvPr/>
        </p:nvSpPr>
        <p:spPr>
          <a:xfrm>
            <a:off x="80682" y="6468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00FF"/>
                </a:highlight>
              </a:rPr>
              <a:t>Basic Structure of an HTML Document</a:t>
            </a:r>
            <a:endParaRPr lang="en-IN" dirty="0">
              <a:highlight>
                <a:srgbClr val="0000FF"/>
              </a:highlight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9A10E33-7383-30E4-38BF-87DF64390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9607" y="1160321"/>
            <a:ext cx="1071760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1.Declaration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 Unicode MS" panose="020B0604020202020204" pitchFamily="34" charset="-128"/>
              </a:rPr>
              <a:t>&lt;!DOCTYPE html&gt;</a:t>
            </a:r>
            <a:r>
              <a:rPr lang="en-US" altLang="en-US" dirty="0"/>
              <a:t>:</a:t>
            </a:r>
            <a:br>
              <a:rPr lang="en-US" altLang="en-US" dirty="0"/>
            </a:br>
            <a:r>
              <a:rPr lang="en-US" altLang="en-US" dirty="0"/>
              <a:t>This tells the browser that the document is an HTML5 document. It should always be the first line.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894A31A-B072-A736-CE8D-3E42A22DB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4403" y="2327923"/>
            <a:ext cx="1042464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HTML Root Tag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&lt;html&gt;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root element of the HTML document. Everything inside this tag represents the content of the webpage.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F412E4EE-6B57-2152-A9F9-8034C2B78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9607" y="3541692"/>
            <a:ext cx="1132027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Head 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&lt;head&gt;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section contains metadata about the webpage, which is not visible on the page itself. Common elements include: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&lt;title&gt;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Defines the title displayed in the browser tab.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&lt;meta&gt;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Provides metadata like character encoding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&lt;meta charset="UTF-8"&gt;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or viewport settings.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&lt;link&gt;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Links external stylesheets or resources.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&lt;style&gt;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Embeds internal CSS.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&lt;script&gt;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Adds JavaScript.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AA9E1-7512-9B33-6E14-7E71D16D3A92}"/>
              </a:ext>
            </a:extLst>
          </p:cNvPr>
          <p:cNvSpPr txBox="1"/>
          <p:nvPr/>
        </p:nvSpPr>
        <p:spPr>
          <a:xfrm>
            <a:off x="-49607" y="6072475"/>
            <a:ext cx="120463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4. Body Section</a:t>
            </a:r>
            <a:endParaRPr lang="en-US" b="1" dirty="0"/>
          </a:p>
          <a:p>
            <a:r>
              <a:rPr lang="en-US" dirty="0"/>
              <a:t>  &lt;body&gt;:Contains the visible content of the webpage, such as text, images, links, and other elements.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2503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73A07AC4-A978-82D1-E74A-405995AC3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8C7298-3E6E-E241-6B8F-84D199F6C9C9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9AD77A-57DB-7F0D-8DAC-75E8131B9509}"/>
              </a:ext>
            </a:extLst>
          </p:cNvPr>
          <p:cNvSpPr/>
          <p:nvPr/>
        </p:nvSpPr>
        <p:spPr>
          <a:xfrm>
            <a:off x="1465360" y="3196123"/>
            <a:ext cx="7919026" cy="595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1634" dirty="0">
                <a:solidFill>
                  <a:schemeClr val="bg1"/>
                </a:solidFill>
              </a:rPr>
            </a:br>
            <a:endParaRPr lang="en-IN" sz="1634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A4E878-DB1A-BE6B-1C7B-724D5624C9EE}"/>
              </a:ext>
            </a:extLst>
          </p:cNvPr>
          <p:cNvSpPr txBox="1"/>
          <p:nvPr/>
        </p:nvSpPr>
        <p:spPr>
          <a:xfrm>
            <a:off x="152400" y="788895"/>
            <a:ext cx="8991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 lang="</a:t>
            </a:r>
            <a:r>
              <a:rPr lang="en-IN" dirty="0" err="1"/>
              <a:t>en</a:t>
            </a:r>
            <a:r>
              <a:rPr lang="en-IN" dirty="0"/>
              <a:t>"&gt;</a:t>
            </a:r>
          </a:p>
          <a:p>
            <a:r>
              <a:rPr lang="en-IN" dirty="0"/>
              <a:t>&lt;head&gt;</a:t>
            </a:r>
          </a:p>
          <a:p>
            <a:r>
              <a:rPr lang="en-IN" dirty="0"/>
              <a:t>    &lt;meta charset="UTF-8"&gt;</a:t>
            </a:r>
          </a:p>
          <a:p>
            <a:r>
              <a:rPr lang="en-IN" dirty="0"/>
              <a:t>    &lt;meta name="viewport" content="width=device-width, initial-scale=1.0"&gt;</a:t>
            </a:r>
          </a:p>
          <a:p>
            <a:r>
              <a:rPr lang="en-IN" dirty="0"/>
              <a:t>    &lt;title&gt;My First Webpage&lt;/title&gt;</a:t>
            </a:r>
          </a:p>
          <a:p>
            <a:r>
              <a:rPr lang="en-IN" dirty="0"/>
              <a:t>&lt;/head&gt;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    &lt;h1&gt;Welcome to My Webpage!&lt;/h1&gt;</a:t>
            </a:r>
          </a:p>
          <a:p>
            <a:r>
              <a:rPr lang="en-IN" dirty="0"/>
              <a:t>    &lt;p&gt;This is a paragraph of text on my webpage.&lt;/p&gt;</a:t>
            </a:r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50245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43E2523-12E7-6D23-9A67-9E4277662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EE11EF-EEE8-FCD2-0EBA-0989680BE8C8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172094-81CA-13B2-6837-671EA782462E}"/>
              </a:ext>
            </a:extLst>
          </p:cNvPr>
          <p:cNvSpPr/>
          <p:nvPr/>
        </p:nvSpPr>
        <p:spPr>
          <a:xfrm>
            <a:off x="1465360" y="3196123"/>
            <a:ext cx="7919026" cy="595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1634" dirty="0">
                <a:solidFill>
                  <a:schemeClr val="bg1"/>
                </a:solidFill>
              </a:rPr>
            </a:br>
            <a:endParaRPr lang="en-IN" sz="1634" dirty="0">
              <a:solidFill>
                <a:schemeClr val="bg1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0D944BD-B965-9B9D-2CD4-DA0244ABB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82" y="1028343"/>
            <a:ext cx="1124852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 of 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&lt;!DOCTYPE html&gt;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Declares the document as HTML5.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&lt;html lang="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Starts the HTML document and sets the language to English.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&lt;head&gt;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Contains the metadata and the title of the page.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&lt;meta charset="UTF-8"&gt;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Ensures the text is displayed correctly for most characters.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&lt;meta name="viewport" content="width=device-width, initial-scale=1.0"&gt;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Ensures the page is mobile-friendly.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&lt;title&gt;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Displays "My First Webpage" in the browser tab.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&lt;body&gt;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Contains the visible content—a heading and a paragraph.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6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DC00DB3A-9FE3-D00A-CDE4-A3AC72FC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C748FD-6766-3BB6-AFE1-BCB3FF9B37DD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C68FF8-731D-A604-9808-C3FC83B69592}"/>
              </a:ext>
            </a:extLst>
          </p:cNvPr>
          <p:cNvSpPr/>
          <p:nvPr/>
        </p:nvSpPr>
        <p:spPr>
          <a:xfrm>
            <a:off x="111690" y="506711"/>
            <a:ext cx="791902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highlight>
                  <a:srgbClr val="0000FF"/>
                </a:highlight>
              </a:rPr>
              <a:t>Tools Needed</a:t>
            </a:r>
            <a:endParaRPr lang="en-IN" sz="2000" dirty="0">
              <a:highlight>
                <a:srgbClr val="0000FF"/>
              </a:highlight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13956F1-8430-DD64-FF65-F290519FE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43" y="1022448"/>
            <a:ext cx="647052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editors (e.g., Notepad, VS Code).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browsers (e.g., Chrome, Firefox).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6D5D6B-6C92-564E-D64F-EA5AA4690FAB}"/>
              </a:ext>
            </a:extLst>
          </p:cNvPr>
          <p:cNvSpPr txBox="1"/>
          <p:nvPr/>
        </p:nvSpPr>
        <p:spPr>
          <a:xfrm>
            <a:off x="111690" y="2967335"/>
            <a:ext cx="60960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highlight>
                  <a:srgbClr val="0000FF"/>
                </a:highlight>
              </a:rPr>
              <a:t>First Webpage</a:t>
            </a:r>
          </a:p>
          <a:p>
            <a:endParaRPr lang="en-US" sz="2000" b="1" dirty="0"/>
          </a:p>
          <a:p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Writing and saving an HTML file.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Opening the file in a browser.</a:t>
            </a:r>
          </a:p>
        </p:txBody>
      </p:sp>
    </p:spTree>
    <p:extLst>
      <p:ext uri="{BB962C8B-B14F-4D97-AF65-F5344CB8AC3E}">
        <p14:creationId xmlns:p14="http://schemas.microsoft.com/office/powerpoint/2010/main" val="274084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03DDA45D-FE9A-B7C1-6CEF-7CA25BECB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36E6F2-CFA7-CA18-AD00-DCE7C28E5104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8C9BE69-A908-8BC2-F3BC-8007C970B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41" y="975012"/>
            <a:ext cx="848957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Formatting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Headings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&lt;h1&gt;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&lt;h6&gt;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paragraphs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&lt;p&gt;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and line breaks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Bold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&lt;b&gt;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italic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and underline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&lt;u&gt;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Ordered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unordered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lists.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Adding list items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&lt;li&gt;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Links and Anchors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 links using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href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="URL"&gt;Text&lt;/a&gt;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 images with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img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src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="URL" alt="description"&gt;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60BF2E-C28E-F2A7-A4DE-64E4320A0755}"/>
              </a:ext>
            </a:extLst>
          </p:cNvPr>
          <p:cNvSpPr txBox="1"/>
          <p:nvPr/>
        </p:nvSpPr>
        <p:spPr>
          <a:xfrm>
            <a:off x="268941" y="60568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highlight>
                  <a:srgbClr val="0000FF"/>
                </a:highlight>
              </a:rPr>
              <a:t>Core HTML Tags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E051AC-FFFB-867C-E779-DC1518903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41" y="5868659"/>
            <a:ext cx="81515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 Unicode MS" panose="020B0604020202020204" pitchFamily="34" charset="-128"/>
              </a:rPr>
              <a:t>&lt;marquee&gt;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</a:rPr>
              <a:t> tag is used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create scrolling text or images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 on a webpage.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9CBF3A-D168-5E97-054A-1844161FA39F}"/>
              </a:ext>
            </a:extLst>
          </p:cNvPr>
          <p:cNvSpPr txBox="1"/>
          <p:nvPr/>
        </p:nvSpPr>
        <p:spPr>
          <a:xfrm>
            <a:off x="1541929" y="6398031"/>
            <a:ext cx="1909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direction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A90FE9-F4CA-4837-F829-50D5228A48F3}"/>
              </a:ext>
            </a:extLst>
          </p:cNvPr>
          <p:cNvSpPr txBox="1"/>
          <p:nvPr/>
        </p:nvSpPr>
        <p:spPr>
          <a:xfrm>
            <a:off x="3361765" y="6343425"/>
            <a:ext cx="1613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scrollamount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A250DE-56B6-6F44-2746-CC23A0E4A1B4}"/>
              </a:ext>
            </a:extLst>
          </p:cNvPr>
          <p:cNvSpPr txBox="1"/>
          <p:nvPr/>
        </p:nvSpPr>
        <p:spPr>
          <a:xfrm>
            <a:off x="5827060" y="6316431"/>
            <a:ext cx="96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bgcolor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74871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9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8EB40203-BB3A-21F9-6AE1-86872D25F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BAC85B-6EA5-9D26-6AFF-38DBC5A4B94C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67052F-5B8B-4017-D807-04AF24A8F7FD}"/>
              </a:ext>
            </a:extLst>
          </p:cNvPr>
          <p:cNvSpPr txBox="1"/>
          <p:nvPr/>
        </p:nvSpPr>
        <p:spPr>
          <a:xfrm>
            <a:off x="268941" y="60568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highlight>
                  <a:srgbClr val="0000FF"/>
                </a:highlight>
              </a:rPr>
              <a:t>Core HTML Tags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14B648-27D9-968F-1BBA-08DDE8DA5670}"/>
              </a:ext>
            </a:extLst>
          </p:cNvPr>
          <p:cNvSpPr txBox="1"/>
          <p:nvPr/>
        </p:nvSpPr>
        <p:spPr>
          <a:xfrm>
            <a:off x="268941" y="136747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Lists in HTML are of three main types:</a:t>
            </a:r>
          </a:p>
          <a:p>
            <a:endParaRPr lang="en-US" dirty="0"/>
          </a:p>
          <a:p>
            <a:r>
              <a:rPr lang="en-US" dirty="0"/>
              <a:t>			1. Ordered List (&lt;</a:t>
            </a:r>
            <a:r>
              <a:rPr lang="en-US" dirty="0" err="1"/>
              <a:t>ol</a:t>
            </a:r>
            <a:r>
              <a:rPr lang="en-US" dirty="0"/>
              <a:t>&gt;)</a:t>
            </a:r>
          </a:p>
          <a:p>
            <a:r>
              <a:rPr lang="en-US" dirty="0"/>
              <a:t>			2. Unordered List (&lt;</a:t>
            </a:r>
            <a:r>
              <a:rPr lang="en-US" dirty="0" err="1"/>
              <a:t>ul</a:t>
            </a:r>
            <a:r>
              <a:rPr lang="en-US" dirty="0"/>
              <a:t>&gt;)</a:t>
            </a:r>
          </a:p>
          <a:p>
            <a:r>
              <a:rPr lang="en-US" dirty="0"/>
              <a:t>			3. Definition List (&lt;dl&gt;)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369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B5393BB-1175-650E-6782-0BD3FA00D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CFADFF-6A43-4DB6-2862-7FFCF8FDD904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C583A6-B351-60B2-F847-49215DA62EF0}"/>
              </a:ext>
            </a:extLst>
          </p:cNvPr>
          <p:cNvSpPr txBox="1"/>
          <p:nvPr/>
        </p:nvSpPr>
        <p:spPr>
          <a:xfrm>
            <a:off x="268941" y="60568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highlight>
                  <a:srgbClr val="0000FF"/>
                </a:highlight>
              </a:rPr>
              <a:t>Example 1: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CD3D5-9A7A-2E66-560F-459C3451068F}"/>
              </a:ext>
            </a:extLst>
          </p:cNvPr>
          <p:cNvSpPr txBox="1"/>
          <p:nvPr/>
        </p:nvSpPr>
        <p:spPr>
          <a:xfrm>
            <a:off x="267452" y="1208743"/>
            <a:ext cx="88765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effectLst/>
                <a:latin typeface="Times New Roman" panose="02020603050405020304" pitchFamily="18" charset="0"/>
              </a:rPr>
              <a:t>An Unordered HTML List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 New Roman" panose="02020603050405020304" pitchFamily="18" charset="0"/>
              </a:rPr>
              <a:t>Coffee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 New Roman" panose="02020603050405020304" pitchFamily="18" charset="0"/>
              </a:rPr>
              <a:t>Tea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 New Roman" panose="02020603050405020304" pitchFamily="18" charset="0"/>
              </a:rPr>
              <a:t>Milk</a:t>
            </a:r>
          </a:p>
          <a:p>
            <a:pPr algn="l"/>
            <a:r>
              <a:rPr lang="en-IN" b="1" i="0" dirty="0">
                <a:effectLst/>
                <a:latin typeface="Times New Roman" panose="02020603050405020304" pitchFamily="18" charset="0"/>
              </a:rPr>
              <a:t>An Ordered HTML List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Times New Roman" panose="02020603050405020304" pitchFamily="18" charset="0"/>
              </a:rPr>
              <a:t>Coffee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Times New Roman" panose="02020603050405020304" pitchFamily="18" charset="0"/>
              </a:rPr>
              <a:t>Tea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Times New Roman" panose="02020603050405020304" pitchFamily="18" charset="0"/>
              </a:rPr>
              <a:t>Milk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CC9FA1-F581-9A58-C594-930755A7E5A7}"/>
              </a:ext>
            </a:extLst>
          </p:cNvPr>
          <p:cNvSpPr txBox="1"/>
          <p:nvPr/>
        </p:nvSpPr>
        <p:spPr>
          <a:xfrm>
            <a:off x="268941" y="3744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highlight>
                  <a:srgbClr val="0000FF"/>
                </a:highlight>
              </a:rPr>
              <a:t>Example 2: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B36E4D-2741-7427-2EC7-DD9A3E3F8096}"/>
              </a:ext>
            </a:extLst>
          </p:cNvPr>
          <p:cNvSpPr txBox="1"/>
          <p:nvPr/>
        </p:nvSpPr>
        <p:spPr>
          <a:xfrm>
            <a:off x="267452" y="4323083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Customize List Types:</a:t>
            </a:r>
          </a:p>
          <a:p>
            <a:endParaRPr lang="en-US" dirty="0"/>
          </a:p>
          <a:p>
            <a:r>
              <a:rPr lang="en-US" dirty="0"/>
              <a:t>Use the type attribute in an ordered list to:</a:t>
            </a:r>
          </a:p>
          <a:p>
            <a:endParaRPr lang="en-US" dirty="0"/>
          </a:p>
          <a:p>
            <a:r>
              <a:rPr lang="en-US" dirty="0"/>
              <a:t>Start numbering from 5.</a:t>
            </a:r>
          </a:p>
          <a:p>
            <a:r>
              <a:rPr lang="en-US" dirty="0"/>
              <a:t>Use Roman numerals.</a:t>
            </a:r>
          </a:p>
          <a:p>
            <a:r>
              <a:rPr lang="en-US" dirty="0"/>
              <a:t>Use letters instead of numbers.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2351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5577E467-89A0-6CEB-9669-D922FCB20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C85A01-47DF-FF40-D124-3C318BE94BC8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EF8AEE-E0F3-E068-28C5-C07B785E007A}"/>
              </a:ext>
            </a:extLst>
          </p:cNvPr>
          <p:cNvSpPr txBox="1"/>
          <p:nvPr/>
        </p:nvSpPr>
        <p:spPr>
          <a:xfrm>
            <a:off x="268941" y="60568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highlight>
                  <a:srgbClr val="0000FF"/>
                </a:highlight>
              </a:rPr>
              <a:t>Nested 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4BC05-5298-FEFF-3C8E-8EBE408BE851}"/>
              </a:ext>
            </a:extLst>
          </p:cNvPr>
          <p:cNvSpPr txBox="1"/>
          <p:nvPr/>
        </p:nvSpPr>
        <p:spPr>
          <a:xfrm>
            <a:off x="268941" y="1394082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My Favorite Hobbies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Outdoor Activities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Hiking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Camping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Fishing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Indoor Activities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Reading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Cooking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Gaming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Sports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Basketball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Football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Tennis</a:t>
            </a:r>
          </a:p>
        </p:txBody>
      </p:sp>
    </p:spTree>
    <p:extLst>
      <p:ext uri="{BB962C8B-B14F-4D97-AF65-F5344CB8AC3E}">
        <p14:creationId xmlns:p14="http://schemas.microsoft.com/office/powerpoint/2010/main" val="193501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D5850110-CA25-2FCB-2BEB-00AE497CD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C1C3C7-2D44-8F56-2EC3-68EC6310EDBC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E86268-E7FE-E827-6814-1B1072F75F5A}"/>
              </a:ext>
            </a:extLst>
          </p:cNvPr>
          <p:cNvSpPr txBox="1"/>
          <p:nvPr/>
        </p:nvSpPr>
        <p:spPr>
          <a:xfrm>
            <a:off x="268941" y="60568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highlight>
                  <a:srgbClr val="0000FF"/>
                </a:highlight>
              </a:rPr>
              <a:t>Nested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60BEA7-C4AE-7CEE-1318-3F9239774429}"/>
              </a:ext>
            </a:extLst>
          </p:cNvPr>
          <p:cNvSpPr txBox="1"/>
          <p:nvPr/>
        </p:nvSpPr>
        <p:spPr>
          <a:xfrm>
            <a:off x="466164" y="1090294"/>
            <a:ext cx="754828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 lang="</a:t>
            </a:r>
            <a:r>
              <a:rPr lang="en-IN" dirty="0" err="1"/>
              <a:t>en</a:t>
            </a:r>
            <a:r>
              <a:rPr lang="en-IN" dirty="0"/>
              <a:t>"&gt;</a:t>
            </a:r>
          </a:p>
          <a:p>
            <a:r>
              <a:rPr lang="en-IN" dirty="0"/>
              <a:t>&lt;head&gt;</a:t>
            </a:r>
          </a:p>
          <a:p>
            <a:r>
              <a:rPr lang="en-IN" dirty="0"/>
              <a:t>  &lt;meta charset="UTF-8"&gt;</a:t>
            </a:r>
          </a:p>
          <a:p>
            <a:r>
              <a:rPr lang="en-IN" dirty="0"/>
              <a:t>  &lt;meta name="viewport" content="width=device-width, initial-scale=1.0"&gt;</a:t>
            </a:r>
          </a:p>
          <a:p>
            <a:r>
              <a:rPr lang="en-IN" dirty="0"/>
              <a:t>  &lt;title&gt;Nested List Example&lt;/title&gt;</a:t>
            </a:r>
          </a:p>
          <a:p>
            <a:r>
              <a:rPr lang="en-IN" dirty="0"/>
              <a:t>&lt;/head&gt;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  &lt;h2&gt;My </a:t>
            </a:r>
            <a:r>
              <a:rPr lang="en-IN" dirty="0" err="1"/>
              <a:t>Favorite</a:t>
            </a:r>
            <a:r>
              <a:rPr lang="en-IN" dirty="0"/>
              <a:t> Hobbies&lt;/h2&gt;</a:t>
            </a:r>
          </a:p>
          <a:p>
            <a:r>
              <a:rPr lang="en-IN" dirty="0"/>
              <a:t>  &lt;</a:t>
            </a:r>
            <a:r>
              <a:rPr lang="en-IN" dirty="0" err="1"/>
              <a:t>ul</a:t>
            </a:r>
            <a:r>
              <a:rPr lang="en-IN" dirty="0"/>
              <a:t>&gt;</a:t>
            </a:r>
          </a:p>
          <a:p>
            <a:r>
              <a:rPr lang="en-IN" dirty="0"/>
              <a:t>    &lt;li&gt;Outdoor Activities</a:t>
            </a:r>
          </a:p>
          <a:p>
            <a:r>
              <a:rPr lang="en-IN" dirty="0"/>
              <a:t>      &lt;</a:t>
            </a:r>
            <a:r>
              <a:rPr lang="en-IN" dirty="0" err="1"/>
              <a:t>ul</a:t>
            </a:r>
            <a:r>
              <a:rPr lang="en-IN" dirty="0"/>
              <a:t>&gt;</a:t>
            </a:r>
          </a:p>
          <a:p>
            <a:r>
              <a:rPr lang="en-IN" dirty="0"/>
              <a:t>        &lt;li&gt;Hiking&lt;/li&gt;</a:t>
            </a:r>
          </a:p>
          <a:p>
            <a:r>
              <a:rPr lang="en-IN" dirty="0"/>
              <a:t>        &lt;li&gt;Camping&lt;/li&gt;</a:t>
            </a:r>
          </a:p>
          <a:p>
            <a:r>
              <a:rPr lang="en-IN" dirty="0"/>
              <a:t>        &lt;li&gt;Fishing&lt;/li&gt;</a:t>
            </a:r>
          </a:p>
          <a:p>
            <a:r>
              <a:rPr lang="en-IN" dirty="0"/>
              <a:t>      &lt;/</a:t>
            </a:r>
            <a:r>
              <a:rPr lang="en-IN" dirty="0" err="1"/>
              <a:t>ul</a:t>
            </a:r>
            <a:r>
              <a:rPr lang="en-IN" dirty="0"/>
              <a:t>&gt;</a:t>
            </a:r>
          </a:p>
          <a:p>
            <a:r>
              <a:rPr lang="en-IN" dirty="0"/>
              <a:t>    &lt;/li&gt;</a:t>
            </a:r>
          </a:p>
          <a:p>
            <a:r>
              <a:rPr lang="en-IN" dirty="0"/>
              <a:t>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F0571C-624C-2D75-5129-9E14BF36377F}"/>
              </a:ext>
            </a:extLst>
          </p:cNvPr>
          <p:cNvSpPr txBox="1"/>
          <p:nvPr/>
        </p:nvSpPr>
        <p:spPr>
          <a:xfrm>
            <a:off x="8937812" y="681972"/>
            <a:ext cx="288663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 &lt;li&gt;Indoor Activities</a:t>
            </a:r>
          </a:p>
          <a:p>
            <a:r>
              <a:rPr lang="en-IN" sz="1800" dirty="0"/>
              <a:t>      &lt;</a:t>
            </a:r>
            <a:r>
              <a:rPr lang="en-IN" sz="1800" dirty="0" err="1"/>
              <a:t>ul</a:t>
            </a:r>
            <a:r>
              <a:rPr lang="en-IN" sz="1800" dirty="0"/>
              <a:t>&gt;</a:t>
            </a:r>
          </a:p>
          <a:p>
            <a:r>
              <a:rPr lang="en-IN" sz="1800" dirty="0"/>
              <a:t>        &lt;li&gt;Reading&lt;/li&gt;</a:t>
            </a:r>
          </a:p>
          <a:p>
            <a:r>
              <a:rPr lang="en-IN" sz="1800" dirty="0"/>
              <a:t>        &lt;li&gt;Cooking&lt;/li&gt;</a:t>
            </a:r>
          </a:p>
          <a:p>
            <a:r>
              <a:rPr lang="en-IN" sz="1800" dirty="0"/>
              <a:t>        &lt;li&gt;Gaming&lt;/li&gt;</a:t>
            </a:r>
          </a:p>
          <a:p>
            <a:r>
              <a:rPr lang="en-IN" sz="1800" dirty="0"/>
              <a:t>      &lt;/</a:t>
            </a:r>
            <a:r>
              <a:rPr lang="en-IN" sz="1800" dirty="0" err="1"/>
              <a:t>ul</a:t>
            </a:r>
            <a:r>
              <a:rPr lang="en-IN" sz="1800" dirty="0"/>
              <a:t>&gt;</a:t>
            </a:r>
          </a:p>
          <a:p>
            <a:r>
              <a:rPr lang="en-IN" sz="1800" dirty="0"/>
              <a:t>    &lt;/li&gt;</a:t>
            </a:r>
          </a:p>
          <a:p>
            <a:r>
              <a:rPr lang="en-IN" sz="1800" dirty="0"/>
              <a:t>    &lt;li&gt;Sports</a:t>
            </a:r>
          </a:p>
          <a:p>
            <a:r>
              <a:rPr lang="en-IN" sz="1800" dirty="0"/>
              <a:t>      &lt;</a:t>
            </a:r>
            <a:r>
              <a:rPr lang="en-IN" sz="1800" dirty="0" err="1"/>
              <a:t>ul</a:t>
            </a:r>
            <a:r>
              <a:rPr lang="en-IN" sz="1800" dirty="0"/>
              <a:t>&gt;</a:t>
            </a:r>
          </a:p>
          <a:p>
            <a:r>
              <a:rPr lang="en-IN" sz="1800" dirty="0"/>
              <a:t>        &lt;li&gt;Basketball&lt;/li&gt;</a:t>
            </a:r>
          </a:p>
          <a:p>
            <a:r>
              <a:rPr lang="en-IN" sz="1800" dirty="0"/>
              <a:t>        &lt;li&gt;Football&lt;/li&gt;</a:t>
            </a:r>
          </a:p>
          <a:p>
            <a:r>
              <a:rPr lang="en-IN" sz="1800" dirty="0"/>
              <a:t>        &lt;li&gt;Tennis&lt;/li&gt;</a:t>
            </a:r>
          </a:p>
          <a:p>
            <a:r>
              <a:rPr lang="en-IN" sz="1800" dirty="0"/>
              <a:t>      &lt;/</a:t>
            </a:r>
            <a:r>
              <a:rPr lang="en-IN" sz="1800" dirty="0" err="1"/>
              <a:t>ul</a:t>
            </a:r>
            <a:r>
              <a:rPr lang="en-IN" sz="1800" dirty="0"/>
              <a:t>&gt;</a:t>
            </a:r>
          </a:p>
          <a:p>
            <a:r>
              <a:rPr lang="en-IN" sz="1800" dirty="0"/>
              <a:t>    &lt;/li&gt;</a:t>
            </a:r>
          </a:p>
          <a:p>
            <a:r>
              <a:rPr lang="en-IN" sz="1800" dirty="0"/>
              <a:t>  &lt;/</a:t>
            </a:r>
            <a:r>
              <a:rPr lang="en-IN" sz="1800" dirty="0" err="1"/>
              <a:t>ul</a:t>
            </a:r>
            <a:r>
              <a:rPr lang="en-IN" sz="1800" dirty="0"/>
              <a:t>&gt;</a:t>
            </a:r>
          </a:p>
          <a:p>
            <a:r>
              <a:rPr lang="en-IN" sz="1800" dirty="0"/>
              <a:t>&lt;/body&gt;</a:t>
            </a:r>
          </a:p>
          <a:p>
            <a:r>
              <a:rPr lang="en-IN" sz="18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975875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0F2FBF7-84A9-A673-B263-A43AD8963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0B45BC-DDDB-0058-A0E2-11E539CA9796}"/>
              </a:ext>
            </a:extLst>
          </p:cNvPr>
          <p:cNvSpPr/>
          <p:nvPr/>
        </p:nvSpPr>
        <p:spPr>
          <a:xfrm>
            <a:off x="0" y="402727"/>
            <a:ext cx="887654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Company Departments and Teams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Human Resources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Recruitment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/>
              <a:t>Interns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/>
              <a:t>Full-time Employees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Payroll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/>
              <a:t>Employee Salaries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/>
              <a:t>Bonuses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Engineering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Software Development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/>
              <a:t>Frontend Team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/>
              <a:t>Backend Team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/>
              <a:t>DevOps Team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Quality Assurance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/>
              <a:t>Manual Testing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/>
              <a:t>Automated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Sales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Domestic Sales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International Sales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/>
              <a:t>Europe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/>
              <a:t>Asia</a:t>
            </a: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US" dirty="0"/>
              <a:t>America</a:t>
            </a:r>
          </a:p>
        </p:txBody>
      </p:sp>
    </p:spTree>
    <p:extLst>
      <p:ext uri="{BB962C8B-B14F-4D97-AF65-F5344CB8AC3E}">
        <p14:creationId xmlns:p14="http://schemas.microsoft.com/office/powerpoint/2010/main" val="186652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E841272-F0CE-6BFB-6CFD-17834DD6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7B3D8D-48BD-65E5-B667-5D8F55155B5A}"/>
              </a:ext>
            </a:extLst>
          </p:cNvPr>
          <p:cNvSpPr txBox="1"/>
          <p:nvPr/>
        </p:nvSpPr>
        <p:spPr>
          <a:xfrm>
            <a:off x="6786283" y="910451"/>
            <a:ext cx="3648635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 &lt;li&gt;Quality Assurance</a:t>
            </a:r>
          </a:p>
          <a:p>
            <a:r>
              <a:rPr lang="en-IN" sz="1200" dirty="0"/>
              <a:t>          &lt;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            &lt;li&gt;Manual Testing&lt;/li&gt;</a:t>
            </a:r>
          </a:p>
          <a:p>
            <a:r>
              <a:rPr lang="en-IN" sz="1200" dirty="0"/>
              <a:t>            &lt;li&gt;Automated Testing&lt;/li&gt;</a:t>
            </a:r>
          </a:p>
          <a:p>
            <a:r>
              <a:rPr lang="en-IN" sz="1200" dirty="0"/>
              <a:t>          &lt;/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        &lt;/li&gt;</a:t>
            </a:r>
          </a:p>
          <a:p>
            <a:r>
              <a:rPr lang="en-IN" sz="1200" dirty="0"/>
              <a:t>      &lt;/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    &lt;/li&gt;</a:t>
            </a:r>
          </a:p>
          <a:p>
            <a:r>
              <a:rPr lang="en-IN" sz="1200" dirty="0"/>
              <a:t>    &lt;li&gt;Sales</a:t>
            </a:r>
          </a:p>
          <a:p>
            <a:r>
              <a:rPr lang="en-IN" sz="1200" dirty="0"/>
              <a:t>      &lt;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        &lt;li&gt;Domestic Sales&lt;/li&gt;</a:t>
            </a:r>
          </a:p>
          <a:p>
            <a:r>
              <a:rPr lang="en-IN" sz="1200" dirty="0"/>
              <a:t>        &lt;li&gt;International Sales</a:t>
            </a:r>
          </a:p>
          <a:p>
            <a:r>
              <a:rPr lang="en-IN" sz="1200" dirty="0"/>
              <a:t>          &lt;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            &lt;li&gt;Europe&lt;/li&gt;</a:t>
            </a:r>
          </a:p>
          <a:p>
            <a:r>
              <a:rPr lang="en-IN" sz="1200" dirty="0"/>
              <a:t>            &lt;li&gt;Asia&lt;/li&gt;</a:t>
            </a:r>
          </a:p>
          <a:p>
            <a:r>
              <a:rPr lang="en-IN" sz="1200" dirty="0"/>
              <a:t>            &lt;li&gt;America&lt;/li&gt;</a:t>
            </a:r>
          </a:p>
          <a:p>
            <a:r>
              <a:rPr lang="en-IN" sz="1200" dirty="0"/>
              <a:t>          &lt;/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        &lt;/li&gt;</a:t>
            </a:r>
          </a:p>
          <a:p>
            <a:r>
              <a:rPr lang="en-IN" sz="1200" dirty="0"/>
              <a:t>      &lt;/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    &lt;/li&gt;</a:t>
            </a:r>
          </a:p>
          <a:p>
            <a:r>
              <a:rPr lang="en-IN" sz="1200" dirty="0"/>
              <a:t>  &lt;/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&lt;/body&gt;</a:t>
            </a:r>
          </a:p>
          <a:p>
            <a:r>
              <a:rPr lang="en-IN" sz="1200" dirty="0"/>
              <a:t>&lt;/html&gt;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AAA3FB-16FB-9B5A-2421-4B8928AFF2DB}"/>
              </a:ext>
            </a:extLst>
          </p:cNvPr>
          <p:cNvSpPr txBox="1"/>
          <p:nvPr/>
        </p:nvSpPr>
        <p:spPr>
          <a:xfrm>
            <a:off x="148780" y="402727"/>
            <a:ext cx="519418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!DOCTYPE html&gt;</a:t>
            </a:r>
          </a:p>
          <a:p>
            <a:r>
              <a:rPr lang="en-IN" sz="1200" dirty="0"/>
              <a:t>&lt;html lang="</a:t>
            </a:r>
            <a:r>
              <a:rPr lang="en-IN" sz="1200" dirty="0" err="1"/>
              <a:t>en</a:t>
            </a:r>
            <a:r>
              <a:rPr lang="en-IN" sz="1200" dirty="0"/>
              <a:t>"&gt;</a:t>
            </a:r>
          </a:p>
          <a:p>
            <a:r>
              <a:rPr lang="en-IN" sz="1200" dirty="0"/>
              <a:t>&lt;head&gt;</a:t>
            </a:r>
          </a:p>
          <a:p>
            <a:r>
              <a:rPr lang="en-IN" sz="1200" dirty="0"/>
              <a:t>  &lt;meta charset="UTF-8"&gt;</a:t>
            </a:r>
          </a:p>
          <a:p>
            <a:r>
              <a:rPr lang="en-IN" sz="1200" dirty="0"/>
              <a:t>  &lt;meta name="viewport" content="width=device-width, initial-scale=1.0"&gt;</a:t>
            </a:r>
          </a:p>
          <a:p>
            <a:r>
              <a:rPr lang="en-IN" sz="1200" dirty="0"/>
              <a:t>  &lt;title&gt;Nested to Nested List Example&lt;/title&gt;</a:t>
            </a:r>
          </a:p>
          <a:p>
            <a:r>
              <a:rPr lang="en-IN" sz="1200" dirty="0"/>
              <a:t>&lt;/head&gt;</a:t>
            </a:r>
          </a:p>
          <a:p>
            <a:r>
              <a:rPr lang="en-IN" sz="1200" dirty="0"/>
              <a:t>&lt;body&gt;</a:t>
            </a:r>
          </a:p>
          <a:p>
            <a:r>
              <a:rPr lang="en-IN" sz="1200" dirty="0"/>
              <a:t>  &lt;h2&gt;Company Departments and Teams&lt;/h2&gt;</a:t>
            </a:r>
          </a:p>
          <a:p>
            <a:r>
              <a:rPr lang="en-IN" sz="1200" dirty="0"/>
              <a:t>  &lt;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    &lt;li&gt;Human Resources</a:t>
            </a:r>
          </a:p>
          <a:p>
            <a:r>
              <a:rPr lang="en-IN" sz="1200" dirty="0"/>
              <a:t>      &lt;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        &lt;li&gt;Recruitment</a:t>
            </a:r>
          </a:p>
          <a:p>
            <a:r>
              <a:rPr lang="en-IN" sz="1200" dirty="0"/>
              <a:t>          &lt;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            &lt;li&gt;Interns&lt;/li&gt;</a:t>
            </a:r>
          </a:p>
          <a:p>
            <a:r>
              <a:rPr lang="en-IN" sz="1200" dirty="0"/>
              <a:t>            &lt;li&gt;Full-time Employees&lt;/li&gt;</a:t>
            </a:r>
          </a:p>
          <a:p>
            <a:r>
              <a:rPr lang="en-IN" sz="1200" dirty="0"/>
              <a:t>          &lt;/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        &lt;/li&gt;</a:t>
            </a:r>
          </a:p>
          <a:p>
            <a:r>
              <a:rPr lang="en-IN" sz="1200" dirty="0"/>
              <a:t>        &lt;li&gt;Payroll</a:t>
            </a:r>
          </a:p>
          <a:p>
            <a:r>
              <a:rPr lang="en-IN" sz="1200" dirty="0"/>
              <a:t>          &lt;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            &lt;li&gt;Employee Salaries&lt;/li&gt;</a:t>
            </a:r>
          </a:p>
          <a:p>
            <a:r>
              <a:rPr lang="en-IN" sz="1200" dirty="0"/>
              <a:t>            &lt;li&gt;Bonuses&lt;/li&gt;</a:t>
            </a:r>
          </a:p>
          <a:p>
            <a:r>
              <a:rPr lang="en-IN" sz="1200" dirty="0"/>
              <a:t>          &lt;/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        &lt;/li&gt;</a:t>
            </a:r>
          </a:p>
          <a:p>
            <a:r>
              <a:rPr lang="en-IN" sz="1200" dirty="0"/>
              <a:t>      &lt;/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    &lt;/li&gt;</a:t>
            </a:r>
          </a:p>
          <a:p>
            <a:r>
              <a:rPr lang="en-IN" sz="1200" dirty="0"/>
              <a:t>    &lt;li&gt;Engineering</a:t>
            </a:r>
          </a:p>
          <a:p>
            <a:r>
              <a:rPr lang="en-IN" sz="1200" dirty="0"/>
              <a:t>      &lt;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        &lt;li&gt;Software Development</a:t>
            </a:r>
          </a:p>
          <a:p>
            <a:r>
              <a:rPr lang="en-IN" sz="1200" dirty="0"/>
              <a:t>          &lt;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            &lt;li&gt;Frontend Team&lt;/li&gt;</a:t>
            </a:r>
          </a:p>
          <a:p>
            <a:r>
              <a:rPr lang="en-IN" sz="1200" dirty="0"/>
              <a:t>            &lt;li&gt;Backend Team&lt;/li&gt;</a:t>
            </a:r>
          </a:p>
          <a:p>
            <a:r>
              <a:rPr lang="en-IN" sz="1200" dirty="0"/>
              <a:t>            &lt;li&gt;DevOps Team&lt;/li&gt;</a:t>
            </a:r>
          </a:p>
          <a:p>
            <a:r>
              <a:rPr lang="en-IN" sz="1200" dirty="0"/>
              <a:t>          &lt;/</a:t>
            </a:r>
            <a:r>
              <a:rPr lang="en-IN" sz="1200" dirty="0" err="1"/>
              <a:t>ul</a:t>
            </a:r>
            <a:r>
              <a:rPr lang="en-IN" sz="1200" dirty="0"/>
              <a:t>&gt;</a:t>
            </a:r>
          </a:p>
          <a:p>
            <a:r>
              <a:rPr lang="en-IN" sz="1200" dirty="0"/>
              <a:t>        &lt;/li&gt;</a:t>
            </a:r>
          </a:p>
          <a:p>
            <a:r>
              <a:rPr lang="en-IN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6736886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2146</TotalTime>
  <Words>1285</Words>
  <Application>Microsoft Office PowerPoint</Application>
  <PresentationFormat>Widescreen</PresentationFormat>
  <Paragraphs>277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 Unicode MS</vt:lpstr>
      <vt:lpstr>Arial</vt:lpstr>
      <vt:lpstr>Articulate</vt:lpstr>
      <vt:lpstr>Calibri</vt:lpstr>
      <vt:lpstr>Corbel</vt:lpstr>
      <vt:lpstr>Quicksand Light</vt:lpstr>
      <vt:lpstr>Times New Roman</vt:lpstr>
      <vt:lpstr>Verdana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Pushplata Bagati</dc:creator>
  <cp:lastModifiedBy>DELL</cp:lastModifiedBy>
  <cp:revision>58</cp:revision>
  <dcterms:created xsi:type="dcterms:W3CDTF">2022-08-19T11:01:50Z</dcterms:created>
  <dcterms:modified xsi:type="dcterms:W3CDTF">2025-11-03T12:33:12Z</dcterms:modified>
</cp:coreProperties>
</file>